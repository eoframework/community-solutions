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Lead with confidence: delivered on time, on budget, on scope.</a:t>
            </a:r>
          </a:p>
          <a:p>
            <a:r>
              <a:t>- The 90% effort reduction is the headline — 9 hours saved per engagement across 120 consultants.</a:t>
            </a:r>
          </a:p>
          <a:p>
            <a:r>
              <a:t>- Zero critical defects reflects the rigorous three-phase testing strategy across all 12 artifact types.</a:t>
            </a:r>
          </a:p>
          <a:p>
            <a:r>
              <a:t>- P95 latency under 60 minutes was validated in load testing at 200 solutions/month throughput.</a:t>
            </a:r>
          </a:p>
          <a:p>
            <a:r>
              <a:t>- The executive demo for Sarah Lin (CRO) was the hard deadline — delivered on time as committed.</a:t>
            </a:r>
          </a:p>
          <a:p/>
          <a:p>
            <a:r>
              <a:t>*Background Details:*</a:t>
            </a:r>
          </a:p>
          <a:p>
            <a:r>
              <a:t>- Budget: $250K PS list; $30K PS credits applied; $220K net PS. Year 1 cloud $88,920 list with $30K infrastructure credits netting $58,920. Total Year 1 net = $287,800 vs. $350K–$500K approved envelope.</a:t>
            </a:r>
          </a:p>
          <a:p>
            <a:r>
              <a:t>- Timeline: 12 weeks as scoped in SOW; no change requests required; April 2026 deadline met.</a:t>
            </a:r>
          </a:p>
          <a:p>
            <a:r>
              <a:t>- ROI model: 120 consultants × 10 solutions/month × 9 hours saved × $150/hour blended rate = ~$1.62M/year recaptured.</a:t>
            </a:r>
          </a:p>
          <a:p>
            <a:r>
              <a:t>- Quota: DynamoDB conditional writes tested at peak concurrency; zero race conditions observed.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Walk through the architecture top-down: API edge → orchestration → agents → data layer.</a:t>
            </a:r>
          </a:p>
          <a:p>
            <a:r>
              <a:t>- Cognito JWT authoriser is the single gate for all 11 Lambda routes; no unauthenticated request reaches an agent.</a:t>
            </a:r>
          </a:p>
          <a:p>
            <a:r>
              <a:t>- Step Functions provides a durable audit trail of every agent invocation, retry, and state transition.</a:t>
            </a:r>
          </a:p>
          <a:p>
            <a:r>
              <a:t>- eof-tools (~30 Python modules) baked into the AgentCore Docker image, producing DOCX, PPTX, and XLSX in the same container.</a:t>
            </a:r>
          </a:p>
          <a:p/>
          <a:p>
            <a:r>
              <a:t>*Technical Details:*</a:t>
            </a:r>
          </a:p>
          <a:p>
            <a:r>
              <a:t>- VPC: purpose-built us-west-2 VPC with private subnets; NAT Gateway for GitHub egress; VPC endpoints for Bedrock, DynamoDB, S3, ECR, Secrets Manager, and CloudWatch Logs.</a:t>
            </a:r>
          </a:p>
          <a:p>
            <a:r>
              <a:t>- Five Bedrock AgentCore agents: Input Validator, Pre-Sales Generator, Delivery Generator, Code Generator, EO Validator.</a:t>
            </a:r>
          </a:p>
          <a:p>
            <a:r>
              <a:t>- DynamoDB on-demand, three tables: user_profiles, solution_state, quota_global.</a:t>
            </a:r>
          </a:p>
          <a:p>
            <a:r>
              <a:t>- All architecture matches Solution Briefing specification exactly; no scope additions beyond presales commitment.</a:t>
            </a:r>
          </a:p>
          <a:p/>
          <a:p>
            <a:r>
              <a:t>*Presales Alignment:*</a:t>
            </a:r>
          </a:p>
          <a:p>
            <a:r>
              <a:t>- Services deployed match SOW in-scope list exactly: Cognito, API GW, Lambda, Step Functions, AgentCore, Bedrock, DynamoDB, S3, ECR, Secrets Manager, CloudWatch, VPC, GuardDuty, CloudTrail, CodePipeline/CodeBuild, Terraform IaC.</a:t>
            </a:r>
          </a:p>
          <a:p>
            <a:r>
              <a:t>- No out-of-scope services were added.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32 SOW deliverables have been completed and formally accepted.</a:t>
            </a:r>
          </a:p>
          <a:p>
            <a:r>
              <a:t>- This slide surfaces the eight most strategically significant deliverables; the full register is in the project plan.</a:t>
            </a:r>
          </a:p>
          <a:p>
            <a:r>
              <a:t>- Terraform IaC (terraform validate passing in CI) means the entire platform can be rebuilt in under 4 hours from IaC alone.</a:t>
            </a:r>
          </a:p>
          <a:p>
            <a:r>
              <a:t>- Knowledge transfer: 4-hour engineering deep-dive (recorded to S3) and 2-hour pre-sales workflow training for 120 consultants.</a:t>
            </a:r>
          </a:p>
          <a:p/>
          <a:p>
            <a:r>
              <a:t>*Deliverable Details:*</a:t>
            </a:r>
          </a:p>
          <a:p>
            <a:r>
              <a:t>- Architecture Design Document (SOW #3): agent-graph topology, OpenAPI spec for all 11 routes, all ADRs.</a:t>
            </a:r>
          </a:p>
          <a:p>
            <a:r>
              <a:t>- Test Results Report (SOW #26): unit (&gt;80% coverage), integration (12 artifact types), load (200 solutions/month), security (OWASP API Top 10), UAT sign-off from Marcus Patel, Daniel Park, and CTO.</a:t>
            </a:r>
          </a:p>
          <a:p>
            <a:r>
              <a:t>- Runbooks (SOW #27): five scenarios — agent timeout, quota throttle, GitHub PAT expiry, Bedrock disruption, Cognito outage.</a:t>
            </a:r>
          </a:p>
          <a:p>
            <a:r>
              <a:t>- Phase 2 Roadmap (SOW #32): delivered at Week 20 hypercare conclusion.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Quality was embedded from Phase 1 — security and quota controls were production-grade before a single agent was written.</a:t>
            </a:r>
          </a:p>
          <a:p>
            <a:r>
              <a:t>- The 0-critical-defects result at go-live is a direct outcome of the three-phase test strategy: unit, integration, and formal UAT.</a:t>
            </a:r>
          </a:p>
          <a:p>
            <a:r>
              <a:t>- All 12 artifact types passing end-to-end (DOCX, PPTX, XLSX via eof-tools) was milestone M4 gate criteria.</a:t>
            </a:r>
          </a:p>
          <a:p>
            <a:r>
              <a:t>- P95 &lt;60 minutes was validated in load test at 200 solutions/month throughput — exactly as specified in SOW success metrics.</a:t>
            </a:r>
          </a:p>
          <a:p/>
          <a:p>
            <a:r>
              <a:t>*Detailed Metrics:*</a:t>
            </a:r>
          </a:p>
          <a:p>
            <a:r>
              <a:t>- Unit tests: pytest-cov at 82% coverage across all Lambda handlers, agent implementations, quota enforcement, and GitHub integration module.</a:t>
            </a:r>
          </a:p>
          <a:p>
            <a:r>
              <a:t>- Integration tests: every artifact type (5 presales + 6 delivery + 1 Terraform IaC bundle) exercised end-to-end through all 5 agents.</a:t>
            </a:r>
          </a:p>
          <a:p>
            <a:r>
              <a:t>- Security: IAM least-privilege validated; Cognito JWT tamper/expiry test confirmed; no wildcard resource policies in production.</a:t>
            </a:r>
          </a:p>
          <a:p>
            <a:r>
              <a:t>- Load test: DynamoDB atomic conditional writes under concurrent load — zero throttle events; on-demand scaling handled peak burst cleanly.</a:t>
            </a:r>
          </a:p>
          <a:p>
            <a:r>
              <a:t>- All SOW SLA targets green: P95 &lt;60 min ✓; token spend ≤$5 ✓; zero quota overruns ✓; 90% effort reduction ✓.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Every target metric from the SOW success criteria has been met or exceeded at go-live.</a:t>
            </a:r>
          </a:p>
          <a:p>
            <a:r>
              <a:t>- The $1.62M annual consultant time savings is the headline ROI figure.</a:t>
            </a:r>
          </a:p>
          <a:p>
            <a:r>
              <a:t>- 12-month payback calculated against the $287,800 net Year 1 investment (PS net + Year 1 cloud net).</a:t>
            </a:r>
          </a:p>
          <a:p>
            <a:r>
              <a:t>- Parallel pipeline throughput means the sales organisation can now run multiple engagements concurrently — previously blocked by single-threaded manual generation.</a:t>
            </a:r>
          </a:p>
          <a:p/>
          <a:p>
            <a:r>
              <a:t>*Detailed Impact:*</a:t>
            </a:r>
          </a:p>
          <a:p>
            <a:r>
              <a:t>- Time savings: 6–10 hours manual baseline vs. &lt;30 minutes human review post-platform. Net saving: ~9 hours/engagement.</a:t>
            </a:r>
          </a:p>
          <a:p>
            <a:r>
              <a:t>- Cost per solution: $5 Bedrock token spend + ~$0.50 infrastructure at 200 solutions/month = $5.50 total vs. ~$1,500 senior-consultant equivalent.</a:t>
            </a:r>
          </a:p>
          <a:p>
            <a:r>
              <a:t>- 3-year ROI: $565,315 total cost vs. ~$4.86M conservative 3-year consultant savings. Net 3-year benefit: ~$4.3M.</a:t>
            </a:r>
          </a:p>
          <a:p>
            <a:r>
              <a:t>- Pipeline growth: removing the manual bottleneck enables scaling to 1,000+ solutions/month without architectural changes.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The Week 1 AgentCore spike was the single most important risk-mitigation action — confirmed a new AWS service was viable before any production code was committed.</a:t>
            </a:r>
          </a:p>
          <a:p>
            <a:r>
              <a:t>- IaC-first (Terraform from Day 1) meant the Phase 3 production deployment was a zero-drama `terraform apply` rather than a manual configuration exercise.</a:t>
            </a:r>
          </a:p>
          <a:p>
            <a:r>
              <a:t>- Atomic DynamoDB conditional writes were designed in Phase 1 and stress-tested in Phase 3 — zero quota overruns observed across all load test runs.</a:t>
            </a:r>
          </a:p>
          <a:p/>
          <a:p>
            <a:r>
              <a:t>*Detailed Lessons:*</a:t>
            </a:r>
          </a:p>
          <a:p>
            <a:r>
              <a:t>- eof-tools integration: SME was available for 2 full days as agreed; recommend budgeting 3 days for Phase 2 if new converter types are added.</a:t>
            </a:r>
          </a:p>
          <a:p>
            <a:r>
              <a:t>- Bedrock quota: Sonnet 4.6 + Haiku 4.5 quota request should be raised in Week 1 of any future agentic engagement (AWS lead time: 1–2 weeks).</a:t>
            </a:r>
          </a:p>
          <a:p>
            <a:r>
              <a:t>- Haiku 4.5 cost advantage: ~$0.40/solution validation cost vs. ~$2.00 if Sonnet 4.6 were used — the Haiku-for-validation pattern is reusable across all future Bedrock projects.</a:t>
            </a:r>
          </a:p>
          <a:p/>
          <a:p>
            <a:r>
              <a:t>*Recommendations Roadmap:*</a:t>
            </a:r>
          </a:p>
          <a:p>
            <a:r>
              <a:t>- Phase 2 (estimated 8–10 weeks): multi-region active-passive (us-east-1 DR), advanced analytics dashboard, additional artifact types, CRM integration stub.</a:t>
            </a:r>
          </a:p>
          <a:p>
            <a:r>
              <a:t>- GUI portal: ~6–8 weeks; unlocks adoption by non-CLI consultants and accelerates path to 1,000+ solutions/month.</a:t>
            </a:r>
          </a:p>
          <a:p>
            <a:r>
              <a:t>- Quarterly reviews: schedule with Marcus Patel and Daniel Park to assess Bedrock model upgrades, cost optimisation, and quota headroom.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The 8-week hypercare window (SOW Weeks 13–20) covers the ramp-up to 200 solutions/month steady state — the period of highest operational risk.</a:t>
            </a:r>
          </a:p>
          <a:p>
            <a:r>
              <a:t>- Vendor break-glass IAM access is time-limited and auto-expires at Week 20; after that, all vendor access requires a formal access request process.</a:t>
            </a:r>
          </a:p>
          <a:p>
            <a:r>
              <a:t>- P1 24×7 coverage means a Bedrock outage or Cognito User Pool failure receives a vendor response within 1 hour regardless of time of day.</a:t>
            </a:r>
          </a:p>
          <a:p/>
          <a:p>
            <a:r>
              <a:t>*Support Details:*</a:t>
            </a:r>
          </a:p>
          <a:p>
            <a:r>
              <a:t>- Severity definitions: P1 = platform down or data loss risk; P2 = major functionality impaired; P3 = non-critical question or minor cosmetic issue.</a:t>
            </a:r>
          </a:p>
          <a:p>
            <a:r>
              <a:t>- Hypercare scope includes: Bedrock quota monitoring, agent failure triage, validation retry rate investigation, CloudWatch alarm response, quota counter adjustment, GitHub PAT rotation support, and minor bug fixes.</a:t>
            </a:r>
          </a:p>
          <a:p>
            <a:r>
              <a:t>- Out of scope during hypercare: new features, additional artifact types, multi-region, Cognito User Pool changes beyond bug fixes.</a:t>
            </a:r>
          </a:p>
          <a:p>
            <a:r>
              <a:t>- After Week 20: refer to separate Managed Services Agreement for SLA-backed ongoing operations and proactive cost optimisation.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Success was a genuine joint effort — PREDICTif stakeholders met every SOW commitment on schedule.</a:t>
            </a:r>
          </a:p>
          <a:p>
            <a:r>
              <a:t>- Marcus Patel's 4+ hours/week availability throughout all 12 weeks was instrumental in rapid deliverable acceptance.</a:t>
            </a:r>
          </a:p>
          <a:p>
            <a:r>
              <a:t>- The CTO's Week 3 Cognito sign-off unblocked Phase 1 completion on schedule — worth acknowledging publicly.</a:t>
            </a:r>
          </a:p>
          <a:p>
            <a:r>
              <a:t>- Daniel Park's runbook acceptance in Week 12 completed the operational handover cleanly.</a:t>
            </a:r>
          </a:p>
          <a:p/>
          <a:p>
            <a:r>
              <a:t>*Follow-up Actions:*</a:t>
            </a:r>
          </a:p>
          <a:p>
            <a:r>
              <a:t>- Documentation handover: all 32 SOW deliverables formally accepted; handover checklist signed by Marcus Patel.</a:t>
            </a:r>
          </a:p>
          <a:p>
            <a:r>
              <a:t>- Hypercare standup: daily CloudWatch review call for first 2 weeks (Weeks 13–14), then weekly through Week 20.</a:t>
            </a:r>
          </a:p>
          <a:p>
            <a:r>
              <a:t>- Phase 2 planning: workshop with Sarah Lin, Marcus Patel, and Daniel Park; Phase 2 Roadmap (SOW #32) is the input document.</a:t>
            </a:r>
          </a:p>
          <a:p>
            <a:r>
              <a:t>- Procurement: notify if projected Year 2 AWS spend ($121,122) approaches the existing spend envelope; coordinate Year 2 Bedrock credit applications.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 — executives frequently ask about Phase 2 scope, ongoing support costs, and the multi-region roadmap.</a:t>
            </a:r>
          </a:p>
          <a:p>
            <a:r>
              <a:t>- Have the Benefits Realized table (Slide 6) ready to revisit if Sarah Lin wants to discuss ROI methodology in detail.</a:t>
            </a:r>
          </a:p>
          <a:p>
            <a:r>
              <a:t>- Offer to schedule a dedicated Phase 2 scoping session — this closeout is the natural transition point into the next engagement.</a:t>
            </a:r>
          </a:p>
          <a:p>
            <a:r>
              <a:t>- End on a positive note: the platform is live, the demo was delivered, and PREDICTif's 120 consultants now have a self-service generation capability that did not exist 12 weeks ago.</a:t>
            </a:r>
          </a:p>
          <a:p>
            <a:r>
              <a:t>- Key backup data points for Q&amp;A: net Year 1 investment = $287,800; annual consultant savings = ~$1.62M; ROI payback = ~12 months; 3-year net benefit = ~$4.3M.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Agentic Pre-Sales Platform on AWS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Marcus Patel | 2026-04-30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Duration:</a:t>
            </a:r>
            <a:r>
              <a:t> 12 weeks (Q1–Q2 2026), on schedule</a:t>
            </a:r>
          </a:p>
          <a:p>
            <a:pPr/>
            <a:r>
              <a:rPr b="1"/>
              <a:t>Go-Live:</a:t>
            </a:r>
            <a:r>
              <a:t> End of April 2026 — executive demo delivered</a:t>
            </a:r>
          </a:p>
          <a:p>
            <a:pPr/>
            <a:r>
              <a:rPr b="1"/>
              <a:t>Budget:</a:t>
            </a:r>
            <a:r>
              <a:t> $287,800 net Year 1, within approved envelope</a:t>
            </a:r>
          </a:p>
          <a:p>
            <a:pPr/>
            <a:r>
              <a:rPr b="1"/>
              <a:t>Effort Reduction:</a:t>
            </a:r>
            <a:r>
              <a:t> 90% per-engagement — 10 hrs to &lt;1 hr</a:t>
            </a:r>
          </a:p>
          <a:p>
            <a:pPr/>
            <a:r>
              <a:rPr b="1"/>
              <a:t>Latency:</a:t>
            </a:r>
            <a:r>
              <a:t> P95 end-to-end generation under 60 minutes</a:t>
            </a:r>
          </a:p>
          <a:p>
            <a:pPr/>
            <a:r>
              <a:rPr b="1"/>
              <a:t>Quality:</a:t>
            </a:r>
            <a:r>
              <a:t> Zero critical defects at go-live</a:t>
            </a:r>
          </a:p>
          <a:p>
            <a:pPr/>
            <a:r>
              <a:rPr b="1"/>
              <a:t>Token Spend:</a:t>
            </a:r>
            <a:r>
              <a:t> Per-solution Bedrock cost at or below $5</a:t>
            </a:r>
          </a:p>
          <a:p>
            <a:pPr/>
            <a:r>
              <a:rPr b="1"/>
              <a:t>Quota Governance:</a:t>
            </a:r>
            <a:r>
              <a:t> Zero overruns; atomic enforcement live</a:t>
            </a:r>
          </a:p>
          <a:p>
            <a:pPr/>
            <a:r>
              <a:rPr b="1"/>
              <a:t>Throughput:</a:t>
            </a:r>
            <a:r>
              <a:t> 200 solutions/month steady-state confirmed</a:t>
            </a:r>
          </a:p>
          <a:p>
            <a:pPr/>
            <a:r>
              <a:rPr b="1"/>
              <a:t>ROI:</a:t>
            </a:r>
            <a:r>
              <a:t> 12-month payback on track via time savings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Orchestration &amp; API Layer</a:t>
            </a:r>
          </a:p>
          <a:p>
            <a:pPr lvl="1"/>
            <a:r>
              <a:t>API Gateway HTTP API v2 (11 routes)</a:t>
            </a:r>
          </a:p>
          <a:p>
            <a:pPr lvl="1"/>
            <a:r>
              <a:t>Step Functions multi-agent state machine</a:t>
            </a:r>
          </a:p>
          <a:p>
            <a:pPr lvl="1"/>
            <a:r>
              <a:t>Cognito User Pool, 30-day refresh tokens</a:t>
            </a:r>
          </a:p>
          <a:p>
            <a:pPr/>
            <a:r>
              <a:rPr b="1"/>
              <a:t>AI Generation &amp; Validation</a:t>
            </a:r>
          </a:p>
          <a:p>
            <a:pPr lvl="1"/>
            <a:r>
              <a:t>Claude Sonnet 4.6 for artifact generation</a:t>
            </a:r>
          </a:p>
          <a:p>
            <a:pPr lvl="1"/>
            <a:r>
              <a:t>Claude Haiku 4.5 for cost validation</a:t>
            </a:r>
          </a:p>
          <a:p>
            <a:pPr lvl="1"/>
            <a:r>
              <a:t>Up to 3 automated retries per artifact</a:t>
            </a:r>
          </a:p>
          <a:p>
            <a:pPr/>
            <a:r>
              <a:rPr b="1"/>
              <a:t>Data, Storage &amp; Delivery</a:t>
            </a:r>
          </a:p>
          <a:p>
            <a:pPr lvl="1"/>
            <a:r>
              <a:t>S3 artifacts; DynamoDB quota enforcement</a:t>
            </a:r>
          </a:p>
          <a:p>
            <a:pPr lvl="1"/>
            <a:r>
              <a:t>Secrets Manager GitHub PAT auto-rotation</a:t>
            </a:r>
          </a:p>
          <a:p>
            <a:pPr lvl="1"/>
            <a:r>
              <a:t>Automated commit to public GitHub repo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826"/>
                <a:gridCol w="3484373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Architecture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Agent-graph topology, ADRs, OpenAPI spec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Terraform IaC Full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infra provisioning (terraform validate ✓)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pip-installable CLI (14 subcommands)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Consultant self-service generation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`pip install amatra-cli` (PyPI)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Results Report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UAT sign-off, security, CloudWatch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Agent failure, quota reset, PAT rotation, DR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As-Built Documentation Package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API reference, deployment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Knowledge Transfer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Engineering deep-dive + pre-sales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Optimisation &amp; Phase 2 Roadmap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Cost tuning and Phase 2 scope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Unit coverage: 82% (target: &gt;80%) ✓</a:t>
            </a:r>
          </a:p>
          <a:p>
            <a:pPr lvl="1"/>
            <a:r>
              <a:t>All 12 artifact types pass end-to-end ✓</a:t>
            </a:r>
          </a:p>
          <a:p>
            <a:pPr lvl="1"/>
            <a:r>
              <a:t>Critical defects at go-live: 0 ✓</a:t>
            </a:r>
          </a:p>
          <a:p>
            <a:pPr lvl="1"/>
            <a:r>
              <a:t>UAT signed: Patel, Park, CTO ✓</a:t>
            </a:r>
          </a:p>
          <a:p>
            <a:pPr lvl="1"/>
            <a:r>
              <a:t>OWASP API Top 10: all 11 routes clear ✓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P95 latency: &lt;60 min (target: &lt;60 min) ✓</a:t>
            </a:r>
          </a:p>
          <a:p>
            <a:pPr lvl="1"/>
            <a:r>
              <a:t>P50 latency: ~28 min (target: &lt;30 min) ✓</a:t>
            </a:r>
          </a:p>
          <a:p>
            <a:pPr lvl="1"/>
            <a:r>
              <a:t>Token spend: ≤$5/solution (target: ≤$5) ✓</a:t>
            </a:r>
          </a:p>
          <a:p>
            <a:pPr lvl="1"/>
            <a:r>
              <a:t>Throughput: 200 solutions/month confirmed ✓</a:t>
            </a:r>
          </a:p>
          <a:p>
            <a:pPr lvl="1"/>
            <a:r>
              <a:t>Quota enforcement: 0 race conditions ✓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Per-Engagement Effort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hrs → &lt;1 hr per engagement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End-to-End Latency (P95)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&lt;60 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&lt;60 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Same-hour delivery standard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Token Cost per 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≤$5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≤$5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Predictable, budgetable spend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Quota Overruns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governance from day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Artifact Types Automated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types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types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 manual artifact production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Monthly 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solutions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solutions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Pipeline capacity unlocked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Annual Consultant Time Saved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$1.62M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On track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120 consultants × 9 hrs × $150/hr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ROI Payback Period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months projected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Within approved business case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Week 1 AgentCore spike de-risked early</a:t>
            </a:r>
          </a:p>
          <a:p>
            <a:pPr lvl="1"/>
            <a:r>
              <a:t>IaC-first approach enabled clean rollback</a:t>
            </a:r>
          </a:p>
          <a:p>
            <a:pPr lvl="1"/>
            <a:r>
              <a:t>Atomic DynamoDB quota prevented overruns</a:t>
            </a:r>
          </a:p>
          <a:p>
            <a:pPr lvl="1"/>
            <a:r>
              <a:t>Haiku 4.5 cut validation cost by ~5×</a:t>
            </a:r>
          </a:p>
          <a:p>
            <a:pPr lvl="1"/>
            <a:r>
              <a:t>Three-phase tests: zero go-live defects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eof-tools SME days needed; budget 3 next time</a:t>
            </a:r>
          </a:p>
          <a:p>
            <a:pPr lvl="1"/>
            <a:r>
              <a:t>Bedrock quota pre-approval: start in Week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Launch Phase 2: multi-region + analytics</a:t>
            </a:r>
          </a:p>
          <a:p>
            <a:pPr lvl="1"/>
            <a:r>
              <a:t>Add GUI portal for non-CLI consultants</a:t>
            </a:r>
          </a:p>
          <a:p>
            <a:pPr lvl="1"/>
            <a:r>
              <a:t>Scale to 1,000+ solutions/month</a:t>
            </a:r>
          </a:p>
          <a:p>
            <a:pPr lvl="1"/>
            <a:r>
              <a:t>Tune Haiku prompts to reduce cost further</a:t>
            </a:r>
          </a:p>
          <a:p>
            <a:pPr lvl="1"/>
            <a:r>
              <a:t>Quarterly architecture review cadence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Period (Weeks 13–20)</a:t>
            </a:r>
          </a:p>
          <a:p>
            <a:pPr lvl="1"/>
            <a:r>
              <a:t>Business hours + P1 24×7 coverage active</a:t>
            </a:r>
          </a:p>
          <a:p>
            <a:pPr lvl="1"/>
            <a:r>
              <a:t>P1 response ≤1 hr; P2 ≤4 business hrs</a:t>
            </a:r>
          </a:p>
          <a:p>
            <a:pPr lvl="1"/>
            <a:r>
              <a:t>Daily CloudWatch alarm monitoring</a:t>
            </a:r>
          </a:p>
          <a:p>
            <a:pPr lvl="1"/>
            <a:r>
              <a:t>Vendor break-glass IAM; expires Week 20</a:t>
            </a:r>
          </a:p>
          <a:p>
            <a:pPr lvl="1"/>
            <a:r>
              <a:t>Escalation: marcus.patel@predictif.com</a:t>
            </a:r>
          </a:p>
          <a:p>
            <a:pPr lvl="1"/>
            <a:r>
              <a:t>Vendor escalation: engagement@amatra.io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Post-Hypercare Steady State</a:t>
            </a:r>
          </a:p>
          <a:p>
            <a:pPr lvl="1"/>
            <a:r>
              <a:t>Full platform ownership: PREDICTif ops</a:t>
            </a:r>
          </a:p>
          <a:p>
            <a:pPr lvl="1"/>
            <a:r>
              <a:t>Monthly CloudWatch performance reviews</a:t>
            </a:r>
          </a:p>
          <a:p>
            <a:pPr lvl="1"/>
            <a:r>
              <a:t>Quarterly business reviews with Sarah Lin</a:t>
            </a:r>
          </a:p>
          <a:p>
            <a:pPr lvl="1"/>
            <a:r>
              <a:t>Phase 2 Roadmap delivered at Week 20</a:t>
            </a:r>
          </a:p>
          <a:p>
            <a:pPr lvl="1"/>
            <a:r>
              <a:t>Managed Services Agreement for ongoing SLA</a:t>
            </a:r>
          </a:p>
          <a:p>
            <a:pPr lvl="1"/>
            <a:r>
              <a:t>Formal access request for any vendor re-entry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Sarah Lin (CRO) — executive sponsorship and go-live sign-off</a:t>
            </a:r>
          </a:p>
          <a:p>
            <a:pPr/>
            <a:r>
              <a:t>Marcus Patel — technical leadership and deliverable acceptance</a:t>
            </a:r>
          </a:p>
          <a:p>
            <a:pPr/>
            <a:r>
              <a:t>Daniel Park — delivery operations and runbook sign-off</a:t>
            </a:r>
          </a:p>
          <a:p>
            <a:pPr/>
            <a:r>
              <a:rPr b="1"/>
              <a:t>This Week:</a:t>
            </a:r>
            <a:r>
              <a:t> Final documentation package handover complete</a:t>
            </a:r>
          </a:p>
          <a:p>
            <a:pPr/>
            <a:r>
              <a:rPr b="1"/>
              <a:t>Next 30 Days:</a:t>
            </a:r>
            <a:r>
              <a:t> Hypercare support with daily monitoring</a:t>
            </a:r>
          </a:p>
          <a:p>
            <a:pPr/>
            <a:r>
              <a:rPr b="1"/>
              <a:t>Next Quarter:</a:t>
            </a:r>
            <a:r>
              <a:t> Phase 2 planning workshop scheduled</a:t>
            </a:r>
          </a:p>
          <a:p>
            <a:pPr/>
            <a:r>
              <a:rPr b="1"/>
              <a:t>Ongoing:</a:t>
            </a:r>
            <a:r>
              <a:t> Monthly and quarterly business reviews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