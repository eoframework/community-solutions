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Open with confidence — platform delivered on time, on budget, to every presales commitment</a:t>
            </a:r>
          </a:p>
          <a:p>
            <a:r>
              <a:t>- Emphasise the 90% effort reduction: senior-consultant time drops from 6–10 hours to under 1 hour per engagement</a:t>
            </a:r>
          </a:p>
          <a:p>
            <a:r>
              <a:t>- The hard Q2 2026 executive demonstration deadline was the defining success criterion — it was met</a:t>
            </a:r>
          </a:p>
          <a:p>
            <a:r>
              <a:t>- All five agents are live in Bedrock AgentCore Runtime; all 12 artifact types pass format-check and LLM quality validation</a:t>
            </a:r>
          </a:p>
          <a:p>
            <a:r>
              <a:t>- Per-solution Bedrock model spend &lt; $5 was validated in load testing at 200 solutions/month steady-state</a:t>
            </a:r>
          </a:p>
          <a:p/>
          <a:p>
            <a:r>
              <a:t>*Budget Details:*</a:t>
            </a:r>
          </a:p>
          <a:p>
            <a:r>
              <a:t>- Professional Services list price $452,475 minus $20,000 partner credits = $432,475 net</a:t>
            </a:r>
          </a:p>
          <a:p>
            <a:r>
              <a:t>- Year 1 cloud infrastructure $49,427 net after $15,000 AWS MAP and Bedrock PoC credits</a:t>
            </a:r>
          </a:p>
          <a:p>
            <a:r>
              <a:t>- Total Year 1 investment $493,602 — within the approved $350K–$500K envelope</a:t>
            </a:r>
          </a:p>
          <a:p>
            <a:r>
              <a:t>- 3-year TCO $690,500 vs. manual baseline of ~$1.2M (10 hrs × $200/hr × 600 engagements/year)</a:t>
            </a:r>
          </a:p>
          <a:p/>
          <a:p>
            <a:r>
              <a:t>*Quality Summary:*</a:t>
            </a:r>
          </a:p>
          <a:p>
            <a:r>
              <a:t>- Format-check and LLM quality-check loop tested against all 12 EO Framework artifact types</a:t>
            </a:r>
          </a:p>
          <a:p>
            <a:r>
              <a:t>- Up to 3 automatic retries per artifact; graded delivery policy surfaces partial results</a:t>
            </a:r>
          </a:p>
          <a:p>
            <a:r>
              <a:t>- Zero quota bypass incidents confirmed through security testing (atomic DynamoDB counters validated)</a:t>
            </a:r>
          </a:p>
          <a:p>
            <a:r>
              <a:t>- Green CloudWatch metrics baseline confirmed; zero critical alarms at go-live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Architecture follows the "validate first, generate at scale" philosophy defined in the Solution Briefing</a:t>
            </a:r>
          </a:p>
          <a:p>
            <a:r>
              <a:t>- Three logical layers map directly to the presales architecture: Identity/API, Orchestration/Generation, Data/Delivery</a:t>
            </a:r>
          </a:p>
          <a:p>
            <a:r>
              <a:t>- All services are exactly those committed in the SOW — no scope additions were made</a:t>
            </a:r>
          </a:p>
          <a:p/>
          <a:p>
            <a:r>
              <a:t>*Layer Details:*</a:t>
            </a:r>
          </a:p>
          <a:p>
            <a:r>
              <a:t>- Identity &amp; API: Cognito issues JWTs validated by API Gateway on every request; DynamoDB counters enforce 10/user/month and 1,000/global/month quotas atomically</a:t>
            </a:r>
          </a:p>
          <a:p>
            <a:r>
              <a:t>- Agent Orchestration: Agent 0 (Input Validator) gates generation; Pre-Sales Generator, Delivery Generator, and Code Generator run in parallel domains; EO Validator applies format-check + LLM quality scoring with up to 3 retries</a:t>
            </a:r>
          </a:p>
          <a:p>
            <a:r>
              <a:t>- Data &amp; Delivery: Raw MD/CSV artifacts stored in S3 under {solution_id}/raw/; eof-tools baked into ECR image converts to DOCX/PPTX/XLSX; GitHub PAT pipeline commits all artifacts with structured commit messages</a:t>
            </a:r>
          </a:p>
          <a:p/>
          <a:p>
            <a:r>
              <a:t>*Presales Alignment:*</a:t>
            </a:r>
          </a:p>
          <a:p>
            <a:r>
              <a:t>- Services match Solution Briefing Slide 4 exactly: Bedrock AgentCore, Sonnet 4.6, Haiku 4.5, API Gateway, Cognito, DynamoDB, S3, ECR, CloudWatch, CloudTrail, GitHub</a:t>
            </a:r>
          </a:p>
          <a:p>
            <a:r>
              <a:t>- No net-new services added beyond SOW scope</a:t>
            </a:r>
          </a:p>
          <a:p>
            <a:r>
              <a:t>- Single-region us-west-2 footprint isolated from us-east-1 as committed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All 27 formal SOW deliverables have been completed and accepted by Marcus Patel and Daniel Park</a:t>
            </a:r>
          </a:p>
          <a:p>
            <a:r>
              <a:t>- The table highlights the 8 most strategic artifacts — the full deliverable register is in the Project Closeout Report (Deliverable 27)</a:t>
            </a:r>
          </a:p>
          <a:p>
            <a:r>
              <a:t>- Terraform IaC covers all 17 Lambda functions, API Gateway, Cognito, DynamoDB, S3, ECR, CloudWatch, and GuardDuty</a:t>
            </a:r>
          </a:p>
          <a:p>
            <a:r>
              <a:t>- CLI pip package published and verified installable by all Amatra consultants with corporate email access</a:t>
            </a:r>
          </a:p>
          <a:p/>
          <a:p>
            <a:r>
              <a:t>*Deliverable Highlights:*</a:t>
            </a:r>
          </a:p>
          <a:p>
            <a:r>
              <a:t>- ADR covers all major architecture decisions: multi-agent graph design, AgentCore Runtime choice, quota model, eof-tools baking strategy</a:t>
            </a:r>
          </a:p>
          <a:p>
            <a:r>
              <a:t>- Five-Agent Strands Graph: Input Validator, Pre-Sales Generator, Delivery Generator, Code Generator, EO Validator — all registered in Bedrock AgentCore Runtime</a:t>
            </a:r>
          </a:p>
          <a:p>
            <a:r>
              <a:t>- Runbooks cover: quota resets, agent failure recovery, Bedrock throttle handling, GitHub push failures, DynamoDB PITR restore</a:t>
            </a:r>
          </a:p>
          <a:p>
            <a:r>
              <a:t>- Knowledge transfer sessions (CLI/API — 4 hrs; Agent Operations — 3 hrs) recorded and provided as reference assets</a:t>
            </a:r>
          </a:p>
          <a:p/>
          <a:p>
            <a:r>
              <a:t>*Full SOW Deliverable Status:*</a:t>
            </a:r>
          </a:p>
          <a:p>
            <a:r>
              <a:t>- Deliverables 1–27: All accepted per SOW acceptance authority table</a:t>
            </a:r>
          </a:p>
          <a:p>
            <a:r>
              <a:t>- Formal acceptance signatures obtained from Marcus Patel (primary), Daniel Park (infrastructure/ops), and Sarah Lin (executive milestone)</a:t>
            </a:r>
          </a:p>
          <a:p>
            <a:r>
              <a:t>- CTO sign-off on Cognito user pool and production deployment obtained in Week 11 as planned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Every SOW success metric was met or exceeded — share the comparison table with Marcus Patel for formal acceptance documentation</a:t>
            </a:r>
          </a:p>
          <a:p>
            <a:r>
              <a:t>- 97% first-attempt validation pass rate exceeds the ≥ 95% SOW target; graded delivery policy ensures consultants receive partial results even when a subset requires retry</a:t>
            </a:r>
          </a:p>
          <a:p>
            <a:r>
              <a:t>- 48-minute end-to-end generation confirms the sub-60-minute value proposition that eliminates 6–10 hours of manual effort</a:t>
            </a:r>
          </a:p>
          <a:p/>
          <a:p>
            <a:r>
              <a:t>*Detailed Metrics:*</a:t>
            </a:r>
          </a:p>
          <a:p>
            <a:r>
              <a:t>- Load test executed at 200 solutions/month (≈10 concurrent peak); all performance targets met</a:t>
            </a:r>
          </a:p>
          <a:p>
            <a:r>
              <a:t>- P99 API Gateway response latency: 2.1s (SOW target ≤ 3s)</a:t>
            </a:r>
          </a:p>
          <a:p>
            <a:r>
              <a:t>- DynamoDB atomic quota operation latency: 32ms P99 (SOW target &lt; 50ms)</a:t>
            </a:r>
          </a:p>
          <a:p>
            <a:r>
              <a:t>- Lambda cold-start recovery: &lt; 3s to first successful invocation</a:t>
            </a:r>
          </a:p>
          <a:p>
            <a:r>
              <a:t>- PITR restore test: 3.5 hours (SOW RTO target: 4 hours) ✓</a:t>
            </a:r>
          </a:p>
          <a:p/>
          <a:p>
            <a:r>
              <a:t>*Security Test Summary:*</a:t>
            </a:r>
          </a:p>
          <a:p>
            <a:r>
              <a:t>- JWT auth penetration: all expired/tampered/unsigned tokens rejected with 401</a:t>
            </a:r>
          </a:p>
          <a:p>
            <a:r>
              <a:t>- Quota bypass via race condition: atomic DynamoDB counters prevented all bypass attempts</a:t>
            </a:r>
          </a:p>
          <a:p>
            <a:r>
              <a:t>- GitHub PAT not exposed in Lambda logs, env vars, or API responses ✓</a:t>
            </a:r>
          </a:p>
          <a:p>
            <a:r>
              <a:t>- IAM Access Analyzer: no overly permissive policies detected</a:t>
            </a:r>
          </a:p>
          <a:p>
            <a:r>
              <a:t>- ECR Inspector scan: zero critical/high CVEs at go-live</a:t>
            </a:r>
          </a:p>
          <a:p/>
          <a:p>
            <a:r>
              <a:t>*Presales Alignment:*</a:t>
            </a:r>
          </a:p>
          <a:p>
            <a:r>
              <a:t>- Validation pass rate ≥ 95% — SOW Section "Success Metrics" ✓</a:t>
            </a:r>
          </a:p>
          <a:p>
            <a:r>
              <a:t>- API availability ≥ 99.5% — SOW Section "Success Metrics" ✓</a:t>
            </a:r>
          </a:p>
          <a:p>
            <a:r>
              <a:t>- Per-solution Bedrock spend &lt; $5 — SOW Section "Success Metrics" ✓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Every quantified benefit target from the SOW was met or exceeded — present this as a full-scorecard moment</a:t>
            </a:r>
          </a:p>
          <a:p>
            <a:r>
              <a:t>- The 90% effort reduction is the headline: senior consultants who spent 6–10 hours per presales pack now spend under 1 hour on review and approval</a:t>
            </a:r>
          </a:p>
          <a:p>
            <a:r>
              <a:t>- Parallel pipeline throughput unlocks revenue growth without headcount growth — the core value proposition from the Solution Briefing</a:t>
            </a:r>
          </a:p>
          <a:p/>
          <a:p>
            <a:r>
              <a:t>*ROI Calculation:*</a:t>
            </a:r>
          </a:p>
          <a:p>
            <a:r>
              <a:t>- Manual baseline cost: 120 consultants × 5 presales packs/month × 8 hrs avg × $200/hr = $960,000/month in consultant time</a:t>
            </a:r>
          </a:p>
          <a:p>
            <a:r>
              <a:t>- Automated cost: 120 consultants × 5 packs/month × 1 hr review × $200/hr + $5 Bedrock/pack = $121,800/month</a:t>
            </a:r>
          </a:p>
          <a:p>
            <a:r>
              <a:t>- Monthly savings: ~$838,200 (approximate; based on full utilisation scenario)</a:t>
            </a:r>
          </a:p>
          <a:p>
            <a:r>
              <a:t>- Net Year 1 professional services investment ($432,475) is recovered in well under 1 month of full-scale operation</a:t>
            </a:r>
          </a:p>
          <a:p>
            <a:r>
              <a:t>- 3-year TCO of $690,500 vs. manual baseline of $1.2M+ supports the presales ROI claim of payback within 6 months</a:t>
            </a:r>
          </a:p>
          <a:p/>
          <a:p>
            <a:r>
              <a:t>*Benefit Details:*</a:t>
            </a:r>
          </a:p>
          <a:p>
            <a:r>
              <a:t>- Audit trail: CloudTrail Management + Data Events on S3 + DynamoDB audit_events table (90-day TTL) + GitHub commit history — full SOC 2 evidence chain</a:t>
            </a:r>
          </a:p>
          <a:p>
            <a:r>
              <a:t>- Cost governance: per-phase token usage visible in CLI `status` subcommand and admin `/usage` API endpoint; DynamoDB records input/output tokens and estimated cost per artifact</a:t>
            </a:r>
          </a:p>
          <a:p>
            <a:r>
              <a:t>- Quality consistency: deterministic format-check eliminates ad-hoc quality drift; LLM quality scoring via Haiku 4.5 provides semantic validation layer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Lessons learned are documented in full in the Phase Retrospective section of the Project Closeout Report (Deliverable 27)</a:t>
            </a:r>
          </a:p>
          <a:p>
            <a:r>
              <a:t>- The foundation-first approach (Phase 1 delivering working auth before any AI complexity) was the single most effective risk-mitigation decision of the engagement</a:t>
            </a:r>
          </a:p>
          <a:p>
            <a:r>
              <a:t>- Graded artifact delivery policy — surfacing completed artifacts even when a subset requires retry — was a late-phase UX improvement that significantly improved pilot consultant feedback</a:t>
            </a:r>
          </a:p>
          <a:p/>
          <a:p>
            <a:r>
              <a:t>*Challenge Details:*</a:t>
            </a:r>
          </a:p>
          <a:p>
            <a:r>
              <a:t>- AgentCore Runtime quota: AWS Bedrock AgentCore was still approaching GA during Phase 1; vendor team engaged AWS Solutions Architect in Week 1 to pre-approve Runtime quota. Mitigation: quota approved by Week 4 with no phase slip.</a:t>
            </a:r>
          </a:p>
          <a:p>
            <a:r>
              <a:t>- eof-tools ECR image build: initial multi-stage build produced a 4.2 GB image causing slow Lambda cold starts. Mitigation: Docker layer caching strategy and selective module inclusion reduced image to 1.8 GB; cold-start recovery &lt; 3s.</a:t>
            </a:r>
          </a:p>
          <a:p/>
          <a:p>
            <a:r>
              <a:t>*Recommendation Details:*</a:t>
            </a:r>
          </a:p>
          <a:p>
            <a:r>
              <a:t>- Phase 2 — Multi-region HA: us-east-1 replica with Route 53 failover; estimated 4-week effort; addresses DR gap identified in PITR test</a:t>
            </a:r>
          </a:p>
          <a:p>
            <a:r>
              <a:t>- Additional artifact types: currently 12 EO Framework types; Phase 2 backlog identifies 4 candidate types (change-log, executive-summary, migration-plan, cost-optimisation-report)</a:t>
            </a:r>
          </a:p>
          <a:p>
            <a:r>
              <a:t>- Advanced model routing: A/B testing between Sonnet 4.6 and future Claude models; estimated cost reduction 10–15% at scale</a:t>
            </a:r>
          </a:p>
          <a:p>
            <a:r>
              <a:t>- Browser UI: Streamlit or React frontend surfacing CLI functionality; removes barrier for non-technical consultant onboarding</a:t>
            </a:r>
          </a:p>
          <a:p>
            <a:r>
              <a:t>- KMS-CMK DynamoDB: recommended for production data sensitivity upgrade; minimal cost impact (~$30/month); required for SOC 2 Type II full certification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Four-week hypercare is included in this engagement at no additional cost (covered in professional services fees)</a:t>
            </a:r>
          </a:p>
          <a:p>
            <a:r>
              <a:t>- Hypercare scope covers: Bedrock quota issue resolution, agent failure triage, GitHub push failures, CloudWatch alarm investigation, Cognito user management</a:t>
            </a:r>
          </a:p>
          <a:p>
            <a:r>
              <a:t>- Hypercare does NOT cover net-new feature development, additional artifact types, or multi-region changes — these require Phase 2 scope</a:t>
            </a:r>
          </a:p>
          <a:p/>
          <a:p>
            <a:r>
              <a:t>*Hypercare Details:*</a:t>
            </a:r>
          </a:p>
          <a:p>
            <a:r>
              <a:t>- P1 (platform down / quota enforcement broken): 2-hour response, senior engineer on-call</a:t>
            </a:r>
          </a:p>
          <a:p>
            <a:r>
              <a:t>- P2 (single artifact type failing validation): 4-hour response, agent specialist assigned</a:t>
            </a:r>
          </a:p>
          <a:p>
            <a:r>
              <a:t>- P3 (cosmetic / documentation issues): next business day</a:t>
            </a:r>
          </a:p>
          <a:p>
            <a:r>
              <a:t>- Vendor team access to production environment is fully revoked at hypercare conclusion (Week 16)</a:t>
            </a:r>
          </a:p>
          <a:p>
            <a:r>
              <a:t>- All access changes logged in CloudTrail and DynamoDB audit_events</a:t>
            </a:r>
          </a:p>
          <a:p/>
          <a:p>
            <a:r>
              <a:t>*Steady State Transition:*</a:t>
            </a:r>
          </a:p>
          <a:p>
            <a:r>
              <a:t>- Week 14: Phase 2 planning workshop recommended — multi-region HA, additional artifact types, advanced model routing</a:t>
            </a:r>
          </a:p>
          <a:p>
            <a:r>
              <a:t>- Week 17+: PREDICTif's Amatra team operates platform independently using runbooks and KT session recordings</a:t>
            </a:r>
          </a:p>
          <a:p>
            <a:r>
              <a:t>- Managed services beyond Week 16 require a separate MSA; vendor team to provide MSA scope at Week 14 workshop</a:t>
            </a:r>
          </a:p>
          <a:p>
            <a:r>
              <a:t>- Monthly performance reviews cover: CloudWatch metrics, per-solution Bedrock cost trend, quota utilisation, validation pass rates</a:t>
            </a:r>
          </a:p>
          <a:p/>
          <a:p>
            <a:r>
              <a:t>*Support Contacts (Full List):*</a:t>
            </a:r>
          </a:p>
          <a:p>
            <a:r>
              <a:t>- Slack: #amatra-platform-hypercare (vendor engineering team on-call during business hours)</a:t>
            </a:r>
          </a:p>
          <a:p>
            <a:r>
              <a:t>- Project Manager: pm@amatra.com | +1-800-AMATRA-1</a:t>
            </a:r>
          </a:p>
          <a:p>
            <a:r>
              <a:t>- Technical Lead: techsupport@amatra.com</a:t>
            </a:r>
          </a:p>
          <a:p>
            <a:r>
              <a:t>- After-hours P1 escalation: on-call rotation shared in hypercare kickoff Slack message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Success was a team effort — the on-time, on-budget delivery reflects equal commitment from both sides of the partnership</a:t>
            </a:r>
          </a:p>
          <a:p>
            <a:r>
              <a:t>- Marcus Patel's availability for weekly checkpoint reviews and rapid UAT feedback was essential to maintaining the 12-week timeline</a:t>
            </a:r>
          </a:p>
          <a:p>
            <a:r>
              <a:t>- CTO sign-off obtained by Week 11 — no critical-path slip; this was the single highest-risk dependency in the engagement</a:t>
            </a:r>
          </a:p>
          <a:p/>
          <a:p>
            <a:r>
              <a:t>*Specific Recognition:*</a:t>
            </a:r>
          </a:p>
          <a:p>
            <a:r>
              <a:t>- Sarah Lin: approved Phase 1 kickoff quickly; co-signed executive demonstration milestone at Week 12; championed the 90% effort-reduction metric as the board-level success story</a:t>
            </a:r>
          </a:p>
          <a:p>
            <a:r>
              <a:t>- Marcus Patel: provided 5 representative client briefs for agent prompt tuning by Week 6 as required; led UAT in Week 11 with thorough scenario coverage; signed off all 27 deliverables within SLA</a:t>
            </a:r>
          </a:p>
          <a:p>
            <a:r>
              <a:t>- Daniel Park: delivered eof-tools library to vendor team by Week 5 as per SOW dependency; accepted all infrastructure and operational deliverables on schedule; validated runbook completeness</a:t>
            </a:r>
          </a:p>
          <a:p>
            <a:r>
              <a:t>- PREDICTif CTO: unblocked Cognito user pool provisioning in Week 11; production deployment proceeded without delay</a:t>
            </a:r>
          </a:p>
          <a:p/>
          <a:p>
            <a:r>
              <a:t>*Next Steps Timeline:*</a:t>
            </a:r>
          </a:p>
          <a:p>
            <a:r>
              <a:t>- This week: CLI pip package published; all 27 deliverable artifacts committed to GitHub; closeout report finalised</a:t>
            </a:r>
          </a:p>
          <a:p>
            <a:r>
              <a:t>- Next 30 days (Weeks 13–16): Hypercare support per SLA; daily Slack channel monitored; vendor team available for agent triage</a:t>
            </a:r>
          </a:p>
          <a:p>
            <a:r>
              <a:t>- Week 14: Phase 2 planning workshop — recommended agenda: multi-region HA scope, additional artifact types, advanced model routing, browser UI, SOC 2 Type II gap assessment</a:t>
            </a:r>
          </a:p>
          <a:p>
            <a:r>
              <a:t>- Ongoing (Week 17+): Monthly CloudWatch performance review; quarterly business review with Sarah Lin; Phase 2 SOW to be agreed based on Week 14 workshop output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Open the floor for questions and discussion — the team is prepared for deep-dive technical questions on any of the five agents, quota enforcement, or the eof-tools integration</a:t>
            </a:r>
          </a:p>
          <a:p>
            <a:r>
              <a:t>- Have backup detail available: load test raw data, CloudWatch dashboard screenshots, security test report summary, full 27-deliverable acceptance log</a:t>
            </a:r>
          </a:p>
          <a:p>
            <a:r>
              <a:t>- Offer to schedule follow-up sessions for specific topics: Phase 2 scoping, managed services terms, SOC 2 gap assessment</a:t>
            </a:r>
          </a:p>
          <a:p>
            <a:r>
              <a:t>- End on a positive note — the platform is live, generating real artifacts for Amatra consultants, and delivering on every commitment made in the presales engagement</a:t>
            </a:r>
          </a:p>
          <a:p>
            <a:r>
              <a:t>- Remind the room: Phase 2 planning workshop is recommended for Week 14 — the momentum from this delivery is the right time to lock in the next phase while the team context is fresh</a:t>
            </a:r>
          </a:p>
          <a:p/>
          <a:p>
            <a:r>
              <a:t>*Anticipated Questions:*</a:t>
            </a:r>
          </a:p>
          <a:p>
            <a:r>
              <a:t>- Q: What happens if AgentCore Runtime has an outage? A: Lambda functions retry with exponential backoff; DynamoDB PITR recovers state; RTO validated at 3.5 hours against 4-hour target</a:t>
            </a:r>
          </a:p>
          <a:p>
            <a:r>
              <a:t>- Q: Can we add more artifact types ourselves? A: Yes — agent prompt templates are version-controlled in S3 and GitHub; the KT Session 2 recording covers how to add new artifact types; Phase 2 scope includes formal additional artifact type development</a:t>
            </a:r>
          </a:p>
          <a:p>
            <a:r>
              <a:t>- Q: What does Phase 2 cost? A: To be scoped in Week 14 workshop; preliminary estimate is a smaller engagement than Phase 1 given the platform foundation is in place; multi-region HA is the largest single work package</a:t>
            </a:r>
          </a:p>
          <a:p>
            <a:r>
              <a:t>- Q: Is the $4.20 per-solution Bedrock cost guaranteed? A: Validated at 200 solutions/month load test; actual cost will vary with brief complexity and retry frequency; admin `/usage` endpoint provides real-time cost visibility per solution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31079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1470" y="678433"/>
            <a:ext cx="4228856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Project Closeout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AWS Agentic Pre-Sales Orchestration Platform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Amatra EO Framework Practice — Project Manager | 2026-04-30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2: Executive 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Project Duration:</a:t>
            </a:r>
            <a:r>
              <a:t> 12 weeks (Q2 2026), on schedule</a:t>
            </a:r>
          </a:p>
          <a:p>
            <a:pPr/>
            <a:r>
              <a:rPr b="1"/>
              <a:t>Budget:</a:t>
            </a:r>
            <a:r>
              <a:t> $432,475 net professional services, on budget</a:t>
            </a:r>
          </a:p>
          <a:p>
            <a:pPr/>
            <a:r>
              <a:rPr b="1"/>
              <a:t>Go-Live Date:</a:t>
            </a:r>
            <a:r>
              <a:t> End of April 2026 (hard deadline met)</a:t>
            </a:r>
          </a:p>
          <a:p>
            <a:pPr/>
            <a:r>
              <a:rPr b="1"/>
              <a:t>Quality:</a:t>
            </a:r>
            <a:r>
              <a:t> Zero critical defects at production go-live</a:t>
            </a:r>
          </a:p>
          <a:p>
            <a:pPr/>
            <a:r>
              <a:rPr b="1"/>
              <a:t>Effort Reduction:</a:t>
            </a:r>
            <a:r>
              <a:t> 90% per-engagement time savings achieved</a:t>
            </a:r>
          </a:p>
          <a:p>
            <a:pPr/>
            <a:r>
              <a:rPr b="1"/>
              <a:t>Validation Pass Rate:</a:t>
            </a:r>
            <a:r>
              <a:t> ≥ 95% first-attempt across all 12 artifact types</a:t>
            </a:r>
          </a:p>
          <a:p>
            <a:pPr/>
            <a:r>
              <a:rPr b="1"/>
              <a:t>Per-Solution Cost:</a:t>
            </a:r>
            <a:r>
              <a:t> &lt; $5 Bedrock model spend at 200 solutions/month</a:t>
            </a:r>
          </a:p>
          <a:p>
            <a:pPr/>
            <a:r>
              <a:rPr b="1"/>
              <a:t>API Availability:</a:t>
            </a:r>
            <a:r>
              <a:t> ≥ 99.5% across all 11 Lambda routes</a:t>
            </a:r>
          </a:p>
          <a:p>
            <a:pPr/>
            <a:r>
              <a:rPr b="1"/>
              <a:t>Executive Demo:</a:t>
            </a:r>
            <a:r>
              <a:t> Delivered to Sarah Lin (CRO) on schedule</a:t>
            </a:r>
          </a:p>
          <a:p>
            <a:pPr/>
            <a:r>
              <a:rPr b="1"/>
              <a:t>ROI Timeline:</a:t>
            </a:r>
            <a:r>
              <a:t> Consultant capacity payback within 6 months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Agentic Pre-Sales Orchestration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3: Solution Architecture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5" sz="quarter"/>
          </p:nvPr>
        </p:nvSpPr>
        <p:spPr/>
        <p:txBody>
          <a:bodyPr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Agentic Pre-Sales Orchestration Platform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Identity &amp; API Layer</a:t>
            </a:r>
          </a:p>
          <a:p>
            <a:pPr lvl="1"/>
            <a:r>
              <a:t>Cognito JWT (1-hr tokens, 30-day refresh)</a:t>
            </a:r>
          </a:p>
          <a:p>
            <a:pPr lvl="1"/>
            <a:r>
              <a:t>API Gateway HTTP API v2 (11 routes)</a:t>
            </a:r>
          </a:p>
          <a:p>
            <a:pPr lvl="1"/>
            <a:r>
              <a:t>DynamoDB atomic quota enforcement</a:t>
            </a:r>
          </a:p>
          <a:p>
            <a:pPr/>
            <a:r>
              <a:rPr b="1"/>
              <a:t>Agent Orchestration Layer</a:t>
            </a:r>
          </a:p>
          <a:p>
            <a:pPr lvl="1"/>
            <a:r>
              <a:t>5 Strands agents on Bedrock AgentCore</a:t>
            </a:r>
          </a:p>
          <a:p>
            <a:pPr lvl="1"/>
            <a:r>
              <a:t>Claude Sonnet 4.6 generation engine</a:t>
            </a:r>
          </a:p>
          <a:p>
            <a:pPr lvl="1"/>
            <a:r>
              <a:t>Claude Haiku 4.5 validation engine</a:t>
            </a:r>
          </a:p>
          <a:p>
            <a:pPr/>
            <a:r>
              <a:rPr b="1"/>
              <a:t>Data &amp; Delivery Layer</a:t>
            </a:r>
          </a:p>
          <a:p>
            <a:pPr lvl="1"/>
            <a:r>
              <a:t>S3 artifact store (12 artifact types)</a:t>
            </a:r>
          </a:p>
          <a:p>
            <a:pPr lvl="1"/>
            <a:r>
              <a:t>eof-tools ECR image (30 converters)</a:t>
            </a:r>
          </a:p>
          <a:p>
            <a:pPr lvl="1"/>
            <a:r>
              <a:t>GitHub PAT automated commit pipeline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4: Deliverables Inventory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2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826"/>
                <a:gridCol w="3484373"/>
                <a:gridCol w="2177733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Deliverable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Location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Architecture Decision Record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Current-state &amp; target architecture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`/delivery/detailed-design/`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AWS Landing Zone (IaC)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VPC, IAM, S3, CloudTrail, KMS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`/delivery/scripts/terraform/`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Five-Agent Strands Graph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AgentCore Runtime — all agents live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`/delivery/scripts/agents/`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Pip-Installable CLI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14 subcommands for consultants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`/delivery/scripts/cli/`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Terraform IaC Bundle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Full infra with `terraform validate` gate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`/delivery/scripts/terraform/`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Test Plan &amp; Results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Unit, E2E, load, security, UAT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`/delivery/test-plan/`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Operational Runbooks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Quota reset, agent failure, GitHub push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`/delivery/runbook/`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As-Built Documentation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Architecture diagrams, config inventory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`/delivery/detailed-design/`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Agentic Pre-Sales Orchestration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5: Quality &amp; Performance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Validation Metrics</a:t>
            </a:r>
          </a:p>
          <a:p>
            <a:pPr lvl="1"/>
            <a:r>
              <a:t>Artifact pass rate: 97% (target: ≥ 95%)</a:t>
            </a:r>
          </a:p>
          <a:p>
            <a:pPr lvl="1"/>
            <a:r>
              <a:t>Format-check: 100% of 12 artifact types</a:t>
            </a:r>
          </a:p>
          <a:p>
            <a:pPr lvl="1"/>
            <a:r>
              <a:t>Retry ceiling respected: ≤ 3 retries/artifact</a:t>
            </a:r>
          </a:p>
          <a:p>
            <a:pPr lvl="1"/>
            <a:r>
              <a:t>Critical defects at go-live: 0</a:t>
            </a:r>
          </a:p>
          <a:p>
            <a:pPr lvl="1"/>
            <a:r>
              <a:t>Security findings (critical/high): 0 open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Performance Metrics</a:t>
            </a:r>
          </a:p>
          <a:p>
            <a:pPr lvl="1"/>
            <a:r>
              <a:t>End-to-end generation: 48 min (target: ≤ 60 min)</a:t>
            </a:r>
          </a:p>
          <a:p>
            <a:pPr lvl="1"/>
            <a:r>
              <a:t>Per-solution Bedrock cost: $4.20 (target: &lt; $5)</a:t>
            </a:r>
          </a:p>
          <a:p>
            <a:pPr lvl="1"/>
            <a:r>
              <a:t>API availability: 99.7% (target: ≥ 99.5%)</a:t>
            </a:r>
          </a:p>
          <a:p>
            <a:pPr lvl="1"/>
            <a:r>
              <a:t>Quota bypass incidents: 0 (target: 0)</a:t>
            </a:r>
          </a:p>
          <a:p>
            <a:pPr lvl="1"/>
            <a:r>
              <a:t>CloudWatch critical alarms at go-live: 0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Agentic Pre-Sales Orchestration Platform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6: Benefits Realized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7498"/>
                <a:gridCol w="1916405"/>
                <a:gridCol w="1916405"/>
                <a:gridCol w="2090623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Benefit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Achieved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Per-Engagement Effort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90% reduction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90% reduction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6–10 hrs → under 1 hr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Artifact Generation Time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≤ 60 min end-to-end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48 min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20% faster than target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Validation Pass Rate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≥ 95% first attempt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97%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Quality consistency delivered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Bedrock Cost per Solution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&lt; $5.00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$4.20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16% under cost ceiling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API Availability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≥ 99.5% monthly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99.7%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Exceeds SLA commitment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Pipeline Throughput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200 solutions/month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Validated at 200/mo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Parallel generation enabled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Quota Enforcement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Zero bypass incidents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Zero bypass incidents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Full cost governance live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Audit Trail Coverage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100% API calls logged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100% CloudTrail + DynamoDB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SOC 2 readiness achieved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Agentic Pre-Sales Orchestration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7: Lessons Learned &amp; Recommendations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Worked Well</a:t>
            </a:r>
          </a:p>
          <a:p>
            <a:pPr lvl="1"/>
            <a:r>
              <a:t>Foundation-first phasing de-risked identity early</a:t>
            </a:r>
          </a:p>
          <a:p>
            <a:pPr lvl="1"/>
            <a:r>
              <a:t>Incremental agent shipping reduced integration risk</a:t>
            </a:r>
          </a:p>
          <a:p>
            <a:pPr lvl="1"/>
            <a:r>
              <a:t>eof-tools baked in ECR eliminated runtime deps</a:t>
            </a:r>
          </a:p>
          <a:p>
            <a:pPr lvl="1"/>
            <a:r>
              <a:t>Graded delivery policy improved consultant UX</a:t>
            </a:r>
          </a:p>
          <a:p>
            <a:pPr lvl="1"/>
            <a:r>
              <a:t>AWS partner credits reduced Year 1 spend by $35K</a:t>
            </a:r>
          </a:p>
          <a:p>
            <a:pPr/>
            <a:r>
              <a:rPr b="1"/>
              <a:t>Challenges Overcome</a:t>
            </a:r>
          </a:p>
          <a:p>
            <a:pPr lvl="1"/>
            <a:r>
              <a:t>AgentCore Runtime quota required AWS SA pre-approval</a:t>
            </a:r>
          </a:p>
          <a:p>
            <a:pPr lvl="1"/>
            <a:r>
              <a:t>eof-tools image build time optimised via layer caching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Recommendations</a:t>
            </a:r>
          </a:p>
          <a:p>
            <a:pPr lvl="1"/>
            <a:r>
              <a:t>Phase 2: multi-region HA for DR and latency</a:t>
            </a:r>
          </a:p>
          <a:p>
            <a:pPr lvl="1"/>
            <a:r>
              <a:t>Expand to additional artifact types as scope grows</a:t>
            </a:r>
          </a:p>
          <a:p>
            <a:pPr lvl="1"/>
            <a:r>
              <a:t>Implement advanced Bedrock model routing/A/B</a:t>
            </a:r>
          </a:p>
          <a:p>
            <a:pPr lvl="1"/>
            <a:r>
              <a:t>Add browser-based UI for non-CLI users</a:t>
            </a:r>
          </a:p>
          <a:p>
            <a:pPr lvl="1"/>
            <a:r>
              <a:t>Evaluate KMS-CMK for DynamoDB encryption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Agentic Pre-Sales Orchestration Platform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8: Support Transition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Hypercare (Weeks 13–16)</a:t>
            </a:r>
          </a:p>
          <a:p>
            <a:pPr lvl="1"/>
            <a:r>
              <a:t>Dedicated vendor team on Slack channel</a:t>
            </a:r>
          </a:p>
          <a:p>
            <a:pPr lvl="1"/>
            <a:r>
              <a:t>Business hours coverage (9am–6pm PT)</a:t>
            </a:r>
          </a:p>
          <a:p>
            <a:pPr lvl="1"/>
            <a:r>
              <a:t>P1 response: 2-hour SLA (platform down)</a:t>
            </a:r>
          </a:p>
          <a:p>
            <a:pPr lvl="1"/>
            <a:r>
              <a:t>P2 response: 4-hour SLA (single artifact failing)</a:t>
            </a:r>
          </a:p>
          <a:p>
            <a:pPr lvl="1"/>
            <a:r>
              <a:t>P3 response: next business day</a:t>
            </a:r>
          </a:p>
          <a:p>
            <a:pPr/>
            <a:r>
              <a:rPr b="1"/>
              <a:t>Steady State (Week 17+)</a:t>
            </a:r>
          </a:p>
          <a:p>
            <a:pPr lvl="1"/>
            <a:r>
              <a:t>Monthly CloudWatch performance review</a:t>
            </a:r>
          </a:p>
          <a:p>
            <a:pPr lvl="1"/>
            <a:r>
              <a:t>Quarterly business review with Sarah Lin</a:t>
            </a:r>
          </a:p>
          <a:p>
            <a:pPr lvl="1"/>
            <a:r>
              <a:t>Phase 2 planning workshop at Week 14</a:t>
            </a:r>
          </a:p>
          <a:p>
            <a:pPr lvl="1"/>
            <a:r>
              <a:t>Separate MSA for managed services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Escalation Contacts</a:t>
            </a:r>
          </a:p>
          <a:p>
            <a:pPr lvl="1"/>
            <a:r>
              <a:t>L1: #amatra-platform-hypercare (Slack)</a:t>
            </a:r>
          </a:p>
          <a:p>
            <a:pPr lvl="1"/>
            <a:r>
              <a:t>L2: pm@amatra.com | techsupport@amatra.com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Agentic Pre-Sales Orchestration Platform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9: Acknowledgments &amp; 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Sarah Lin (CRO) for executive sponsorship and go-live approval</a:t>
            </a:r>
          </a:p>
          <a:p>
            <a:pPr/>
            <a:r>
              <a:t>Marcus Patel for requirements leadership and UAT sign-off</a:t>
            </a:r>
          </a:p>
          <a:p>
            <a:pPr/>
            <a:r>
              <a:t>Daniel Park for infrastructure acceptance and runbook review</a:t>
            </a:r>
          </a:p>
          <a:p>
            <a:pPr/>
            <a:r>
              <a:t>PREDICTif CTO for Cognito sign-off on the critical path</a:t>
            </a:r>
          </a:p>
          <a:p>
            <a:pPr/>
            <a:r>
              <a:rPr b="1"/>
              <a:t>This Week:</a:t>
            </a:r>
            <a:r>
              <a:t> Final documentation and CLI package handover</a:t>
            </a:r>
          </a:p>
          <a:p>
            <a:pPr/>
            <a:r>
              <a:rPr b="1"/>
              <a:t>Next 30 Days:</a:t>
            </a:r>
            <a:r>
              <a:t> Hypercare support with Slack on-call coverage</a:t>
            </a:r>
          </a:p>
          <a:p>
            <a:pPr/>
            <a:r>
              <a:rPr b="1"/>
              <a:t>Week 14:</a:t>
            </a:r>
            <a:r>
              <a:t> Phase 2 planning workshop (multi-region, new artifacts)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Agentic Pre-Sales Orchestration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Slide 10: 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86</cp:revision>
  <dcterms:created xsi:type="dcterms:W3CDTF">2025-11-01T21:16:10Z</dcterms:created>
  <dcterms:modified xsi:type="dcterms:W3CDTF">2025-11-27T20:15:42Z</dcterms:modified>
</cp:coreProperties>
</file>