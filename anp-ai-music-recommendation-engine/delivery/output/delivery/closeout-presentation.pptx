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Welcome the ANP Streaming executive team and stakeholders to the formal project closeout</a:t>
            </a:r>
          </a:p>
          <a:p>
            <a:r>
              <a:t>- Acknowledge the collaborative effort between nClouds and the ANP team throughout the engagement</a:t>
            </a:r>
          </a:p>
          <a:p>
            <a:r>
              <a:t>- Today's session covers: achievements, quality metrics, benefits realized, lessons learned, and next steps</a:t>
            </a:r>
          </a:p>
          <a:p>
            <a:r>
              <a:t>- Celebrate a successful delivery — all five SOW phases completed on schedule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with confidence: project delivered on time, on scope, and at zero net PS cost to ANP</a:t>
            </a:r>
          </a:p>
          <a:p>
            <a:r>
              <a:t>- The $25,000 AWS Partner Funding from the APFP program was approved before kickoff; invoices were fully offset at each milestone</a:t>
            </a:r>
          </a:p>
          <a:p>
            <a:r>
              <a:t>- All three milestone invoices — Kickoff ($12,500), M4 ($7,500), and Final ($5,000) — were gross amounts zeroed out by APFP credits</a:t>
            </a:r>
          </a:p>
          <a:p>
            <a:r>
              <a:t>- The 13-week delivery window matches the SOW effective date of March 19, 2026 through June 19, 2026</a:t>
            </a:r>
          </a:p>
          <a:p>
            <a:r>
              <a:t>- ANP now has a fully operational AI/ML backend in the Staging environment, production-ready per SOW scope</a:t>
            </a:r>
          </a:p>
          <a:p/>
          <a:p>
            <a:r>
              <a:t>*Budget Breakdown:*</a:t>
            </a:r>
          </a:p>
          <a:p>
            <a:r>
              <a:t>- Kickoff Invoice: $12,500 gross / $0 net (50% of PS fee, offset by APFP drawdown 1)</a:t>
            </a:r>
          </a:p>
          <a:p>
            <a:r>
              <a:t>- M4 Invoice: $7,500 gross / $0 net (30% of PS fee, offset by APFP drawdown 2)</a:t>
            </a:r>
          </a:p>
          <a:p>
            <a:r>
              <a:t>- Final Invoice: $5,000 gross / $0 net (20% of PS fee, offset by APFP drawdown 3)</a:t>
            </a:r>
          </a:p>
          <a:p>
            <a:r>
              <a:t>- AWS Activate Founders credit of $2,500 applied to Year 1 infrastructure reducing cost to ~$63</a:t>
            </a:r>
          </a:p>
          <a:p/>
          <a:p>
            <a:r>
              <a:t>*Quality Highlights:*</a:t>
            </a:r>
          </a:p>
          <a:p>
            <a:r>
              <a:t>- Zero critical defects at Staging handover</a:t>
            </a:r>
          </a:p>
          <a:p>
            <a:r>
              <a:t>- All 27 deliverables formally accepted by Lilly Goyah and ANP Technical Lead within the 3-business-day review window</a:t>
            </a:r>
          </a:p>
          <a:p>
            <a:r>
              <a:t>- Performance test confirmed p95 playlist latency of 1.7s against the ≤2s SLA target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Walk through the architecture top-to-bottom: Content Intelligence feeds Recommendation Engine; both expose capabilities via the API &amp; Data Layer</a:t>
            </a:r>
          </a:p>
          <a:p>
            <a:r>
              <a:t>- This architecture is fully decoupled from Firebase and FlutterFlow — it's a platform-agnostic AWS-native service that survives any future frontend migration</a:t>
            </a:r>
          </a:p>
          <a:p>
            <a:r>
              <a:t>- All three categories were delivered exactly as specified in the Phase 1 Architecture Package (Deliverable 4)</a:t>
            </a:r>
          </a:p>
          <a:p/>
          <a:p>
            <a:r>
              <a:t>*Technical Details — Content Intelligence:*</a:t>
            </a:r>
          </a:p>
          <a:p>
            <a:r>
              <a:t>- Amazon Comprehend provides managed NLP for entity, sentiment, and key-phrase extraction from lyric and transcript text</a:t>
            </a:r>
          </a:p>
          <a:p>
            <a:r>
              <a:t>- SageMaker fine-tuned NLP classifier produces emotion, mood, and thematic attribute scores per catalog item</a:t>
            </a:r>
          </a:p>
          <a:p>
            <a:r>
              <a:t>- A second SageMaker endpoint handles audio feature extraction (valence, energy, worship-style vectors)</a:t>
            </a:r>
          </a:p>
          <a:p>
            <a:r>
              <a:t>- Catalog Enrichment Lambda triggers at artist/podcast upload via EventBridge; Step Functions manages the multi-step enrichment workflow with retry logic</a:t>
            </a:r>
          </a:p>
          <a:p/>
          <a:p>
            <a:r>
              <a:t>*Technical Details — Recommendation Engine:*</a:t>
            </a:r>
          </a:p>
          <a:p>
            <a:r>
              <a:t>- Amazon Personalize serves collaborative-filtering models trained on user preference vectors and interaction events</a:t>
            </a:r>
          </a:p>
          <a:p>
            <a:r>
              <a:t>- Mood-to-content matching algorithm correlates emotional state with multi-attribute content vectors from Content Intelligence</a:t>
            </a:r>
          </a:p>
          <a:p>
            <a:r>
              <a:t>- Playlist Generation Lambda combines Personalize output, mood-matching scores, session context, and feedback signals</a:t>
            </a:r>
          </a:p>
          <a:p>
            <a:r>
              <a:t>- SageMaker Pipelines retraining workflow runs weekly; conditionally promotes new models based on evaluation thresholds</a:t>
            </a:r>
          </a:p>
          <a:p/>
          <a:p>
            <a:r>
              <a:t>*Technical Details — API &amp; Data Layer:*</a:t>
            </a:r>
          </a:p>
          <a:p>
            <a:r>
              <a:t>- Five secured REST endpoints: user profile/session, content classification, playlist generation, feedback capture, and user preference ingestion</a:t>
            </a:r>
          </a:p>
          <a:p>
            <a:r>
              <a:t>- Cognito JWT authentication enforced at API Gateway Lambda authorizer — FlutterFlow connects with zero frontend changes</a:t>
            </a:r>
          </a:p>
          <a:p>
            <a:r>
              <a:t>- DynamoDB on-demand capacity handles ingest-time write bursts; ElastiCache Redis caches playlists to reduce latency</a:t>
            </a:r>
          </a:p>
          <a:p>
            <a:r>
              <a:t>- OpenSearch Service enables semantic and emotion-attribute-based catalog discovery</a:t>
            </a:r>
          </a:p>
          <a:p/>
          <a:p>
            <a:r>
              <a:t>*Presales Alignment:*</a:t>
            </a:r>
          </a:p>
          <a:p>
            <a:r>
              <a:t>- Architecture matches Solution Briefing Slide 4 specification exactly</a:t>
            </a:r>
          </a:p>
          <a:p>
            <a:r>
              <a:t>- Services deployed match SOW Section "Architecture &amp; Design — Tooling Overview" — no scope additions</a:t>
            </a:r>
          </a:p>
          <a:p>
            <a:r>
              <a:t>- Amazon Bedrock included per SOW tooling table for lyric/transcript emotion enrichment via FM token inference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All 27 SOW deliverables are included within these eight delivery categories; the table maps primary artifacts to their locations</a:t>
            </a:r>
          </a:p>
          <a:p>
            <a:r>
              <a:t>- The Phase 1 Architecture Package (Deliverables 4–9 bundled) was the first formal milestone — accepted by Lilly Goyah at Week 4</a:t>
            </a:r>
          </a:p>
          <a:p>
            <a:r>
              <a:t>- System deliverables (Pipeline, Engine, API Layer) are deployed and validated in the ANP Staging AWS environment</a:t>
            </a:r>
          </a:p>
          <a:p>
            <a:r>
              <a:t>- Document deliverables are accessible in the nClouds delivery repository and compiled in the Final Deliverable Package (Deliverable 27)</a:t>
            </a:r>
          </a:p>
          <a:p/>
          <a:p>
            <a:r>
              <a:t>*Deliverable Detail — Architecture Package:*</a:t>
            </a:r>
          </a:p>
          <a:p>
            <a:r>
              <a:t>- Includes AWS architecture diagrams, data schemas (user preference vectors, content metadata, mood taxonomy), tiered cost model (100/10K/100K MAU), and risk register</a:t>
            </a:r>
          </a:p>
          <a:p>
            <a:r>
              <a:t>- Mood taxonomy defines 10+ distinct emotion/mood/worship-style labels with annotation guidelines</a:t>
            </a:r>
          </a:p>
          <a:p/>
          <a:p>
            <a:r>
              <a:t>*Deliverable Detail — System Components:*</a:t>
            </a:r>
          </a:p>
          <a:p>
            <a:r>
              <a:t>- Content Intelligence: lyric/transcript ingestion pipeline, NLP classifier on SageMaker endpoint, audio feature extraction pipeline, catalog enrichment Lambda</a:t>
            </a:r>
          </a:p>
          <a:p>
            <a:r>
              <a:t>- Recommendation Engine: DynamoDB preference vector schema, preference-learning model, mood-to-content matcher, playlist generation Lambda, automated retraining pipeline</a:t>
            </a:r>
          </a:p>
          <a:p>
            <a:r>
              <a:t>- API Service Layer: API Gateway with WAF, Cognito authentication, 5 Lambda-backed endpoints, Secrets Manager integration, SQS feedback queue</a:t>
            </a:r>
          </a:p>
          <a:p/>
          <a:p>
            <a:r>
              <a:t>*Deliverable Detail — IaC:*</a:t>
            </a:r>
          </a:p>
          <a:p>
            <a:r>
              <a:t>- AWS CDK/CloudFormation templates enable reproducible deployment to production; ANP team can use these directly for production promotion</a:t>
            </a:r>
          </a:p>
          <a:p>
            <a:r>
              <a:t>- CI/CD pipeline (CodePipeline + CodeBuild) configured for Lambda, model, and infrastructure deployments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Quality was embedded throughout delivery — each phase included unit, integration, and functional testing before moving to the next</a:t>
            </a:r>
          </a:p>
          <a:p>
            <a:r>
              <a:t>- Zero critical defects at Staging handover is the headline: the solution was production-ready when delivered</a:t>
            </a:r>
          </a:p>
          <a:p>
            <a:r>
              <a:t>- 91% mood-to-content match accuracy exceeds the 90%+ SOW success criterion — validated against ANP's curated human-labeled test set</a:t>
            </a:r>
          </a:p>
          <a:p/>
          <a:p>
            <a:r>
              <a:t>*Testing Detail:*</a:t>
            </a:r>
          </a:p>
          <a:p>
            <a:r>
              <a:t>- Functional testing covered all Lambda functions, SageMaker endpoints, Step Functions workflows, and API endpoints</a:t>
            </a:r>
          </a:p>
          <a:p>
            <a:r>
              <a:t>- Happy-path, boundary-condition, error-handling, and edge-case scenarios tested (empty mood input, cold-start user, missing transcript)</a:t>
            </a:r>
          </a:p>
          <a:p>
            <a:r>
              <a:t>- Performance testing used simulated concurrent API requests at 100 MAU and 10K MAU load profiles</a:t>
            </a:r>
          </a:p>
          <a:p>
            <a:r>
              <a:t>- p50 playlist latency: 1.1s; p95: 1.7s; p99: 1.9s — all within the ≤2s SLA target</a:t>
            </a:r>
          </a:p>
          <a:p>
            <a:r>
              <a:t>- Security testing covered: authentication bypass, rate throttling, WAF triggering, IAM permission boundaries, and Secrets Manager validation</a:t>
            </a:r>
          </a:p>
          <a:p/>
          <a:p>
            <a:r>
              <a:t>*Performance Notes:*</a:t>
            </a:r>
          </a:p>
          <a:p>
            <a:r>
              <a:t>- Catalog enrichment pipeline processes approximately 120 items per minute in the Staging environment at current scale</a:t>
            </a:r>
          </a:p>
          <a:p>
            <a:r>
              <a:t>- SageMaker endpoint auto-scaling validated: scale-out triggered correctly under 10K MAU simulated concurrent load</a:t>
            </a:r>
          </a:p>
          <a:p>
            <a:r>
              <a:t>- ElastiCache Redis caching reduced playlist API average latency by approximately 35% vs. uncached baseline</a:t>
            </a:r>
          </a:p>
          <a:p/>
          <a:p>
            <a:r>
              <a:t>*DR Test Results (per SOW Testing &amp; Validation section):*</a:t>
            </a:r>
          </a:p>
          <a:p>
            <a:r>
              <a:t>- DynamoDB PITR restore test: completed in 47 minutes (target: &lt;1 hour) ✓</a:t>
            </a:r>
          </a:p>
          <a:p>
            <a:r>
              <a:t>- SageMaker model rollback test: completed in 6 minutes (target: &lt;10 minutes) ✓</a:t>
            </a:r>
          </a:p>
          <a:p>
            <a:r>
              <a:t>- SQS feedback queue backlog recovery: all queued events processed post-restoration ✓</a:t>
            </a:r>
          </a:p>
          <a:p>
            <a:r>
              <a:t>- Lambda Step Functions retry test: no duplicate catalog writes confirmed ✓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Every SOW success metric has been met or exceeded — this table maps directly to the "Success Metrics" section of the SOW</a:t>
            </a:r>
          </a:p>
          <a:p>
            <a:r>
              <a:t>- The 91% accuracy figure is the most investor-significant result: it validates the core AI claim that powers ANP's differentiated discovery experience</a:t>
            </a:r>
          </a:p>
          <a:p>
            <a:r>
              <a:t>- The $0 net PS cost outcome confirms the AWS Partner Funding strategy executed as planned — ANP received a complete AI/ML backend at infrastructure-only cost</a:t>
            </a:r>
          </a:p>
          <a:p/>
          <a:p>
            <a:r>
              <a:t>*Benefit Deep Dive — Tagging Speed:*</a:t>
            </a:r>
          </a:p>
          <a:p>
            <a:r>
              <a:t>- Previous state: manual content tagging required hours per upload, limiting catalog growth velocity</a:t>
            </a:r>
          </a:p>
          <a:p>
            <a:r>
              <a:t>- Current state: automated classification at ingest completes in ~45 seconds, including NLP and audio feature extraction</a:t>
            </a:r>
          </a:p>
          <a:p>
            <a:r>
              <a:t>- Projected impact: catalog can scale from hundreds to tens of thousands of tracks without proportional manual effort</a:t>
            </a:r>
          </a:p>
          <a:p/>
          <a:p>
            <a:r>
              <a:t>*Benefit Deep Dive — Scalability:*</a:t>
            </a:r>
          </a:p>
          <a:p>
            <a:r>
              <a:t>- Architecture validated at 100 MAU load in performance testing</a:t>
            </a:r>
          </a:p>
          <a:p>
            <a:r>
              <a:t>- Serverless-first design (Lambda, API Gateway, SageMaker on-demand endpoints) scales elastically to 100K MAU without infrastructure re-architecture</a:t>
            </a:r>
          </a:p>
          <a:p>
            <a:r>
              <a:t>- Tiered cost model confirms annual AWS cost of ~$300/month at 100 MAU, scaling to ~$4,500/month at 100K MAU</a:t>
            </a:r>
          </a:p>
          <a:p/>
          <a:p>
            <a:r>
              <a:t>*Benefit Deep Dive — Investor Readiness:*</a:t>
            </a:r>
          </a:p>
          <a:p>
            <a:r>
              <a:t>- Phase 1 tiered cost model (Deliverable 7) delivered at Week 4 as promised</a:t>
            </a:r>
          </a:p>
          <a:p>
            <a:r>
              <a:t>- Cost model covers three growth scenarios with itemized AWS service costs — directly usable in accelerator pitch decks</a:t>
            </a:r>
          </a:p>
          <a:p>
            <a:r>
              <a:t>- 91% AI accuracy figure and real-time API performance provide quantified technical validation for investor due diligence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The lessons documented here are directly actionable for future phases and for ANP's operational team going forward</a:t>
            </a:r>
          </a:p>
          <a:p>
            <a:r>
              <a:t>- API-first design was the single most impactful architectural decision: it ensured the AI backend is a durable business asset regardless of frontend evolution</a:t>
            </a:r>
          </a:p>
          <a:p>
            <a:r>
              <a:t>- Early mood taxonomy alignment in Phase 1 prevented the most common AI project failure mode — late-stage label disagreements that invalidate training data</a:t>
            </a:r>
          </a:p>
          <a:p/>
          <a:p>
            <a:r>
              <a:t>*Challenge Detail — Cold Start:*</a:t>
            </a:r>
          </a:p>
          <a:p>
            <a:r>
              <a:t>- New users with no listening history received content-based recommendations derived from mood input and catalog emotion vectors</a:t>
            </a:r>
          </a:p>
          <a:p>
            <a:r>
              <a:t>- This cold-start fallback strategy was designed in Phase 3 and validated in UAT — Lilly Goyah confirmed the initial playlist quality was acceptable</a:t>
            </a:r>
          </a:p>
          <a:p>
            <a:r>
              <a:t>- As interaction data accumulates, Personalize collaborative-filtering progressively replaces the content-based fallback</a:t>
            </a:r>
          </a:p>
          <a:p/>
          <a:p>
            <a:r>
              <a:t>*Challenge Detail — Sparse Interaction Data:*</a:t>
            </a:r>
          </a:p>
          <a:p>
            <a:r>
              <a:t>- At project start, ANP had no historical user interaction data to seed the preference model</a:t>
            </a:r>
          </a:p>
          <a:p>
            <a:r>
              <a:t>- Mitigated by: (1) taxonomy-primed content vectors providing rich attribute signals; (2) mood input as explicit preference signal; (3) retraining pipeline ready to improve as data grows</a:t>
            </a:r>
          </a:p>
          <a:p>
            <a:r>
              <a:t>- First retraining cycle is expected to show measurable accuracy improvement within 30–60 days of user activity</a:t>
            </a:r>
          </a:p>
          <a:p/>
          <a:p>
            <a:r>
              <a:t>*Recommendations Roadmap:*</a:t>
            </a:r>
          </a:p>
          <a:p>
            <a:r>
              <a:t>- Phase 2 (Production): ANP team uses delivered CDK/CloudFormation templates and cutover plan from SOW to promote to production — nClouds available for paid support if needed</a:t>
            </a:r>
          </a:p>
          <a:p>
            <a:r>
              <a:t>- Mood Taxonomy Expansion: Current 12-label taxonomy is a strong foundation; expanding to 20+ labels (e.g., sub-genres of worship style) will improve discovery specificity</a:t>
            </a:r>
          </a:p>
          <a:p>
            <a:r>
              <a:t>- Listening History Analytics: Deferred from this SOW scope; enables richer personalization, retention analytics, and artist insights dashboard in a future engagement</a:t>
            </a:r>
          </a:p>
          <a:p>
            <a:r>
              <a:t>- Quarterly Retraining Review: Monthly monitoring plus quarterly business review of model performance metrics ensures the recommendation engine improves over time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The 2-week hypercare period (SOW Section "Hypercare Support") begins today at formal engagement close</a:t>
            </a:r>
          </a:p>
          <a:p>
            <a:r>
              <a:t>- Hypercare covers bug fixes and configuration corrections traceable to SOW deliverables — not new features or ANP-initiated changes</a:t>
            </a:r>
          </a:p>
          <a:p>
            <a:r>
              <a:t>- After hypercare, the ANP Technical Lead operates the system independently using the delivered runbooks and KT session knowledge</a:t>
            </a:r>
          </a:p>
          <a:p/>
          <a:p>
            <a:r>
              <a:t>*Hypercare Scope Details:*</a:t>
            </a:r>
          </a:p>
          <a:p>
            <a:r>
              <a:t>- In scope: functional issues in pipeline components, API endpoints, or SageMaker endpoints; guidance on runbook procedures; minor configuration adjustments</a:t>
            </a:r>
          </a:p>
          <a:p>
            <a:r>
              <a:t>- Out of scope: new feature development, production deployment support, issues caused by ANP-initiated changes post-handover, Firebase-side issues</a:t>
            </a:r>
          </a:p>
          <a:p/>
          <a:p>
            <a:r>
              <a:t>*Runbook Coverage:*</a:t>
            </a:r>
          </a:p>
          <a:p>
            <a:r>
              <a:t>- Runbooks (Deliverable 24) cover: deployment procedures, SageMaker endpoint scaling, model retraining trigger and evaluation, incident response, IAM access review, Cognito user management, Secrets Manager rotation, CloudWatch alarm response</a:t>
            </a:r>
          </a:p>
          <a:p>
            <a:r>
              <a:t>- DR runbooks validated in Staging: DynamoDB PITR restore and SageMaker model rollback procedures both confirmed</a:t>
            </a:r>
          </a:p>
          <a:p/>
          <a:p>
            <a:r>
              <a:t>*Managed Services Option:*</a:t>
            </a:r>
          </a:p>
          <a:p>
            <a:r>
              <a:t>- If ANP wants ongoing proactive monitoring, infrastructure management, or enhanced SLAs beyond hypercare, a separate nClouds Managed Services Agreement is available</a:t>
            </a:r>
          </a:p>
          <a:p>
            <a:r>
              <a:t>- Typical MSA scope for this architecture: CloudWatch alerting triage, monthly cost optimization review, quarterly model performance review, security posture assessment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Acknowledge the partnership explicitly — this was a collaborative delivery, not a vendor transaction</a:t>
            </a:r>
          </a:p>
          <a:p>
            <a:r>
              <a:t>- Lilly Goyah's rapid turnaround on deliverable reviews (consistently within 3 business days) was a key delivery accelerator</a:t>
            </a:r>
          </a:p>
          <a:p>
            <a:r>
              <a:t>- The ANP Technical Lead's Firebase schema documentation provided in Week 1 enabled early taxonomy design and prevented Phase 2 blockers</a:t>
            </a:r>
          </a:p>
          <a:p>
            <a:r>
              <a:t>- AWS Partner Team's APFP approval before kickoff was the financial foundation that made zero net PS cost possible</a:t>
            </a:r>
          </a:p>
          <a:p/>
          <a:p>
            <a:r>
              <a:t>*Next Steps Detail:*</a:t>
            </a:r>
          </a:p>
          <a:p>
            <a:r>
              <a:t>- Final Deliverable Package (Deliverable 27) transfer: all documents, runbooks, schemas, API contracts, and IaC templates compiled and handed over today</a:t>
            </a:r>
          </a:p>
          <a:p>
            <a:r>
              <a:t>- Hypercare: Slack channel monitored business hours; Jonas Bull is the primary contact for functional issues</a:t>
            </a:r>
          </a:p>
          <a:p>
            <a:r>
              <a:t>- Production Promotion: ANP team executes the 10-step cutover plan from SOW Section "Cutover Plan" using the CDK/CloudFormation templates — nClouds available for paid consultation if needed</a:t>
            </a:r>
          </a:p>
          <a:p>
            <a:r>
              <a:t>- Retraining: First automated weekly retraining cycle will run within 7 days of first user interactions; ANP Tech Lead to review model evaluation metrics in CloudWatch</a:t>
            </a:r>
          </a:p>
          <a:p/>
          <a:p>
            <a:r>
              <a:t>*Future Engagement Opportunities:*</a:t>
            </a:r>
          </a:p>
          <a:p>
            <a:r>
              <a:t>- Phase 2: Production deployment and go-live support</a:t>
            </a:r>
          </a:p>
          <a:p>
            <a:r>
              <a:t>- Listening-history analytics and artist insights dashboard (deferred from current SOW scope)</a:t>
            </a:r>
          </a:p>
          <a:p>
            <a:r>
              <a:t>- Mood taxonomy expansion and advanced personalization features</a:t>
            </a:r>
          </a:p>
          <a:p>
            <a:r>
              <a:t>- Ongoing managed services for infrastructure and model operations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*Talking Points:*</a:t>
            </a:r>
          </a:p>
          <a:p>
            <a:r>
              <a:t>- Open the floor for questions and discussion — this is a celebratory session, not a review</a:t>
            </a:r>
          </a:p>
          <a:p>
            <a:r>
              <a:t>- Have backup details ready: budget breakdown, test results, architecture deep-dives, retraining schedule</a:t>
            </a:r>
          </a:p>
          <a:p>
            <a:r>
              <a:t>- Offer to schedule a follow-up session for production deployment planning or Phase 2 scoping</a:t>
            </a:r>
          </a:p>
          <a:p>
            <a:r>
              <a:t>- End on a positive note: ANP now has a fully operational, investor-validated AI recommendation engine at zero net professional-services cost — a transformational outcome</a:t>
            </a:r>
          </a:p>
          <a:p/>
          <a:p>
            <a:r>
              <a:t>*Anticipated Questions:*</a:t>
            </a:r>
          </a:p>
          <a:p>
            <a:r>
              <a:t>- "When will recommendations improve?" — First retraining cycle within 7 days of user interactions; measurable improvement expected within 30–60 days</a:t>
            </a:r>
          </a:p>
          <a:p>
            <a:r>
              <a:t>- "How do we promote to production?" — Use the 10-step cutover plan in SOW and the delivered CDK templates; nClouds available for paid support</a:t>
            </a:r>
          </a:p>
          <a:p>
            <a:r>
              <a:t>- "Can we add more mood labels?" — Yes, via a Phase 2 engagement; the taxonomy schema and annotation guidelines make expansion straightforward</a:t>
            </a:r>
          </a:p>
          <a:p>
            <a:r>
              <a:t>- "What happens if a model degrades after retraining?" — SageMaker Model Registry rollback procedure in the runbooks; takes under 10 minutes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ANP Streaming AI Recommendation Engine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Jonas Bull | June 19, 2026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13 weeks, completed on schedule</a:t>
            </a:r>
          </a:p>
          <a:p>
            <a:pPr/>
            <a:r>
              <a:rPr b="1"/>
              <a:t>Budget:</a:t>
            </a:r>
            <a:r>
              <a:t> $25,000 PS fee fully offset by AWS Partner Funding — net cost $0</a:t>
            </a:r>
          </a:p>
          <a:p>
            <a:pPr/>
            <a:r>
              <a:rPr b="1"/>
              <a:t>Go-Live Date:</a:t>
            </a:r>
            <a:r>
              <a:t> June 19, 2026 as planned (Staging handover complete)</a:t>
            </a:r>
          </a:p>
          <a:p>
            <a:pPr/>
            <a:r>
              <a:rPr b="1"/>
              <a:t>Phases Completed:</a:t>
            </a:r>
            <a:r>
              <a:t> All 5 phases delivered; all 7 milestones achieved</a:t>
            </a:r>
          </a:p>
          <a:p>
            <a:pPr/>
            <a:r>
              <a:rPr b="1"/>
              <a:t>Accuracy Target Met:</a:t>
            </a:r>
            <a:r>
              <a:t> ≥90% mood-to-content match accuracy validated</a:t>
            </a:r>
          </a:p>
          <a:p>
            <a:pPr/>
            <a:r>
              <a:rPr b="1"/>
              <a:t>API Performance:</a:t>
            </a:r>
            <a:r>
              <a:t> Playlist generation ≤2s at 100 MAU load confirmed</a:t>
            </a:r>
          </a:p>
          <a:p>
            <a:pPr/>
            <a:r>
              <a:rPr b="1"/>
              <a:t>Catalog Enriched:</a:t>
            </a:r>
            <a:r>
              <a:t> Full existing catalog classified at emotion/mood/theme level</a:t>
            </a:r>
          </a:p>
          <a:p>
            <a:pPr/>
            <a:r>
              <a:rPr b="1"/>
              <a:t>Knowledge Transfer:</a:t>
            </a:r>
            <a:r>
              <a:t> Both formal KT sessions conducted and confirmed</a:t>
            </a:r>
          </a:p>
          <a:p>
            <a:pPr/>
            <a:r>
              <a:rPr b="1"/>
              <a:t>Deliverables:</a:t>
            </a:r>
            <a:r>
              <a:t> All 27 SOW deliverables accepted by ANP Streaming</a:t>
            </a:r>
          </a:p>
          <a:p>
            <a:pPr/>
            <a:r>
              <a:rPr b="1"/>
              <a:t>Net PS Cost:</a:t>
            </a:r>
            <a:r>
              <a:t> $0.00 — $25,000 AWS Partner Funding fully applied at kickoff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Solution Architecture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  <p:txBody>
          <a:bodyPr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Content Intelligence</a:t>
            </a:r>
          </a:p>
          <a:p>
            <a:pPr lvl="1"/>
            <a:r>
              <a:t>Comprehend + SageMaker NLP classifier</a:t>
            </a:r>
          </a:p>
          <a:p>
            <a:pPr lvl="1"/>
            <a:r>
              <a:t>Audio feature extraction pipeline</a:t>
            </a:r>
          </a:p>
          <a:p>
            <a:pPr lvl="1"/>
            <a:r>
              <a:t>Catalog enrichment at upload time</a:t>
            </a:r>
          </a:p>
          <a:p>
            <a:pPr/>
            <a:r>
              <a:rPr b="1"/>
              <a:t>Recommendation Engine</a:t>
            </a:r>
          </a:p>
          <a:p>
            <a:pPr lvl="1"/>
            <a:r>
              <a:t>Amazon Personalize preference model</a:t>
            </a:r>
          </a:p>
          <a:p>
            <a:pPr lvl="1"/>
            <a:r>
              <a:t>Mood-to-content matching algorithm</a:t>
            </a:r>
          </a:p>
          <a:p>
            <a:pPr lvl="1"/>
            <a:r>
              <a:t>Playlist generation with feedback loop</a:t>
            </a:r>
          </a:p>
          <a:p>
            <a:pPr/>
            <a:r>
              <a:rPr b="1"/>
              <a:t>API &amp; Data Layer</a:t>
            </a:r>
          </a:p>
          <a:p>
            <a:pPr lvl="1"/>
            <a:r>
              <a:t>API Gateway + Cognito (5 endpoints)</a:t>
            </a:r>
          </a:p>
          <a:p>
            <a:pPr lvl="1"/>
            <a:r>
              <a:t>DynamoDB, S3, ElastiCache, OpenSearch</a:t>
            </a:r>
          </a:p>
          <a:p>
            <a:pPr lvl="1"/>
            <a:r>
              <a:t>Step Functions + EventBridge orchestration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826"/>
                <a:gridCol w="3484373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Phase 1 Architecture Package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design, schemas, taxonomy, cost model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Content Intelligence Pipeline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NLP classifier, audio analysis, enrichment service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Staging — SageMaker + Lambda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Recommendation Engine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Personalize model, mood-matcher, playlist service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Staging — SageMaker + Lambda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API Service Layer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secured REST endpoints with Cognito auth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Staging — API Gateway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REST API Contract Documentation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OpenAPI specs for all 5 endpoints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Operational Runbooks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Deployment, scaling, retraining, incident response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Plan &amp; Validation Report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Test cases, performance results, E2E validation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`/delivery/test-plan.csv`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IaC Templates (CDK/CloudFormation)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Reproducible environment provisioning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`/delivery/scripts/terraform/`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Testing Metrics</a:t>
            </a:r>
          </a:p>
          <a:p>
            <a:pPr lvl="1"/>
            <a:r>
              <a:t>Functional test coverage: 82% (target: 80%)</a:t>
            </a:r>
          </a:p>
          <a:p>
            <a:pPr lvl="1"/>
            <a:r>
              <a:t>All 27 deliverables formally accepted</a:t>
            </a:r>
          </a:p>
          <a:p>
            <a:pPr lvl="1"/>
            <a:r>
              <a:t>Critical defects at Staging handover: 0</a:t>
            </a:r>
          </a:p>
          <a:p>
            <a:pPr lvl="1"/>
            <a:r>
              <a:t>UAT sign-off: completed by ANP Tech Lead</a:t>
            </a:r>
          </a:p>
          <a:p>
            <a:pPr lvl="1"/>
            <a:r>
              <a:t>Security review: no critical findings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Performance Metrics</a:t>
            </a:r>
          </a:p>
          <a:p>
            <a:pPr lvl="1"/>
            <a:r>
              <a:t>Playlist API p95 latency: 1.7s (target: ≤2s)</a:t>
            </a:r>
          </a:p>
          <a:p>
            <a:pPr lvl="1"/>
            <a:r>
              <a:t>Mood-to-content match accuracy: 91% (target: ≥90%)</a:t>
            </a:r>
          </a:p>
          <a:p>
            <a:pPr lvl="1"/>
            <a:r>
              <a:t>Catalog enrichment throughput: 120 items/min</a:t>
            </a:r>
          </a:p>
          <a:p>
            <a:pPr lvl="1"/>
            <a:r>
              <a:t>Mood taxonomy labels defined: 12 (target: ≥10)</a:t>
            </a:r>
          </a:p>
          <a:p>
            <a:pPr lvl="1"/>
            <a:r>
              <a:t>Model retraining pipeline: weekly cadence live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498"/>
                <a:gridCol w="1742186"/>
                <a:gridCol w="1742186"/>
                <a:gridCol w="2439061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Content Tagging Speed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&lt;60 sec/upload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~45 sec/upload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Catalog growth unblocked at scale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Mood-to-Content Accuracy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≥90% match rate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91% match rate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Investor-ready AI validation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Playlist API Response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≤2 seconds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1.7s (p95)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Real-time discovery experience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Catalog Enrichment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catalog enriched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100% enriched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Metadata quality transformed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Scalability Headroom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100→100K MAU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Architecture validated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No headcount increase needed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Investor Cost Model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MAU tiers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100/10K/100K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Accelerator conversations enabled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Net PS Cost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 via AWS funding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$0.00 achieved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funding offset confirmed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KT Sessions Completed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formal sessions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sessions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ANP team operationally ready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API-first design enabled zero FlutterFlow changes</a:t>
            </a:r>
          </a:p>
          <a:p>
            <a:pPr lvl="1"/>
            <a:r>
              <a:t>Phase overlap (Phases 2–3 parallel) reduced timeline risk</a:t>
            </a:r>
          </a:p>
          <a:p>
            <a:pPr lvl="1"/>
            <a:r>
              <a:t>Early mood taxonomy alignment prevented rework</a:t>
            </a:r>
          </a:p>
          <a:p>
            <a:pPr lvl="1"/>
            <a:r>
              <a:t>IaC-only approach ensured reproducible environments</a:t>
            </a:r>
          </a:p>
          <a:p>
            <a:pPr lvl="1"/>
            <a:r>
              <a:t>AWS Partner Funding eliminated financial friction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Cold-start handled via content-based fallback strategy</a:t>
            </a:r>
          </a:p>
          <a:p>
            <a:pPr lvl="1"/>
            <a:r>
              <a:t>Sparse early interaction data mitigated with taxonomy priming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Phase 2: Enable production deployment and go-live</a:t>
            </a:r>
          </a:p>
          <a:p>
            <a:pPr lvl="1"/>
            <a:r>
              <a:t>Expand mood taxonomy to 20+ labels for deeper discovery</a:t>
            </a:r>
          </a:p>
          <a:p>
            <a:pPr lvl="1"/>
            <a:r>
              <a:t>Activate listening-history analytics deferred from SOW scope</a:t>
            </a:r>
          </a:p>
          <a:p>
            <a:pPr lvl="1"/>
            <a:r>
              <a:t>Establish quarterly retraining review cadence with ANP team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(Weeks 1–2 post-close)</a:t>
            </a:r>
          </a:p>
          <a:p>
            <a:pPr lvl="1"/>
            <a:r>
              <a:t>Business hours coverage (9 AM–5 PM ET)</a:t>
            </a:r>
          </a:p>
          <a:p>
            <a:pPr lvl="1"/>
            <a:r>
              <a:t>4-hour response for functional issues</a:t>
            </a:r>
          </a:p>
          <a:p>
            <a:pPr lvl="1"/>
            <a:r>
              <a:t>Next-business-day for operational questions</a:t>
            </a:r>
          </a:p>
          <a:p>
            <a:pPr lvl="1"/>
            <a:r>
              <a:t>Dedicated Slack channel active</a:t>
            </a:r>
          </a:p>
          <a:p>
            <a:pPr lvl="1"/>
            <a:r>
              <a:t>Scope: defect fixes traceable to deliverables</a:t>
            </a:r>
          </a:p>
          <a:p>
            <a:pPr/>
            <a:r>
              <a:rPr b="1"/>
              <a:t>Steady State (Day 15+)</a:t>
            </a:r>
          </a:p>
          <a:p>
            <a:pPr lvl="1"/>
            <a:r>
              <a:t>ANP team operates independently</a:t>
            </a:r>
          </a:p>
          <a:p>
            <a:pPr lvl="1"/>
            <a:r>
              <a:t>Runbooks cover all operational scenarios</a:t>
            </a:r>
          </a:p>
          <a:p>
            <a:pPr lvl="1"/>
            <a:r>
              <a:t>Weekly retraining pipeline runs automatically</a:t>
            </a:r>
          </a:p>
          <a:p>
            <a:pPr lvl="1"/>
            <a:r>
              <a:t>Quarterly model performance review recommended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Escalation Contacts</a:t>
            </a:r>
          </a:p>
          <a:p>
            <a:pPr lvl="1"/>
            <a:r>
              <a:t>L1 (Ops): ANP Technical Lead via Slack</a:t>
            </a:r>
          </a:p>
          <a:p>
            <a:pPr lvl="1"/>
            <a:r>
              <a:t>L2 (Bugs): jonas@nclouds.com</a:t>
            </a:r>
          </a:p>
          <a:p>
            <a:pPr lvl="1"/>
            <a:r>
              <a:t>L3 (Commercial): andrew.brewer@nclouds.com</a:t>
            </a:r>
          </a:p>
          <a:p>
            <a:pPr/>
            <a:r>
              <a:rPr b="1"/>
              <a:t>Managed Services</a:t>
            </a:r>
          </a:p>
          <a:p>
            <a:pPr lvl="1"/>
            <a:r>
              <a:t>Available via separate nClouds MSA if desired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Lilly Goyah (CEO) for executive sponsorship and rapid deliverable reviews</a:t>
            </a:r>
          </a:p>
          <a:p>
            <a:pPr/>
            <a:r>
              <a:t>ANP Technical Lead for Firebase/FlutterFlow expertise and UAT execution</a:t>
            </a:r>
          </a:p>
          <a:p>
            <a:pPr/>
            <a:r>
              <a:t>nClouds ML/AI and Solutions Engineering team for exceptional delivery quality</a:t>
            </a:r>
          </a:p>
          <a:p>
            <a:pPr/>
            <a:r>
              <a:t>AWS Partner Team for $25,000 APFP funding approval enabling zero net PS cost</a:t>
            </a:r>
          </a:p>
          <a:p>
            <a:pPr/>
            <a:r>
              <a:rPr b="1"/>
              <a:t>This Week:</a:t>
            </a:r>
            <a:r>
              <a:t> Final Deliverable Package formally transferred to ANP</a:t>
            </a:r>
          </a:p>
          <a:p>
            <a:pPr/>
            <a:r>
              <a:rPr b="1"/>
              <a:t>Next 2 Weeks:</a:t>
            </a:r>
            <a:r>
              <a:t> Hypercare support period — Slack channel active daily</a:t>
            </a:r>
          </a:p>
          <a:p>
            <a:pPr/>
            <a:r>
              <a:rPr b="1"/>
              <a:t>Next 30 Days:</a:t>
            </a:r>
            <a:r>
              <a:t> ANP team completes production promotion using delivered IaC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10: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