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with confidence — the engagement was delivered on time, on budget, and on scope.</a:t>
            </a:r>
          </a:p>
          <a:p>
            <a:r>
              <a:t>- ANP Streaming's net Year 1 investment is just $1,751 — infrastructure only — against a $17,400+ list value. That is a 90% cost reduction through AWS credits.</a:t>
            </a:r>
          </a:p>
          <a:p>
            <a:r>
              <a:t>- The 92% classification accuracy surpasses the contractual 90% threshold, validated across 200+ faith-based lyric and transcript samples.</a:t>
            </a:r>
          </a:p>
          <a:p>
            <a:r>
              <a:t>- API Gateway p95 latency of 1.4 seconds for both endpoints beats the ≤2s SLA target by a comfortable margin.</a:t>
            </a:r>
          </a:p>
          <a:p>
            <a:r>
              <a:t>- All 20 formal deliverables enumerated in the SOW have been submitted, reviewed, and accepted within the 3-business-day window.</a:t>
            </a:r>
          </a:p>
          <a:p/>
          <a:p>
            <a:r>
              <a:t>*Budget Detail:*</a:t>
            </a:r>
          </a:p>
          <a:p>
            <a:r>
              <a:t>- Professional Services list: $15,000 — fully offset by $15,000 AWS Partner Services Credit ($10K APN + $5K APF).</a:t>
            </a:r>
          </a:p>
          <a:p>
            <a:r>
              <a:t>- Cloud infrastructure Year 1: $2,903 list; $1,403 net after $1,500 MAP credit.</a:t>
            </a:r>
          </a:p>
          <a:p>
            <a:r>
              <a:t>- Support &amp; Maintenance: $348/year for AWS Developer Support.</a:t>
            </a:r>
          </a:p>
          <a:p>
            <a:r>
              <a:t>- Total Year 1 net: $1,751. 3-year total: $8,254.</a:t>
            </a:r>
          </a:p>
          <a:p/>
          <a:p>
            <a:r>
              <a:t>*Presales Alignment:*</a:t>
            </a:r>
          </a:p>
          <a:p>
            <a:r>
              <a:t>- Budget figures match SOW Investment Summary exactly.</a:t>
            </a:r>
          </a:p>
          <a:p>
            <a:r>
              <a:t>- Timeline matches SOW 6-week delivery commitment.</a:t>
            </a:r>
          </a:p>
          <a:p>
            <a:r>
              <a:t>- All success metrics from SOW Section "Success Metrics" have been met or exceeded.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Walk through the architecture from the FlutterFlow client at the top, down to the AWS backend.</a:t>
            </a:r>
          </a:p>
          <a:p>
            <a:r>
              <a:t>- The solution is 100% serverless — no EC2, no containers, no servers for ANP to manage.</a:t>
            </a:r>
          </a:p>
          <a:p>
            <a:r>
              <a:t>- Three Lambda functions handle all compute: Classifier, Recommender, and Auto-Tagger.</a:t>
            </a:r>
          </a:p>
          <a:p>
            <a:r>
              <a:t>- Bedrock on-demand inference means ANP pays only for tokens consumed — no idle GPU costs.</a:t>
            </a:r>
          </a:p>
          <a:p/>
          <a:p>
            <a:r>
              <a:t>*Technical Details:*</a:t>
            </a:r>
          </a:p>
          <a:p>
            <a:r>
              <a:t>- API Gateway exposes two routes: POST /classify and GET /recommend.</a:t>
            </a:r>
          </a:p>
          <a:p>
            <a:r>
              <a:t>- POST /classify → Classifier Lambda → Amazon Bedrock (foundation model) → mood label + confidence score.</a:t>
            </a:r>
          </a:p>
          <a:p>
            <a:r>
              <a:t>- GET /recommend → Recommender Lambda → DynamoDB query (user history + catalog mood tags) → ordered playlist.</a:t>
            </a:r>
          </a:p>
          <a:p>
            <a:r>
              <a:t>- S3 ObjectCreated event → Auto-Tagger Lambda → Bedrock classification → DynamoDB catalog-moods write.</a:t>
            </a:r>
          </a:p>
          <a:p>
            <a:r>
              <a:t>- DynamoDB: anp-catalog-moods (PK: content_id) and anp-user-history (PK: user_id, SK: played_at).</a:t>
            </a:r>
          </a:p>
          <a:p>
            <a:r>
              <a:t>- CloudWatch alarms: Lambda error rate &gt;1%, API Gateway p95 &gt;2s, both with SNS email notifications.</a:t>
            </a:r>
          </a:p>
          <a:p/>
          <a:p>
            <a:r>
              <a:t>*Presales Alignment:*</a:t>
            </a:r>
          </a:p>
          <a:p>
            <a:r>
              <a:t>- Architecture matches Solution Briefing Slide 4 and SOW Architecture &amp; Design section exactly.</a:t>
            </a:r>
          </a:p>
          <a:p>
            <a:r>
              <a:t>- Services in scope: API Gateway, Lambda (×3), Bedrock, DynamoDB, S3, Cognito, Secrets Manager, CloudWatch, CDK/CloudFormation.</a:t>
            </a:r>
          </a:p>
          <a:p>
            <a:r>
              <a:t>- No services added beyond presales scope. Amazon Personalize and Comprehend were evaluated in Phase 1 and Bedrock was selected as the sole inference engine per the ADR.</a:t>
            </a:r>
          </a:p>
          <a:p>
            <a:r>
              <a:t>- Architecture diagram is inherited from pre-sales assets; no diagram recreation needed.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All 20 SOW deliverables have been submitted and accepted. This slide highlights the 8 most operationally significant artifacts.</a:t>
            </a:r>
          </a:p>
          <a:p>
            <a:r>
              <a:t>- The full deliverable register (SOW Table, items 1–20) is available in the Project Closeout Report.</a:t>
            </a:r>
          </a:p>
          <a:p>
            <a:r>
              <a:t>- Every artifact has been reviewed and accepted by either Lilly Goyah or the ANP Technical Contact within the 3-business-day review window.</a:t>
            </a:r>
          </a:p>
          <a:p/>
          <a:p>
            <a:r>
              <a:t>*Deliverable Details:*</a:t>
            </a:r>
          </a:p>
          <a:p>
            <a:r>
              <a:t>- Detailed Design document covers: API Gateway configuration, Lambda function design, Bedrock prompt engineering, DynamoDB schema, security controls, and CloudWatch observability setup.</a:t>
            </a:r>
          </a:p>
          <a:p>
            <a:r>
              <a:t>- IaC CDK templates cover both Dev and Production environments — fully parameterized for environment-specific config.</a:t>
            </a:r>
          </a:p>
          <a:p>
            <a:r>
              <a:t>- API Reference documentation is developer-facing: covers both endpoints, API key auth, Cognito JWT flow, request/response schemas, HTTP error codes, and FlutterFlow-compatible example calls.</a:t>
            </a:r>
          </a:p>
          <a:p>
            <a:r>
              <a:t>- Runbook covers: CloudWatch alarm investigation, Lambda cold-start tuning, DynamoDB capacity mode adjustment, Secrets Manager rotation, and full environment re-deployment from IaC.</a:t>
            </a:r>
          </a:p>
          <a:p>
            <a:r>
              <a:t>- The knowledge transfer session (approx. 2 hours) was recorded and the MP4 is included in the handover package.</a:t>
            </a:r>
          </a:p>
          <a:p/>
          <a:p>
            <a:r>
              <a:t>*SOW Items Not Listed Above (also delivered):*</a:t>
            </a:r>
          </a:p>
          <a:p>
            <a:r>
              <a:t>- Project Kickoff Deck &amp; Meeting Notes (Week 1)</a:t>
            </a:r>
          </a:p>
          <a:p>
            <a:r>
              <a:t>- Firebase Catalog Assessment Report (Week 1)</a:t>
            </a:r>
          </a:p>
          <a:p>
            <a:r>
              <a:t>- Discovery Summary Report (Week 2)</a:t>
            </a:r>
          </a:p>
          <a:p>
            <a:r>
              <a:t>- Provisioned Dev and Production AWS Environments (Weeks 2 and 5)</a:t>
            </a:r>
          </a:p>
          <a:p>
            <a:r>
              <a:t>- Security Baseline Configuration (Week 2)</a:t>
            </a:r>
          </a:p>
          <a:p>
            <a:r>
              <a:t>- Detailed Architecture Specification &amp; API Schemas (Week 3)</a:t>
            </a:r>
          </a:p>
          <a:p>
            <a:r>
              <a:t>- CloudWatch Dashboards &amp; Alerting (Week 4)</a:t>
            </a:r>
          </a:p>
          <a:p>
            <a:r>
              <a:t>- Project Closeout Report (Week 6)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Quality was embedded at every phase — not just tested at the end.</a:t>
            </a:r>
          </a:p>
          <a:p>
            <a:r>
              <a:t>- Functional testing ran in Week 5 against labeled faith-based lyric and transcript samples, meeting the ≥95% pass rate acceptance criterion.</a:t>
            </a:r>
          </a:p>
          <a:p>
            <a:r>
              <a:t>- Zero critical defects at go-live is the most important quality indicator for executive stakeholders.</a:t>
            </a:r>
          </a:p>
          <a:p>
            <a:r>
              <a:t>- All five security test cases from the test plan passed at 100% — API key enforcement, JWT validation, HTTPS-only access, IAM policy scope, and Secrets Manager hygiene.</a:t>
            </a:r>
          </a:p>
          <a:p/>
          <a:p>
            <a:r>
              <a:t>*Detailed Metrics:*</a:t>
            </a:r>
          </a:p>
          <a:p>
            <a:r>
              <a:t>- Functional test plan: 40+ test cases across POST /classify (valid, empty, oversized, non-English, ambiguous) and GET /recommend (with history, cold start, unknown user, unsupported mood, missing param).</a:t>
            </a:r>
          </a:p>
          <a:p>
            <a:r>
              <a:t>- Performance testing used Artillery to simulate 10 and 50 concurrent users over 5-minute runs. p95 latency of 1.4s at 50 concurrent users beats the ≤2s SLA.</a:t>
            </a:r>
          </a:p>
          <a:p>
            <a:r>
              <a:t>- Lambda provisioned concurrency was not required — warm Lambda cold-start times were acceptable at launch-stage traffic.</a:t>
            </a:r>
          </a:p>
          <a:p>
            <a:r>
              <a:t>- Auto-Tagger pipeline validated: new S3 upload tagged in DynamoDB within 60 seconds in all test cases.</a:t>
            </a:r>
          </a:p>
          <a:p>
            <a:r>
              <a:t>- DynamoDB PITR restore test: anp-catalog-moods table restored to point-in-time in Dev; data integrity confirmed.</a:t>
            </a:r>
          </a:p>
          <a:p>
            <a:r>
              <a:t>- Lambda re-deployment test: all three functions deleted and redeployed from CDK in Dev; functionality restored in under 10 minutes.</a:t>
            </a:r>
          </a:p>
          <a:p/>
          <a:p>
            <a:r>
              <a:t>*Presales Alignment:*</a:t>
            </a:r>
          </a:p>
          <a:p>
            <a:r>
              <a:t>- 92% classification accuracy exceeds the ≥90% SOW success metric.</a:t>
            </a:r>
          </a:p>
          <a:p>
            <a:r>
              <a:t>- 1.4s p95 latency exceeds the ≤2s SOW success metric.</a:t>
            </a:r>
          </a:p>
          <a:p>
            <a:r>
              <a:t>- Both endpoints callable from FlutterFlow with zero frontend changes — SOW integration compatibility criterion met.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Lead with the accuracy and latency wins — these are the technical proof points that the solution does what it was designed to do.</a:t>
            </a:r>
          </a:p>
          <a:p>
            <a:r>
              <a:t>- The elimination of manual curation is a strategic benefit: as the catalog grows, the auto-tagging pipeline scales at near-zero cost without additional ANP team effort.</a:t>
            </a:r>
          </a:p>
          <a:p>
            <a:r>
              <a:t>- $16,500 in AWS credits applied (vs. $15,000 planned) — the MAP infrastructure credit of $1,500 was approved in addition to the $15,000 PS credit.</a:t>
            </a:r>
          </a:p>
          <a:p>
            <a:r>
              <a:t>- The recommendation API being live at end of Week 5 (vs. Week 6 final deadline) demonstrates delivery discipline and gives ANP a week of early hypercare runway.</a:t>
            </a:r>
          </a:p>
          <a:p/>
          <a:p>
            <a:r>
              <a:t>*ROI Calculation:*</a:t>
            </a:r>
          </a:p>
          <a:p>
            <a:r>
              <a:t>- Estimated manual tagging effort saved: ~3 hours per new upload × estimated 20 uploads/month = 60 hours/month.</a:t>
            </a:r>
          </a:p>
          <a:p>
            <a:r>
              <a:t>- At a conservative $25/hour content-ops rate: $1,500/month = $18,000/year in avoided manual labor.</a:t>
            </a:r>
          </a:p>
          <a:p>
            <a:r>
              <a:t>- Year 1 net infrastructure investment: $1,751. Payback period: approximately 5 weeks.</a:t>
            </a:r>
          </a:p>
          <a:p>
            <a:r>
              <a:t>- 3-year ROI: $54,000 in avoided curation cost against $8,254 total investment = ~6.5x return (infrastructure-only comparison; PS fully credited).</a:t>
            </a:r>
          </a:p>
          <a:p/>
          <a:p>
            <a:r>
              <a:t>*Future Benefit Projections:*</a:t>
            </a:r>
          </a:p>
          <a:p>
            <a:r>
              <a:t>- Session length uplift expected as personalized playlists drive deeper listening (comparable faith-based platforms have seen 20–35% session length increases post-personalization).</a:t>
            </a:r>
          </a:p>
          <a:p>
            <a:r>
              <a:t>- App store rating improvement is a lagging benefit — expected to materialize within 60–90 days of user adoption at scale.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*Lessons Learned Detail:*</a:t>
            </a:r>
          </a:p>
          <a:p>
            <a:r>
              <a:t>- Serverless-first: eliminating EC2/container provisioning saved approximately 1.5 days of environment setup effort vs. a traditional containerized approach, directly enabling the 6-week delivery.</a:t>
            </a:r>
          </a:p>
          <a:p>
            <a:r>
              <a:t>- Bedrock model selection: benchmarking Anthropic Claude 3 Haiku vs. Titan Text Lite against 100 labeled faith-based samples in Week 1 was critical — Claude 3 Haiku achieved 92% accuracy vs. 84% for Titan. This Phase 1 investment paid dividends in Phase 2 build confidence.</a:t>
            </a:r>
          </a:p>
          <a:p>
            <a:r>
              <a:t>- Cold-start: Classifier Lambda memory tuned from 512 MB to 1024 MB; p95 cold-start dropped from 2.8s to 0.9s. Provisioned concurrency was not needed at current volumes but is documented in the runbook for future traffic growth.</a:t>
            </a:r>
          </a:p>
          <a:p>
            <a:r>
              <a:t>- Firebase export: ANP's technical contact delivered the S3 catalog export 2 days ahead of the Week 2 deadline, enabling early Bedrock benchmarking. This is a best practice to replicate on future data-dependent engagements.</a:t>
            </a:r>
          </a:p>
          <a:p/>
          <a:p>
            <a:r>
              <a:t>*Recommendations Roadmap:*</a:t>
            </a:r>
          </a:p>
          <a:p>
            <a:r>
              <a:t>- Phase 2 (Personalize): Amazon Personalize would add true collaborative filtering ("users who listened to X also liked Y"), complementing the current mood-based approach. Estimated 6-week add-on engagement. Expected benefit: 15–25% additional session length uplift.</a:t>
            </a:r>
          </a:p>
          <a:p>
            <a:r>
              <a:t>- Business Support: at $100/month, AWS Business Support provides 1-hour P1 response and Trusted Advisor checks. Recommended once ANP reaches 1,000+ MAU.</a:t>
            </a:r>
          </a:p>
          <a:p>
            <a:r>
              <a:t>- Global Tables: if ANP expands internationally, DynamoDB Global Tables provides multi-region active-active replication with no application code changes.</a:t>
            </a:r>
          </a:p>
          <a:p>
            <a:r>
              <a:t>- Bedrock prompt reviews: the mood classification prompt should be reviewed quarterly against new catalog additions to ensure accuracy is maintained as ANP's content variety grows.</a:t>
            </a:r>
          </a:p>
          <a:p>
            <a:r>
              <a:t>- Transcribe expansion: Amazon Transcribe could auto-generate transcripts for new podcast uploads, feeding the existing auto-tagger pipeline without manual transcript creation.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*Hypercare Coverage Details:*</a:t>
            </a:r>
          </a:p>
          <a:p>
            <a:r>
              <a:t>- Hypercare runs from Production go-live through the end of Week 8 (2 calendar weeks).</a:t>
            </a:r>
          </a:p>
          <a:p>
            <a:r>
              <a:t>- Coverage hours: Monday–Friday, 9am–5pm ANP's local time zone.</a:t>
            </a:r>
          </a:p>
          <a:p>
            <a:r>
              <a:t>- Scope: bug fixes in delivered code, integration questions from the ANP FlutterFlow team, CloudWatch alarm investigation, Bedrock accuracy tuning. Does NOT cover new features or Firebase/FlutterFlow frontend changes.</a:t>
            </a:r>
          </a:p>
          <a:p>
            <a:r>
              <a:t>- All issues are tracked in a shared issue log; weekly summary provided to Lilly Goyah.</a:t>
            </a:r>
          </a:p>
          <a:p/>
          <a:p>
            <a:r>
              <a:t>*Transition Milestones:*</a:t>
            </a:r>
          </a:p>
          <a:p>
            <a:r>
              <a:t>- Week 7: Confirm ANP technical contact can independently navigate CloudWatch dashboards and runbook.</a:t>
            </a:r>
          </a:p>
          <a:p>
            <a:r>
              <a:t>- Week 7: Confirm ANP technical contact can rotate API keys and Secrets Manager secrets independently.</a:t>
            </a:r>
          </a:p>
          <a:p>
            <a:r>
              <a:t>- Week 8: Final hypercare sign-off call with Jonas Bull and ANP technical contact.</a:t>
            </a:r>
          </a:p>
          <a:p>
            <a:r>
              <a:t>- Week 8+: nClouds IAM access revoked; ANP operates the Production environment independently.</a:t>
            </a:r>
          </a:p>
          <a:p/>
          <a:p>
            <a:r>
              <a:t>*Steady-State Operations:*</a:t>
            </a:r>
          </a:p>
          <a:p>
            <a:r>
              <a:t>- ANP's primary operational touchpoints post-hypercare: CloudWatch dashboards (daily), CloudWatch Alarms (event-driven SNS email), monthly Cost Explorer review.</a:t>
            </a:r>
          </a:p>
          <a:p>
            <a:r>
              <a:t>- Runbook covers all expected operational scenarios: alarm investigation, Lambda cold-start tuning, DynamoDB capacity mode adjustment, Secrets Manager rotation, and full IaC re-deployment.</a:t>
            </a:r>
          </a:p>
          <a:p>
            <a:r>
              <a:t>- AWS Developer Support provides technical case management during steady-state; upgrade to Business Support recommended at scale.</a:t>
            </a:r>
          </a:p>
          <a:p/>
          <a:p>
            <a:r>
              <a:t>*Response Time by Severity:*</a:t>
            </a:r>
          </a:p>
          <a:p>
            <a:r>
              <a:t>- P1 (Production outage — all users impacted): 4-hour response, target resolution within 8 hours.</a:t>
            </a:r>
          </a:p>
          <a:p>
            <a:r>
              <a:t>- P2 (Degraded functionality — partial impact): 8-hour response, target resolution within 24 hours.</a:t>
            </a:r>
          </a:p>
          <a:p>
            <a:r>
              <a:t>- P3 (Queries, guidance, non-urgent): 1 business day response.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*Acknowledgments — Specific Contributions:*</a:t>
            </a:r>
          </a:p>
          <a:p>
            <a:r>
              <a:t>- Lilly Goyah: provided go/no-go decisions at every milestone within the 3-business-day review window, enabling the engagement to stay on schedule without a single day of stakeholder-caused delay.</a:t>
            </a:r>
          </a:p>
          <a:p>
            <a:r>
              <a:t>- ANP Technical Contact: delivered the Firebase catalog S3 export 2 days ahead of schedule, participated actively in UAT with 20 real catalog items across 5 test users, and signed off on both the API reference documentation and the runbook.</a:t>
            </a:r>
          </a:p>
          <a:p>
            <a:r>
              <a:t>- nClouds delivery team (Jonas Bull + ML/AI, Cloud, Security, QA, PM): executed a 6-phase delivery across 6 weeks with zero critical defects at go-live — a testament to the team's experience with serverless AI workloads.</a:t>
            </a:r>
          </a:p>
          <a:p>
            <a:r>
              <a:t>- AWS Partner team: facilitated approval of both the $15,000 PS credit and the $1,500 MAP infrastructure credit — reducing ANP's net Year 1 investment from $17,400 to $1,751.</a:t>
            </a:r>
          </a:p>
          <a:p/>
          <a:p>
            <a:r>
              <a:t>*Next Steps Timeline:*</a:t>
            </a:r>
          </a:p>
          <a:p>
            <a:r>
              <a:t>- This week: Project Closeout Report and all remaining handover artifacts delivered; hypercare support period begins; nClouds development IAM access scoped down to read-only monitoring.</a:t>
            </a:r>
          </a:p>
          <a:p>
            <a:r>
              <a:t>- Next 30 days: Hypercare period runs through Week 8. Jonas Bull remains the escalation contact. Daily async check-in via Slack/email.</a:t>
            </a:r>
          </a:p>
          <a:p>
            <a:r>
              <a:t>- Next quarter: nClouds will prepare a Phase 2 proposal for Amazon Personalize collaborative-filtering integration and Amazon Transcribe podcast auto-transcription. Expected 6-week engagement of similar size and funding eligibility.</a:t>
            </a:r>
          </a:p>
          <a:p>
            <a:r>
              <a:t>- Month 4 onward: Quarterly Bedrock prompt accuracy reviews recommended to maintain ≥90% classification accuracy as the ANP catalog grows.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the floor for questions and discussion. Have the detailed design document, test results report, and investment summary ready for reference.</a:t>
            </a:r>
          </a:p>
          <a:p>
            <a:r>
              <a:t>- Backup detail available: architecture deep-dive, Bedrock model benchmark results, full test execution report, and the Phase 2 recommendation scope summary.</a:t>
            </a:r>
          </a:p>
          <a:p>
            <a:r>
              <a:t>- Offer to schedule a follow-up 30-minute call to walk Lilly Goyah through the Phase 2 opportunity and associated AWS funding eligibility.</a:t>
            </a:r>
          </a:p>
          <a:p>
            <a:r>
              <a:t>- Close on a positive note: ANP Streaming now has a production-grade, fully serverless AI capability delivering personalized mood-matched playlists and automated catalog enrichment — built in 6 weeks for a net Year 1 cost of under $2,000.</a:t>
            </a:r>
          </a:p>
          <a:p>
            <a:r>
              <a:t>- Celebrate the partnership: this engagement is a model for how faith-based digital platforms can leverage AWS AI services and partner funding to compete with the personalization capabilities of much larger streaming platforms.</a:t>
            </a:r>
          </a:p>
          <a:p>
            <a:r>
              <a:t>- Remind the team that the hypercare period is active — Jonas Bull is reachable at the contact above for any post-go-live questions through the end of Week 8.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ANP Streaming AI Mood &amp; Recommendation API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Jonas Bull | 2025-07-18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Duration:</a:t>
            </a:r>
            <a:r>
              <a:t> 6 weeks, delivered on schedule</a:t>
            </a:r>
          </a:p>
          <a:p>
            <a:pPr/>
            <a:r>
              <a:rPr b="1"/>
              <a:t>Budget:</a:t>
            </a:r>
            <a:r>
              <a:t> $15,000 professional services, fully offset by AWS credits</a:t>
            </a:r>
          </a:p>
          <a:p>
            <a:pPr/>
            <a:r>
              <a:rPr b="1"/>
              <a:t>Go-Live Date:</a:t>
            </a:r>
            <a:r>
              <a:t> End of Week 5 as planned in SOW</a:t>
            </a:r>
          </a:p>
          <a:p>
            <a:pPr/>
            <a:r>
              <a:rPr b="1"/>
              <a:t>Quality:</a:t>
            </a:r>
            <a:r>
              <a:t> Zero critical defects at Production go-live</a:t>
            </a:r>
          </a:p>
          <a:p>
            <a:pPr/>
            <a:r>
              <a:rPr b="1"/>
              <a:t>Classification Accuracy:</a:t>
            </a:r>
            <a:r>
              <a:t> 92% exceeding ≥90% SOW target</a:t>
            </a:r>
          </a:p>
          <a:p>
            <a:pPr/>
            <a:r>
              <a:rPr b="1"/>
              <a:t>API Latency:</a:t>
            </a:r>
            <a:r>
              <a:t> 1.4s p95 — below the ≤2s SLA target</a:t>
            </a:r>
          </a:p>
          <a:p>
            <a:pPr/>
            <a:r>
              <a:rPr b="1"/>
              <a:t>AWS Funding:</a:t>
            </a:r>
            <a:r>
              <a:t> $16,500 in credits applied; net Year 1 cost $1,751</a:t>
            </a:r>
          </a:p>
          <a:p>
            <a:pPr/>
            <a:r>
              <a:rPr b="1"/>
              <a:t>Deliverables:</a:t>
            </a:r>
            <a:r>
              <a:t> All 20 SOW deliverables accepted by ANP Streaming</a:t>
            </a:r>
          </a:p>
          <a:p>
            <a:pPr/>
            <a:r>
              <a:rPr b="1"/>
              <a:t>Integration:</a:t>
            </a:r>
            <a:r>
              <a:t> FlutterFlow calling Production API with zero frontend changes</a:t>
            </a:r>
          </a:p>
          <a:p>
            <a:pPr/>
            <a:r>
              <a:rPr b="1"/>
              <a:t>Hypercare:</a:t>
            </a:r>
            <a:r>
              <a:t> 2-week post-go-live support period commenced on schedule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Solution Architecture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  <p:txBody>
          <a:bodyPr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AI &amp; Inference Layer</a:t>
            </a:r>
          </a:p>
          <a:p>
            <a:pPr lvl="1"/>
            <a:r>
              <a:t>Amazon Bedrock for LLM mood classification</a:t>
            </a:r>
          </a:p>
          <a:p>
            <a:pPr lvl="1"/>
            <a:r>
              <a:t>Auto-tagger Lambda on S3 upload events</a:t>
            </a:r>
          </a:p>
          <a:p>
            <a:pPr lvl="1"/>
            <a:r>
              <a:t>92% accuracy on faith-based content</a:t>
            </a:r>
          </a:p>
          <a:p>
            <a:pPr/>
            <a:r>
              <a:rPr b="1"/>
              <a:t>Serverless API Platform</a:t>
            </a:r>
          </a:p>
          <a:p>
            <a:pPr lvl="1"/>
            <a:r>
              <a:t>API Gateway with key auth and throttling</a:t>
            </a:r>
          </a:p>
          <a:p>
            <a:pPr lvl="1"/>
            <a:r>
              <a:t>Lambda: Classifier, Recommender, Auto-Tagger</a:t>
            </a:r>
          </a:p>
          <a:p>
            <a:pPr lvl="1"/>
            <a:r>
              <a:t>DynamoDB catalog moods and user history</a:t>
            </a:r>
          </a:p>
          <a:p>
            <a:pPr/>
            <a:r>
              <a:rPr b="1"/>
              <a:t>Security &amp; Observability</a:t>
            </a:r>
          </a:p>
          <a:p>
            <a:pPr lvl="1"/>
            <a:r>
              <a:t>IAM least-privilege per Lambda function</a:t>
            </a:r>
          </a:p>
          <a:p>
            <a:pPr lvl="1"/>
            <a:r>
              <a:t>Secrets Manager for all credentials</a:t>
            </a:r>
          </a:p>
          <a:p>
            <a:pPr lvl="1"/>
            <a:r>
              <a:t>CloudWatch dashboards, alarms, and logs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498"/>
                <a:gridCol w="3832810"/>
                <a:gridCol w="209062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Architecture Design &amp; Decision Record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AWS design decisions and API schemas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Infrastructure as Code (CDK/CloudFormation)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Repeatable environment provisioning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`/delivery/scripts/cdk/`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POST /classify &amp; GET /recommend Lambdas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Bedrock-integrated mood and playlist API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`/delivery/scripts/lambda/`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Auto-Tagging Batch Lambda Pipeline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Mood-tags new catalog uploads automatically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`/delivery/scripts/lambda/auto-tagger/`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Test Plan &amp; Results Report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Test cases, execution, UAT sign-off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`/delivery/test-plan.csv`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Developer-Facing API Reference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Endpoint specs, auth, request/response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`/delivery/implementation-guide.md`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Operational Runbook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Monitoring, alarm response,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`/delivery/runbook.md`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Knowledge Transfer Session (recorded)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Architecture walkthrough, operations demo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`/delivery/training/kt-recording.mp4`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Testing Metrics</a:t>
            </a:r>
          </a:p>
          <a:p>
            <a:pPr lvl="1"/>
            <a:r>
              <a:t>Test cases executed: 100% of plan</a:t>
            </a:r>
          </a:p>
          <a:p>
            <a:pPr lvl="1"/>
            <a:r>
              <a:t>Functional test pass rate: 97% (target: ≥95%)</a:t>
            </a:r>
          </a:p>
          <a:p>
            <a:pPr lvl="1"/>
            <a:r>
              <a:t>Critical defects at go-live: 0</a:t>
            </a:r>
          </a:p>
          <a:p>
            <a:pPr lvl="1"/>
            <a:r>
              <a:t>Security test pass rate: 100%</a:t>
            </a:r>
          </a:p>
          <a:p>
            <a:pPr lvl="1"/>
            <a:r>
              <a:t>UAT sign-off: completed by ANP contact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Performance Metrics</a:t>
            </a:r>
          </a:p>
          <a:p>
            <a:pPr lvl="1"/>
            <a:r>
              <a:t>Classification accuracy: 92% (target: ≥90%)</a:t>
            </a:r>
          </a:p>
          <a:p>
            <a:pPr lvl="1"/>
            <a:r>
              <a:t>API p95 latency: 1.4s (target: ≤2s)</a:t>
            </a:r>
          </a:p>
          <a:p>
            <a:pPr lvl="1"/>
            <a:r>
              <a:t>Peak concurrent users tested: 50</a:t>
            </a:r>
          </a:p>
          <a:p>
            <a:pPr lvl="1"/>
            <a:r>
              <a:t>CloudWatch alarms validated in Dev: 100%</a:t>
            </a:r>
          </a:p>
          <a:p>
            <a:pPr lvl="1"/>
            <a:r>
              <a:t>DynamoDB PITR restore test: passed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498"/>
                <a:gridCol w="1742186"/>
                <a:gridCol w="1742186"/>
                <a:gridCol w="2439061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Mood Classification Accuracy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≥90%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92%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Reliable auto-tagging from day one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API Response Latency (p95)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≤2s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1.4s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Snappy in-app experience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Manual Curation Effort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Eliminated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Eliminated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 tagging per new upload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Catalog Items Auto-Tagged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of uploads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pipeline live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Full catalog enriched at launch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AWS Partner Credits Applied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Net Year 1 cost only $1,751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Professional Services Net Cost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 (credits)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offset via AWS funding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Personalized Playlist API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Live in 6 weeks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Live in Week 5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 week ahead of final deadline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FlutterFlow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 frontend changes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 changes made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Seamless drop-in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Serverless-first approach removed infra bottleneck</a:t>
            </a:r>
          </a:p>
          <a:p>
            <a:pPr lvl="1"/>
            <a:r>
              <a:t>Bedrock LLM fallback ensured accuracy from day one</a:t>
            </a:r>
          </a:p>
          <a:p>
            <a:pPr lvl="1"/>
            <a:r>
              <a:t>IaC CDK templates enabled Dev→Prod in under 2 hours</a:t>
            </a:r>
          </a:p>
          <a:p>
            <a:pPr lvl="1"/>
            <a:r>
              <a:t>Firebase catalog export completed ahead of Week 2</a:t>
            </a:r>
          </a:p>
          <a:p>
            <a:pPr lvl="1"/>
            <a:r>
              <a:t>Early API contract sign-off prevented scope creep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Bedrock model selection required Phase 1 benchmarking</a:t>
            </a:r>
          </a:p>
          <a:p>
            <a:pPr lvl="1"/>
            <a:r>
              <a:t>Cold-start latency tuned via Lambda memory sizing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Phase 2: add Amazon Personalize for collaborative filtering</a:t>
            </a:r>
          </a:p>
          <a:p>
            <a:pPr lvl="1"/>
            <a:r>
              <a:t>Upgrade to AWS Business Support as user base grows</a:t>
            </a:r>
          </a:p>
          <a:p>
            <a:pPr lvl="1"/>
            <a:r>
              <a:t>Enable DynamoDB Global Tables for multi-region resilience</a:t>
            </a:r>
          </a:p>
          <a:p>
            <a:pPr lvl="1"/>
            <a:r>
              <a:t>Schedule quarterly Bedrock prompt accuracy reviews</a:t>
            </a:r>
          </a:p>
          <a:p>
            <a:pPr lvl="1"/>
            <a:r>
              <a:t>Expand auto-tagger to audio transcription via Transcribe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Hypercare (Weeks 6–8, Post Go-Live)</a:t>
            </a:r>
          </a:p>
          <a:p>
            <a:pPr lvl="1"/>
            <a:r>
              <a:t>Dedicated nClouds team on business-hours standby</a:t>
            </a:r>
          </a:p>
          <a:p>
            <a:pPr lvl="1"/>
            <a:r>
              <a:t>P1 Production outage: 4-hour response SLA</a:t>
            </a:r>
          </a:p>
          <a:p>
            <a:pPr lvl="1"/>
            <a:r>
              <a:t>P2 Degraded functionality: 8-hour response SLA</a:t>
            </a:r>
          </a:p>
          <a:p>
            <a:pPr lvl="1"/>
            <a:r>
              <a:t>P3 Queries and guidance: 1 business day response</a:t>
            </a:r>
          </a:p>
          <a:p>
            <a:pPr lvl="1"/>
            <a:r>
              <a:t>Daily async check-in via Slack/email</a:t>
            </a:r>
          </a:p>
          <a:p>
            <a:pPr/>
            <a:r>
              <a:rPr b="1"/>
              <a:t>Transition to Self-Sufficiency (Week 8+)</a:t>
            </a:r>
          </a:p>
          <a:p>
            <a:pPr lvl="1"/>
            <a:r>
              <a:t>Full runbook and API reference handed over</a:t>
            </a:r>
          </a:p>
          <a:p>
            <a:pPr lvl="1"/>
            <a:r>
              <a:t>Knowledge transfer session recording delivered</a:t>
            </a:r>
          </a:p>
          <a:p>
            <a:pPr lvl="1"/>
            <a:r>
              <a:t>IaC CDK codebase in ANP's GitHub repository</a:t>
            </a:r>
          </a:p>
          <a:p>
            <a:pPr lvl="1"/>
            <a:r>
              <a:t>AWS Developer Support plan active for L1/L2</a:t>
            </a:r>
          </a:p>
          <a:p>
            <a:pPr lvl="1"/>
            <a:r>
              <a:t>Monthly performance review (first 90 days)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Escalation Contacts</a:t>
            </a:r>
          </a:p>
          <a:p>
            <a:pPr lvl="1"/>
            <a:r>
              <a:t>L1: jonas.bull@nclouds.com (Engagement Lead)</a:t>
            </a:r>
          </a:p>
          <a:p>
            <a:pPr lvl="1"/>
            <a:r>
              <a:t>L2: AWS Developer Support (Console case)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Lilly Goyah for executive sponsorship and rapid decision-making</a:t>
            </a:r>
          </a:p>
          <a:p>
            <a:pPr/>
            <a:r>
              <a:t>ANP Technical Contact for catalog access, testing, and UAT sign-off</a:t>
            </a:r>
          </a:p>
          <a:p>
            <a:pPr/>
            <a:r>
              <a:t>nClouds delivery team for 6-week precision execution</a:t>
            </a:r>
          </a:p>
          <a:p>
            <a:pPr/>
            <a:r>
              <a:t>AWS Partner team for funding approval enabling zero PS cost</a:t>
            </a:r>
          </a:p>
          <a:p>
            <a:pPr/>
            <a:r>
              <a:rPr b="1"/>
              <a:t>This Week:</a:t>
            </a:r>
            <a:r>
              <a:t> Final documentation handover and hypercare kickoff</a:t>
            </a:r>
          </a:p>
          <a:p>
            <a:pPr/>
            <a:r>
              <a:rPr b="1"/>
              <a:t>Next 30 Days:</a:t>
            </a:r>
            <a:r>
              <a:t> Hypercare support with daily async check-ins</a:t>
            </a:r>
          </a:p>
          <a:p>
            <a:pPr/>
            <a:r>
              <a:rPr b="1"/>
              <a:t>Next Quarter:</a:t>
            </a:r>
            <a:r>
              <a:t> Phase 2 scoping — Amazon Personalize integration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Mood &amp; Recommendation API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10: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