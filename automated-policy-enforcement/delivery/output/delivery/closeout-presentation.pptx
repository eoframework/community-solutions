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with confidence — the platform was delivered on time, on budget, and to full scope.</a:t>
            </a:r>
          </a:p>
          <a:p>
            <a:r>
              <a:t>- The April 2026 regulatory deadline was the defining constraint for every phase-gate decision, and we met it.</a:t>
            </a:r>
          </a:p>
          <a:p>
            <a:r>
              <a:t>- Emphasise the zero-critical-defect go-live as proof of the quality embedded in the delivery process.</a:t>
            </a:r>
          </a:p>
          <a:p/>
          <a:p>
            <a:r>
              <a:t>*Background Details:*</a:t>
            </a:r>
          </a:p>
          <a:p>
            <a:r>
              <a:t>- Professional services: $434,900 list price less $30,000 in APN, MAP, and volume credits = $404,900 net. This matches the SOW Investment Summary exactly.</a:t>
            </a:r>
          </a:p>
          <a:p>
            <a:r>
              <a:t>- Phased timeline: Phase 1 (Weeks 1–6 Discovery &amp; Design), Phase 2 (Weeks 7–12 Build &amp; Integrate), Phase 3 (Weeks 13–16 Testing &amp; Handover).</a:t>
            </a:r>
          </a:p>
          <a:p>
            <a:r>
              <a:t>- 8-week hypercare period (Weeks 17–24) was specifically sized to cover the regulatory review window — this was a deliberate presales commitment and it has been honoured.</a:t>
            </a:r>
          </a:p>
          <a:p>
            <a:r>
              <a:t>- ISO 27001 evidence package compiled and accepted by CISO before go-live (Milestone M9).</a:t>
            </a:r>
          </a:p>
          <a:p>
            <a:r>
              <a:t>- DR drill confirmed RTO 3h 20min and RPO 42min — both within SOW targets of &lt; 4h and &lt; 1h respectively.</a:t>
            </a:r>
          </a:p>
          <a:p/>
          <a:p>
            <a:r>
              <a:t>*Presales Commitments Met:*</a:t>
            </a:r>
          </a:p>
          <a:p>
            <a:r>
              <a:t>- 80% reduction in audit remediation effort — target set in SOW Success Metrics, validated post-go-live.</a:t>
            </a:r>
          </a:p>
          <a:p>
            <a:r>
              <a:t>- Zero shared administrative credentials — IAM Identity Center federation replaced all shared-credential access.</a:t>
            </a:r>
          </a:p>
          <a:p>
            <a:r>
              <a:t>- Account provisioning reduced from days to under 4 hours — AFT pipeline validated during functional testing.</a:t>
            </a:r>
          </a:p>
          <a:p>
            <a:r>
              <a:t>- All data remains within Australia (ap-southeast-2 primary, ap-southeast-4 DR) — data sovereignty confirmed.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Walk through the architecture top-to-bottom: governance layer, then security, then network and identity.</a:t>
            </a:r>
          </a:p>
          <a:p>
            <a:r>
              <a:t>- Every component maps directly to a presales commitment in the Solution Briefing — no scope additions were made.</a:t>
            </a:r>
          </a:p>
          <a:p>
            <a:r>
              <a:t>- The dual-region deployment (ap-southeast-2 primary, ap-southeast-4 DR) was a hard data sovereignty requirement and was delivered as designed.</a:t>
            </a:r>
          </a:p>
          <a:p/>
          <a:p>
            <a:r>
              <a:t>*Technical Details:*</a:t>
            </a:r>
          </a:p>
          <a:p>
            <a:r>
              <a:t>- Control Tower OU hierarchy: Management, Log Archive, Audit, Security, Network, and Workload OUs — exactly as designed in the Architecture Design Document (Deliverable #5).</a:t>
            </a:r>
          </a:p>
          <a:p>
            <a:r>
              <a:t>- AFT pipeline uses Terraform Cloud Plus workspaces with Sentinel policy-as-code for pre-deployment compliance checks.</a:t>
            </a:r>
          </a:p>
          <a:p>
            <a:r>
              <a:t>- ~80 AWS Config rules deployed: ISO 27001 conformance pack + custom rules for Contoso Financial's internal security baseline.</a:t>
            </a:r>
          </a:p>
          <a:p>
            <a:r>
              <a:t>- Network Firewall in the Network Account inspects all east-west and north-south traffic; no direct peer-to-peer between workload accounts.</a:t>
            </a:r>
          </a:p>
          <a:p>
            <a:r>
              <a:t>- IAM Identity Center: SAML 2.0 federation with on-prem IdP; four permission sets (Developer, Operator, SecurityViewer, BreakGlass); MFA enforced at IdP level.</a:t>
            </a:r>
          </a:p>
          <a:p/>
          <a:p>
            <a:r>
              <a:t>*Cost Alignment:*</a:t>
            </a:r>
          </a:p>
          <a:p>
            <a:r>
              <a:t>- Annual infrastructure run rate: ~$9,956/year list; effectively covered by AWS MAP and partner credits in Year 1.</a:t>
            </a:r>
          </a:p>
          <a:p>
            <a:r>
              <a:t>- Year 2 and Year 3 recurring run cost is ~$34,130/year (cloud + connectivity + software + support) — as documented in the SOW Investment Summary.</a:t>
            </a:r>
          </a:p>
          <a:p/>
          <a:p>
            <a:r>
              <a:t>*Presales Alignment:*</a:t>
            </a:r>
          </a:p>
          <a:p>
            <a:r>
              <a:t>- Architecture is identical to the Solution Briefing (Slide 4) and the Architecture Design Document.</a:t>
            </a:r>
          </a:p>
          <a:p>
            <a:r>
              <a:t>- Services deployed: AWS Control Tower, AFT (Terraform), AWS Config, SCPs, Security Hub, GuardDuty, IAM Identity Center, CloudTrail, S3 (WORM), Transit Gateway, Network Firewall, Direct Connect, EventBridge, Lambda, CloudWatch, Systems Manager.</a:t>
            </a:r>
          </a:p>
          <a:p>
            <a:r>
              <a:t>- No services were added beyond the presales scope.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25 deliverables listed in the SOW Deliverables table have been completed and accepted.</a:t>
            </a:r>
          </a:p>
          <a:p>
            <a:r>
              <a:t>- This slide highlights the eight most strategically significant deliverables for executive awareness.</a:t>
            </a:r>
          </a:p>
          <a:p>
            <a:r>
              <a:t>- Every deliverable was accepted in writing by the designated authority before the next phase commenced — no phase-gate was bypassed.</a:t>
            </a:r>
          </a:p>
          <a:p/>
          <a:p>
            <a:r>
              <a:t>*Deliverable Status (all 25 SOW deliverables):*</a:t>
            </a:r>
          </a:p>
          <a:p>
            <a:r>
              <a:t>- Deliverables 1–5 (Phase 1): Project Kickoff Deck, Current State Assessment, Gap Analysis, ISO 27001 Control Mapping, Architecture Design — all accepted by Week 6.</a:t>
            </a:r>
          </a:p>
          <a:p>
            <a:r>
              <a:t>- Deliverables 6–17 (Phase 2): IaC Module Library, Control Tower, AFT, SCPs/Config, IAM Identity Center, Security Hub/GuardDuty/CloudTrail, SIEM Integration, DR Baseline, Network Infrastructure, Environment Onboarding, CI/CD GitOps Pipeline, Config &amp; Ops Guide — all accepted by Week 12.</a:t>
            </a:r>
          </a:p>
          <a:p>
            <a:r>
              <a:t>- Deliverables 18–25 (Phase 3): Test Plan, Test Results/Evidence Package, DR Failover Report, Operational Runbooks, Knowledge Transfer, Administrator Training, Optimisation Roadmap, Project Closeout Report — all accepted by Week 16.</a:t>
            </a:r>
          </a:p>
          <a:p/>
          <a:p>
            <a:r>
              <a:t>*Key Highlights:*</a:t>
            </a:r>
          </a:p>
          <a:p>
            <a:r>
              <a:t>- IaC Module Library: 14 reusable Terraform modules committed to Git; Contoso Financial owns the repository post-handover.</a:t>
            </a:r>
          </a:p>
          <a:p>
            <a:r>
              <a:t>- ISO 27001 compliance evidence package: formatted for direct regulatory submission; includes Config conformance reports, CloudTrail attestation, GuardDuty findings report, Security Hub trend analysis, DR test results.</a:t>
            </a:r>
          </a:p>
          <a:p>
            <a:r>
              <a:t>- Knowledge Transfer: four sessions delivered (IaC/AFT, Guardrail Management, Security Hub/Compliance Evidence, IAM Identity Center Operations) — all recorded and delivered.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Quality was not an afterthought — it was embedded into the delivery process from Phase 1 through structured test planning.</a:t>
            </a:r>
          </a:p>
          <a:p>
            <a:r>
              <a:t>- Every SOW success metric has been validated and met or exceeded.</a:t>
            </a:r>
          </a:p>
          <a:p>
            <a:r>
              <a:t>- The CISO sign-off on all controls before go-live (Milestone M8) is the authoritative acceptance gate.</a:t>
            </a:r>
          </a:p>
          <a:p/>
          <a:p>
            <a:r>
              <a:t>*Detailed Metrics:*</a:t>
            </a:r>
          </a:p>
          <a:p>
            <a:r>
              <a:t>- SCP validation: 12 distinct prohibited actions tested across production OUs — all resulted in `AccessDenied` with corresponding CloudTrail entries in the Log Archive account.</a:t>
            </a:r>
          </a:p>
          <a:p>
            <a:r>
              <a:t>- Config rule validation: deliberate non-compliant configurations introduced in a test account (unencrypted S3 bucket, open security group, disabled CloudTrail) — all detected within 45 seconds and remediated automatically for applicable rules.</a:t>
            </a:r>
          </a:p>
          <a:p>
            <a:r>
              <a:t>- Break-glass procedure tested end-to-end: time-limited access granted in &lt;10 minutes, SIEM alert generated, full CloudTrail log captured.</a:t>
            </a:r>
          </a:p>
          <a:p>
            <a:r>
              <a:t>- Account provisioning load test: 5 concurrent AFT vending requests processed without throttling — all accounts provisioned and baseline-applied within 90 minutes.</a:t>
            </a:r>
          </a:p>
          <a:p>
            <a:r>
              <a:t>- DR drill details: ap-southeast-2 primary simulated failure at 09:00 AEST; ap-southeast-4 DR governance platform fully operational by 12:20 AEST (3h 20min RTO). Log Archive replication lag measured at 42 minutes (RPO).</a:t>
            </a:r>
          </a:p>
          <a:p>
            <a:r>
              <a:t>- Platform availability measured over a 30-day post-go-live observation window — zero platform outages recorded.</a:t>
            </a:r>
          </a:p>
          <a:p/>
          <a:p>
            <a:r>
              <a:t>*SOW Success Metric Alignment:*</a:t>
            </a:r>
          </a:p>
          <a:p>
            <a:r>
              <a:t>- Zero compliance findings from Q2 2026 regulatory review: on track — ISO 27001 evidence package accepted by CISO.</a:t>
            </a:r>
          </a:p>
          <a:p>
            <a:r>
              <a:t>- 80% reduction in audit remediation effort: baseline 3–4 findings/quarter; post-go-live: zero findings in first cycle.</a:t>
            </a:r>
          </a:p>
          <a:p>
            <a:r>
              <a:t>- 100% production accounts under SCPs with no manual console access: confirmed.</a:t>
            </a:r>
          </a:p>
          <a:p>
            <a:r>
              <a:t>- All new provisioning via AFT pipeline with ITSM gate: confirmed — 3 production environments onboarded via AFT.</a:t>
            </a:r>
          </a:p>
          <a:p>
            <a:r>
              <a:t>- IAM Identity Center live; zero shared credentials: confirmed — on-premises IdP federated; all IAM users retired.</a:t>
            </a:r>
          </a:p>
          <a:p>
            <a:r>
              <a:t>- DR RTO &lt; 4h and RPO &lt; 1h: confirmed by drill results.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Benefits are already being realised — the first post-go-live audit cycle produced zero findings.</a:t>
            </a:r>
          </a:p>
          <a:p>
            <a:r>
              <a:t>- This is the core business case that drove the engagement: protect the April 2026 regulatory review.</a:t>
            </a:r>
          </a:p>
          <a:p>
            <a:r>
              <a:t>- Every benefit row maps directly to a SOW Success Metric or Key Outcome.</a:t>
            </a:r>
          </a:p>
          <a:p/>
          <a:p>
            <a:r>
              <a:t>*Detailed Impact:*</a:t>
            </a:r>
          </a:p>
          <a:p>
            <a:r>
              <a:t>- Audit remediation effort: the platform team previously spent an estimated 15–20 hours per finding per quarter across 3–4 findings. At 80% reduction, this represents ~50–60 hours/quarter returned to strategic work.</a:t>
            </a:r>
          </a:p>
          <a:p>
            <a:r>
              <a:t>- Account provisioning: the previous manual process took "days" (SOW Background). AFT pipeline provisions in under 2 hours — a reduction of at least 75–80% in calendar time, with zero manual steps.</a:t>
            </a:r>
          </a:p>
          <a:p>
            <a:r>
              <a:t>- Compliance findings: the first post-go-live Config conformance run across all accounts produced zero non-compliant findings — all previously identified gaps were remediated during Phase 2.</a:t>
            </a:r>
          </a:p>
          <a:p>
            <a:r>
              <a:t>- SIEM latency: measured end-to-end (Security Hub finding generated to SIEM correlation alert) at an average of 2 minutes 47 seconds across 50 test events.</a:t>
            </a:r>
          </a:p>
          <a:p>
            <a:r>
              <a:t>- ROI timeline: SOW projected ongoing audit remediation avoidance of $420K+ per year (benchmark from success story, proportionally adjusted). Net Year 1 investment $409,830. Payback period approximately 12 months.</a:t>
            </a:r>
          </a:p>
          <a:p>
            <a:r>
              <a:t>- Data sovereignty: region-lock SCP confirmed blocking all non-ap-southeast-2/4 API calls in production OUs — tested with 8 API calls to disallowed regions, all denied.</a:t>
            </a:r>
          </a:p>
          <a:p/>
          <a:p>
            <a:r>
              <a:t>*Future Benefit Projections:*</a:t>
            </a:r>
          </a:p>
          <a:p>
            <a:r>
              <a:t>- Year 2+ cloud run cost: ~$34,130/year — significant reduction from Year 1 as MAP and partner credits do not recur.</a:t>
            </a:r>
          </a:p>
          <a:p>
            <a:r>
              <a:t>- Guardrail maturity: as the Config rule library is extended post-handover, compliance posture will continue to improve without additional implementation cost.</a:t>
            </a:r>
          </a:p>
          <a:p>
            <a:r>
              <a:t>- Phase 2 opportunity (see Slide 7): expanding AFT coverage to developer sandbox accounts and implementing FinOps dashboards are the highest-priority near-term enhancements.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*What Worked Well — Details:*</a:t>
            </a:r>
          </a:p>
          <a:p>
            <a:r>
              <a:t>- CISO sign-off gate (Milestone M3, end of Week 6): by requiring formal CISO acceptance of the architecture before Phase 2 began, we avoided mid-build design changes. This is a best practice for all regulated financial services engagements.</a:t>
            </a:r>
          </a:p>
          <a:p>
            <a:r>
              <a:t>- IaC-first approach: using AFT and Terraform for all account and guardrail provisioning meant every environment was born compliant — there were no "catch-up" remediation tasks in Phase 3.</a:t>
            </a:r>
          </a:p>
          <a:p>
            <a:r>
              <a:t>- Evidence collection from day one of Phase 2: Config conformance packs were deployed in the first week of Phase 2, meaning 6 weeks of continuous compliance data was available when the evidence package was compiled in Phase 3.</a:t>
            </a:r>
          </a:p>
          <a:p>
            <a:r>
              <a:t>- Phased cutover: onboarding one production environment per day across 3 days (Week 15) allowed the team to validate each cutover fully before proceeding to the next. No rollbacks were required.</a:t>
            </a:r>
          </a:p>
          <a:p/>
          <a:p>
            <a:r>
              <a:t>*Challenges Overcome — Details:*</a:t>
            </a:r>
          </a:p>
          <a:p>
            <a:r>
              <a:t>- Direct Connect lead time: Contoso Financial ordered the ap-southeast-4 Direct Connect circuit 2 weeks later than the SOW dependency required (Dependency #1). Amatra stood up a Site-to-Site VPN as a fallback during Phase 2, enabling federation configuration and SIEM integration to proceed without delay. The Direct Connect circuit was provisioned before Phase 3 DR testing.</a:t>
            </a:r>
          </a:p>
          <a:p>
            <a:r>
              <a:t>- On-prem IdP attribute mapping: the on-premises directory's group structure required a non-standard attribute mapping to IAM Identity Center groups. An additional 2-hour workshop with the IdP team (beyond the Week 11 session) was required to resolve. No timeline impact.</a:t>
            </a:r>
          </a:p>
          <a:p/>
          <a:p>
            <a:r>
              <a:t>*Recommendations — Prioritised:*</a:t>
            </a:r>
          </a:p>
          <a:p>
            <a:r>
              <a:t>1. **AFT expansion to dev sandboxes (Next 30 days):** Low effort, high consistency benefit — eliminates manual developer account setup.</a:t>
            </a:r>
          </a:p>
          <a:p>
            <a:r>
              <a:t>2. **FinOps dashboards (Next 60 days):** AWS Cost Explorer tags are already applied; adding budget alerts and anomaly detection is a low-cost enhancement.</a:t>
            </a:r>
          </a:p>
          <a:p>
            <a:r>
              <a:t>3. **PCI-DSS conformance pack (Next Quarter):** Contoso Financial's card payment workloads may benefit; a scoping exercise is recommended before commitment.</a:t>
            </a:r>
          </a:p>
          <a:p>
            <a:r>
              <a:t>4. **Quarterly compliance evidence reviews (Ongoing):** Establish a rhythm of CISO-led reviews using the Security Hub dashboard and Config compliance reports — no additional tooling required.</a:t>
            </a:r>
          </a:p>
          <a:p>
            <a:r>
              <a:t>5. **Managed Services (Next Quarter):** Refer to Amatra's Managed Services Agreement for ongoing CloudOps, guardrail management, and compliance monitoring post-hypercare.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*Hypercare Coverage Details:*</a:t>
            </a:r>
          </a:p>
          <a:p>
            <a:r>
              <a:t>- Hypercare scope (from SOW Section 9): triage and resolution of post-go-live defects, guardrail tuning, SIEM alert correlation refinement, regulatory review evidence query assistance, advisory support for new account vending requests.</a:t>
            </a:r>
          </a:p>
          <a:p>
            <a:r>
              <a:t>- Out of scope during hypercare: new features, additional integrations, compliance frameworks not in the original SOW scope. These require a change order or a new engagement.</a:t>
            </a:r>
          </a:p>
          <a:p>
            <a:r>
              <a:t>- Business hours: 09:00–17:00 AEST, Monday to Friday. For P1 issues outside business hours, the on-call contact is the delivery@amatra.com.au email (monitored for P1 severity).</a:t>
            </a:r>
          </a:p>
          <a:p>
            <a:r>
              <a:t>- Hypercare end: Week 24 final handover call with Priya Nair and Rachel Moore to confirm platform stability, all hypercare items resolved, and platform team self-sufficiency.</a:t>
            </a:r>
          </a:p>
          <a:p/>
          <a:p>
            <a:r>
              <a:t>*Knowledge Transfer Completion:*</a:t>
            </a:r>
          </a:p>
          <a:p>
            <a:r>
              <a:t>- Session 1 — IaC Pipeline &amp; Account Vending (4 hours): completed Week 15. Attended by Platform Engineers.</a:t>
            </a:r>
          </a:p>
          <a:p>
            <a:r>
              <a:t>- Session 2 — Guardrail Management (3 hours): completed Week 15. Attended by Platform Engineers + CISO.</a:t>
            </a:r>
          </a:p>
          <a:p>
            <a:r>
              <a:t>- Session 3 — Security Hub &amp; Compliance Evidence (3 hours): completed Week 16. Attended by Platform Engineers + CISO.</a:t>
            </a:r>
          </a:p>
          <a:p>
            <a:r>
              <a:t>- Session 4 — IAM Identity Center Operations (2 hours): completed Week 16. Attended by Platform Engineers + CISO.</a:t>
            </a:r>
          </a:p>
          <a:p>
            <a:r>
              <a:t>- All sessions recorded; recordings and slide decks delivered to Priya Nair's SharePoint.</a:t>
            </a:r>
          </a:p>
          <a:p/>
          <a:p>
            <a:r>
              <a:t>*Steady State Recommendations:*</a:t>
            </a:r>
          </a:p>
          <a:p>
            <a:r>
              <a:t>- Monthly: review CloudWatch platform health dashboards (AFT pipeline success rate, Config evaluation errors, GuardDuty finding volumes).</a:t>
            </a:r>
          </a:p>
          <a:p>
            <a:r>
              <a:t>- Quarterly: CISO-led compliance evidence review using Security Hub and Config compliance reports.</a:t>
            </a:r>
          </a:p>
          <a:p>
            <a:r>
              <a:t>- Annually: access review — IAM Identity Center permission set assignments reviewed against current role requirements.</a:t>
            </a:r>
          </a:p>
          <a:p>
            <a:r>
              <a:t>- Change process: all SCP and Config rule changes must be raised via ITSM, reviewed by the Security Engineer role, approved by the CISO, and deployed via the AFT pipeline — no console changes.</a:t>
            </a:r>
          </a:p>
          <a:p/>
          <a:p>
            <a:r>
              <a:t>*Post-Hypercare Options:*</a:t>
            </a:r>
          </a:p>
          <a:p>
            <a:r>
              <a:t>- Managed Services Agreement: Amatra can provide ongoing CloudOps, guardrail management, and compliance monitoring under a separate MSA. Contact accounts@amatra.com.au to scope.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 Talking Points:*</a:t>
            </a:r>
          </a:p>
          <a:p>
            <a:r>
              <a:t>- This was a genuine partnership — the April 2026 regulatory deadline demanded close collaboration on both sides and the Contoso Financial team delivered on every critical-path dependency.</a:t>
            </a:r>
          </a:p>
          <a:p>
            <a:r>
              <a:t>- James Wu's executive sponsorship meant escalations were resolved quickly — no decision sat unresolved for more than 48 hours.</a:t>
            </a:r>
          </a:p>
          <a:p>
            <a:r>
              <a:t>- Priya Nair's 25% time commitment (as specified in the SOW assumptions) was honoured throughout the engagement — her technical engagement was essential for architecture decisions and UAT.</a:t>
            </a:r>
          </a:p>
          <a:p>
            <a:r>
              <a:t>- The CISO's timely sign-off at Week 4 (architecture gate) and Week 15 (UAT gate) was the single most important client-side action in protecting the April 2026 deadline.</a:t>
            </a:r>
          </a:p>
          <a:p>
            <a:r>
              <a:t>- Rachel Moore's coordination of ITSM change windows, Direct Connect circuit chasing, and IdP team availability kept Phase 2 on track despite the Direct Connect delay.</a:t>
            </a:r>
          </a:p>
          <a:p/>
          <a:p>
            <a:r>
              <a:t>*Next Steps Timeline:*</a:t>
            </a:r>
          </a:p>
          <a:p>
            <a:r>
              <a:t>- This week: Amatra to transfer the IaC Git repository to Contoso Financial's GitHub organisation; deliver final project closeout report; confirm hypercare escalation contacts with platform team.</a:t>
            </a:r>
          </a:p>
          <a:p>
            <a:r>
              <a:t>- Next 30 days (Weeks 17–20): Hypercare active; focus on guardrail tuning, SIEM alert refinement, and any post-go-live defect resolution.</a:t>
            </a:r>
          </a:p>
          <a:p>
            <a:r>
              <a:t>- Before April 30, 2026: Regulatory review window — Amatra available under hypercare to assist with any audit queries or evidence supplementation.</a:t>
            </a:r>
          </a:p>
          <a:p>
            <a:r>
              <a:t>- Week 24: Final hypercare handover call; confirm platform team self-sufficiency; agree any Phase 2 roadmap next steps.</a:t>
            </a:r>
          </a:p>
          <a:p>
            <a:r>
              <a:t>- Optional (Next Quarter): Phase 2 scoping workshop — AFT expansion, FinOps dashboards, PCI-DSS conformance pack.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and discussion.</a:t>
            </a:r>
          </a:p>
          <a:p>
            <a:r>
              <a:t>- Have this document's speaker notes available for deep-dive questions on budget, metrics, and architecture.</a:t>
            </a:r>
          </a:p>
          <a:p>
            <a:r>
              <a:t>- Offer to schedule a follow-up session specifically on Phase 2 roadmap planning if there is executive appetite.</a:t>
            </a:r>
          </a:p>
          <a:p>
            <a:r>
              <a:t>- Remind Priya Nair of the hypercare escalation path — delivery@amatra.com.au for P1/P2 issues starting today.</a:t>
            </a:r>
          </a:p>
          <a:p>
            <a:r>
              <a:t>- End on a positive note: the platform is live, the regulatory review is covered, and Contoso Financial now owns a best-practice cloud governance foundation that will serve the organisation for years.</a:t>
            </a:r>
          </a:p>
          <a:p/>
          <a:p>
            <a:r>
              <a:t>*Backup Detail Topics (if asked):*</a:t>
            </a:r>
          </a:p>
          <a:p>
            <a:r>
              <a:t>- Budget breakdown by phase: Discovery ~$83,600 | Architecture ~$57,700 | Build ~$166,100 | Testing ~$55,700 | Hypercare ~$44,500 | Management ~$74,800.</a:t>
            </a:r>
          </a:p>
          <a:p>
            <a:r>
              <a:t>- Credit details: $30,000 in professional services credits (APN $10K + MAP $15K + volume discount $5K); $29,200 in cloud credits (MAP infrastructure $15K + Solutions Partner $5K + Reserved Instance savings $8K + Terraform partner credit $1.2K).</a:t>
            </a:r>
          </a:p>
          <a:p>
            <a:r>
              <a:t>- 3-year TCO: $478,090 total (Year 1 net $409,830 + Year 2 $34,130 + Year 3 $34,130).</a:t>
            </a:r>
          </a:p>
          <a:p>
            <a:r>
              <a:t>- Managed Services: separate MSA available for ongoing CloudOps post-hypercare — contact accounts@amatra.com.au.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Cloud Governance Platform — Contoso Financial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Rachel Moore | 2026-05-01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16 weeks (4 months), on schedule</a:t>
            </a:r>
          </a:p>
          <a:p>
            <a:pPr/>
            <a:r>
              <a:rPr b="1"/>
              <a:t>Budget:</a:t>
            </a:r>
            <a:r>
              <a:t> $404,900 net professional services, on budget</a:t>
            </a:r>
          </a:p>
          <a:p>
            <a:pPr/>
            <a:r>
              <a:rPr b="1"/>
              <a:t>Go-Live Date:</a:t>
            </a:r>
            <a:r>
              <a:t> End of Week 15 as planned</a:t>
            </a:r>
          </a:p>
          <a:p>
            <a:pPr/>
            <a:r>
              <a:rPr b="1"/>
              <a:t>Quality:</a:t>
            </a:r>
            <a:r>
              <a:t> Zero critical defects at production go-live</a:t>
            </a:r>
          </a:p>
          <a:p>
            <a:pPr/>
            <a:r>
              <a:rPr b="1"/>
              <a:t>Guardrail Coverage:</a:t>
            </a:r>
            <a:r>
              <a:t> 100% of production accounts under SCPs</a:t>
            </a:r>
          </a:p>
          <a:p>
            <a:pPr/>
            <a:r>
              <a:rPr b="1"/>
              <a:t>Identity:</a:t>
            </a:r>
            <a:r>
              <a:t> Shared credentials fully retired; IdP federation live</a:t>
            </a:r>
          </a:p>
          <a:p>
            <a:pPr/>
            <a:r>
              <a:rPr b="1"/>
              <a:t>Audit Package:</a:t>
            </a:r>
            <a:r>
              <a:t> ISO 27001 evidence package delivered to CISO</a:t>
            </a:r>
          </a:p>
          <a:p>
            <a:pPr/>
            <a:r>
              <a:rPr b="1"/>
              <a:t>DR Validated:</a:t>
            </a:r>
            <a:r>
              <a:t> RTO &lt; 4h and RPO &lt; 1h confirmed in drill</a:t>
            </a:r>
          </a:p>
          <a:p>
            <a:pPr/>
            <a:r>
              <a:rPr b="1"/>
              <a:t>Hypercare:</a:t>
            </a:r>
            <a:r>
              <a:t> 8-week period covers April 2026 regulatory review</a:t>
            </a:r>
          </a:p>
          <a:p>
            <a:pPr/>
            <a:r>
              <a:rPr b="1"/>
              <a:t>ROI:</a:t>
            </a:r>
            <a:r>
              <a:t> Audit remediation effort reduced by 80% — payback on track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Solution Architecture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Governance &amp; Provisioning</a:t>
            </a:r>
          </a:p>
          <a:p>
            <a:pPr lvl="1"/>
            <a:r>
              <a:t>Control Tower + AFT account vending pipeline</a:t>
            </a:r>
          </a:p>
          <a:p>
            <a:pPr lvl="1"/>
            <a:r>
              <a:t>SCPs enforcing no-console-access organisation-wide</a:t>
            </a:r>
          </a:p>
          <a:p>
            <a:pPr lvl="1"/>
            <a:r>
              <a:t>ITSM change-approval gate on all vending requests</a:t>
            </a:r>
          </a:p>
          <a:p>
            <a:pPr/>
            <a:r>
              <a:rPr b="1"/>
              <a:t>Security &amp; Compliance</a:t>
            </a:r>
          </a:p>
          <a:p>
            <a:pPr lvl="1"/>
            <a:r>
              <a:t>Security Hub aggregating GuardDuty + Config findings</a:t>
            </a:r>
          </a:p>
          <a:p>
            <a:pPr lvl="1"/>
            <a:r>
              <a:t>Centralised S3 log archive (12-month WORM retention)</a:t>
            </a:r>
          </a:p>
          <a:p>
            <a:pPr lvl="1"/>
            <a:r>
              <a:t>ISO 27001 conformance pack with auto-remediation</a:t>
            </a:r>
          </a:p>
          <a:p>
            <a:pPr/>
            <a:r>
              <a:rPr b="1"/>
              <a:t>Network &amp; Identity</a:t>
            </a:r>
          </a:p>
          <a:p>
            <a:pPr lvl="1"/>
            <a:r>
              <a:t>Transit Gateway hub-spoke with Network Firewall</a:t>
            </a:r>
          </a:p>
          <a:p>
            <a:pPr lvl="1"/>
            <a:r>
              <a:t>IAM Identity Center federation from on-prem IdP</a:t>
            </a:r>
          </a:p>
          <a:p>
            <a:pPr lvl="1"/>
            <a:r>
              <a:t>Dual-region deployment: ap-southeast-2 + ap-southeast-4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154"/>
                <a:gridCol w="3223045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Architecture Design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OU hierarchy, guardrail framework, design decisions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IaC Module Library (Terraform)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Reusable AFT modules, VPC, IAM, Config packs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`/delivery/scripts/terraform/`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Configuration &amp; Operations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Platform configuration reference and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`/delivery/configuration.csv`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Results &amp; Compliance Evidence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ISO 27001 control validation and DR test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Operational Runbook Suite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Account vending, break-glass, DR failover SOPs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`/delivery/runbook/`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Knowledge Transfer Recordings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Recorded sessions: AFT, Security Hub, IAM IdC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Platform Optimisation Roadmap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Cost optimisation and guardrail enhancement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`/delivery/optimisation-roadmap.md`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Closeout Report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Engagement summary and lessons learned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`/delivery/closeout-report.md`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Testing Metrics</a:t>
            </a:r>
          </a:p>
          <a:p>
            <a:pPr lvl="1"/>
            <a:r>
              <a:t>Test cases executed: 100% of plan</a:t>
            </a:r>
          </a:p>
          <a:p>
            <a:pPr lvl="1"/>
            <a:r>
              <a:t>Critical defects at go-live: 0</a:t>
            </a:r>
          </a:p>
          <a:p>
            <a:pPr lvl="1"/>
            <a:r>
              <a:t>SCP denial tests: all passed (100%)</a:t>
            </a:r>
          </a:p>
          <a:p>
            <a:pPr lvl="1"/>
            <a:r>
              <a:t>Config rule fire time: &lt;60s (target: &lt;60s)</a:t>
            </a:r>
          </a:p>
          <a:p>
            <a:pPr lvl="1"/>
            <a:r>
              <a:t>SIEM forwarding latency: &lt;3 min (target: &lt;5 min)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Platform availability: 99.9% (target: 99.9%)</a:t>
            </a:r>
          </a:p>
          <a:p>
            <a:pPr lvl="1"/>
            <a:r>
              <a:t>Account provisioning time: &lt;2h (target: &lt;4h)</a:t>
            </a:r>
          </a:p>
          <a:p>
            <a:pPr lvl="1"/>
            <a:r>
              <a:t>DR drill RTO: 3h 20min (target: &lt;4h)</a:t>
            </a:r>
          </a:p>
          <a:p>
            <a:pPr lvl="1"/>
            <a:r>
              <a:t>DR drill RPO: 42 min (target: &lt;1h)</a:t>
            </a:r>
          </a:p>
          <a:p>
            <a:pPr lvl="1"/>
            <a:r>
              <a:t>Security Hub → SIEM: &lt;3 min (target: &lt;5 min)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498"/>
                <a:gridCol w="1916405"/>
                <a:gridCol w="1916405"/>
                <a:gridCol w="209062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Audit Remediation Effort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80% reduction (0 findings)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Platform team capacity freed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Account Provisioning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 4 hours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 2 hours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Faster environment delivery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Console Access in Production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 manual sessions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 (SCP enforced)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Eliminated credential risk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Compliance Findings/Quarter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 (post go-live)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 (first cycle)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Clean regulatory review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SIEM Alert Latency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 5 minutes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 3 minutes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Faster incident response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DR Recovery Time (RTO)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 4 hours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3h 20min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Confirmed resilience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Sovereignty Coverage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in-country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(AU regions only)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Regulatory obligation met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Shared Credentials Retired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(IdP federation live)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credential-sharing risk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CISO sign-off gate before Phase 2 prevented rework</a:t>
            </a:r>
          </a:p>
          <a:p>
            <a:pPr lvl="1"/>
            <a:r>
              <a:t>IaC-first approach accelerated all environment builds</a:t>
            </a:r>
          </a:p>
          <a:p>
            <a:pPr lvl="1"/>
            <a:r>
              <a:t>Evidence collection automated from day one of Phase 2</a:t>
            </a:r>
          </a:p>
          <a:p>
            <a:pPr lvl="1"/>
            <a:r>
              <a:t>AFT pipeline reduced onboarding time significantly</a:t>
            </a:r>
          </a:p>
          <a:p>
            <a:pPr lvl="1"/>
            <a:r>
              <a:t>Phased cutover (3 environments over 3 days) de-risked go-live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Direct Connect lead time: mitigated with VPN fallback in Phase 2</a:t>
            </a:r>
          </a:p>
          <a:p>
            <a:pPr lvl="1"/>
            <a:r>
              <a:t>On-prem IdP attribute mapping: resolved via additional workshop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Extend AFT coverage to developer sandbox accounts</a:t>
            </a:r>
          </a:p>
          <a:p>
            <a:pPr lvl="1"/>
            <a:r>
              <a:t>Implement FinOps dashboards (AWS Cost Explorer + budgets)</a:t>
            </a:r>
          </a:p>
          <a:p>
            <a:pPr lvl="1"/>
            <a:r>
              <a:t>Add PCI-DSS conformance pack as next compliance framework</a:t>
            </a:r>
          </a:p>
          <a:p>
            <a:pPr lvl="1"/>
            <a:r>
              <a:t>Schedule quarterly CISO-led compliance evidence reviews</a:t>
            </a:r>
          </a:p>
          <a:p>
            <a:pPr lvl="1"/>
            <a:r>
              <a:t>Engage Amatra Managed Services for ongoing CloudOps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(Weeks 17–24)</a:t>
            </a:r>
          </a:p>
          <a:p>
            <a:pPr lvl="1"/>
            <a:r>
              <a:t>Dedicated Amatra delivery team on-call</a:t>
            </a:r>
          </a:p>
          <a:p>
            <a:pPr lvl="1"/>
            <a:r>
              <a:t>2-hour P1 response (compliance-blocking issues)</a:t>
            </a:r>
          </a:p>
          <a:p>
            <a:pPr lvl="1"/>
            <a:r>
              <a:t>Next-business-day P2 response</a:t>
            </a:r>
          </a:p>
          <a:p>
            <a:pPr lvl="1"/>
            <a:r>
              <a:t>Covers April 2026 regulatory review window</a:t>
            </a:r>
          </a:p>
          <a:p>
            <a:pPr lvl="1"/>
            <a:r>
              <a:t>Guardrail tuning and SIEM alert refinement in scope</a:t>
            </a:r>
          </a:p>
          <a:p>
            <a:pPr/>
            <a:r>
              <a:rPr b="1"/>
              <a:t>Transition to Self-Sufficiency</a:t>
            </a:r>
          </a:p>
          <a:p>
            <a:pPr lvl="1"/>
            <a:r>
              <a:t>Four knowledge transfer sessions completed</a:t>
            </a:r>
          </a:p>
          <a:p>
            <a:pPr lvl="1"/>
            <a:r>
              <a:t>All sessions recorded and delivered to Priya Nair</a:t>
            </a:r>
          </a:p>
          <a:p>
            <a:pPr lvl="1"/>
            <a:r>
              <a:t>Operational runbooks accepted by platform team</a:t>
            </a:r>
          </a:p>
          <a:p>
            <a:pPr lvl="1"/>
            <a:r>
              <a:t>IaC Git repository transferred to Contoso Financial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Steady State (Post-Week 24)</a:t>
            </a:r>
          </a:p>
          <a:p>
            <a:pPr lvl="1"/>
            <a:r>
              <a:t>Platform team operates independently</a:t>
            </a:r>
          </a:p>
          <a:p>
            <a:pPr lvl="1"/>
            <a:r>
              <a:t>Quarterly CISO-led compliance evidence reviews</a:t>
            </a:r>
          </a:p>
          <a:p>
            <a:pPr lvl="1"/>
            <a:r>
              <a:t>Monthly CloudWatch dashboard reviews recommended</a:t>
            </a:r>
          </a:p>
          <a:p>
            <a:pPr/>
            <a:r>
              <a:rPr b="1"/>
              <a:t>Escalation Contacts</a:t>
            </a:r>
          </a:p>
          <a:p>
            <a:pPr lvl="1"/>
            <a:r>
              <a:t>P1/P2: delivery@amatra.com.au | +61 2 9000 0000</a:t>
            </a:r>
          </a:p>
          <a:p>
            <a:pPr lvl="1"/>
            <a:r>
              <a:t>Account Manager: accounts@amatra.com.au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James Wu (CTO) — executive sponsorship and decisive governance support</a:t>
            </a:r>
          </a:p>
          <a:p>
            <a:pPr/>
            <a:r>
              <a:t>Priya Nair (Head of Platform Engineering) — technical leadership and knowledge transfer</a:t>
            </a:r>
          </a:p>
          <a:p>
            <a:pPr/>
            <a:r>
              <a:t>Contoso Financial CISO — security rigour and timely architecture sign-off</a:t>
            </a:r>
          </a:p>
          <a:p>
            <a:pPr/>
            <a:r>
              <a:t>Rachel Moore (IT Delivery Manager) — project coordination and milestone delivery</a:t>
            </a:r>
          </a:p>
          <a:p>
            <a:pPr/>
            <a:r>
              <a:rPr b="1"/>
              <a:t>This Week:</a:t>
            </a:r>
            <a:r>
              <a:t> Final documentation handover and repository transfer</a:t>
            </a:r>
          </a:p>
          <a:p>
            <a:pPr/>
            <a:r>
              <a:rPr b="1"/>
              <a:t>Next 30 Days:</a:t>
            </a:r>
            <a:r>
              <a:t> Hypercare support with 2-hour P1 response</a:t>
            </a:r>
          </a:p>
          <a:p>
            <a:pPr/>
            <a:r>
              <a:rPr b="1"/>
              <a:t>Before April 30:</a:t>
            </a:r>
            <a:r>
              <a:t> Regulatory review with full evidence package ready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10: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