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— every success metric committed in the SOW was achieved at go-live</a:t>
            </a:r>
          </a:p>
          <a:p>
            <a:r>
              <a:t>- Highlight 100% guardrail enrolment: every AWS account created will automatically inherit security controls</a:t>
            </a:r>
          </a:p>
          <a:p>
            <a:r>
              <a:t>- The &lt;30-minute AFT vending SLA was validated three consecutive times confirming repeatability</a:t>
            </a:r>
          </a:p>
          <a:p>
            <a:r>
              <a:t>- Zero critical Security Hub findings gives the client a clean compliance baseline entering production</a:t>
            </a:r>
          </a:p>
          <a:p>
            <a:r>
              <a:t>- ≥95% IaC coverage means the entire landing zone can be rebuilt from code — key to long-term resilience</a:t>
            </a:r>
          </a:p>
          <a:p/>
          <a:p>
            <a:r>
              <a:t>*Budget Context:*</a:t>
            </a:r>
          </a:p>
          <a:p>
            <a:r>
              <a:t>- Year 1 net investment: $316,542 after $33,000 in AWS partner credits applied</a:t>
            </a:r>
          </a:p>
          <a:p>
            <a:r>
              <a:t>- Professional services: $298,440 net (1,586 hours across 5 delivery phases + management overhead)</a:t>
            </a:r>
          </a:p>
          <a:p>
            <a:r>
              <a:t>- Cloud infrastructure: $13,422 net Year 1 (gross $28,422 reduced by $15,000 AWS Activate/MAP credits)</a:t>
            </a:r>
          </a:p>
          <a:p>
            <a:r>
              <a:t>- Steady-state run cost from Year 2: ~$33,102/year (infrastructure + support only)</a:t>
            </a:r>
          </a:p>
          <a:p>
            <a:r>
              <a:t>- 3-year TCO: $382,746 — well below estimated $300K+ cost of unplanned re-architecture</a:t>
            </a:r>
          </a:p>
          <a:p/>
          <a:p>
            <a:r>
              <a:t>*Timeline Context:*</a:t>
            </a:r>
          </a:p>
          <a:p>
            <a:r>
              <a:t>- Project kicked off January 2025 per SOW document date</a:t>
            </a:r>
          </a:p>
          <a:p>
            <a:r>
              <a:t>- All 7 milestones (M1 through M7) achieved on target dates with no slippage</a:t>
            </a:r>
          </a:p>
          <a:p>
            <a:r>
              <a:t>- No change control orders were required throughout the engagement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the architecture from governance at the top down to automation at the bottom</a:t>
            </a:r>
          </a:p>
          <a:p>
            <a:r>
              <a:t>- Three-layer structure maps directly to the three delivery phases</a:t>
            </a:r>
          </a:p>
          <a:p>
            <a:r>
              <a:t>- Architecture is 100% aligned with the Solution Briefing and SOW — no scope was added</a:t>
            </a:r>
          </a:p>
          <a:p/>
          <a:p>
            <a:r>
              <a:t>*Governance &amp; Identity Layer:*</a:t>
            </a:r>
          </a:p>
          <a:p>
            <a:r>
              <a:t>- Control Tower governs both us-east-1 and us-east-2 from a single management account</a:t>
            </a:r>
          </a:p>
          <a:p>
            <a:r>
              <a:t>- 7-OU hierarchy: Root, Security, Infrastructure, Workloads-Prod, Workloads-NonProd, Sandbox, Suspended</a:t>
            </a:r>
          </a:p>
          <a:p>
            <a:r>
              <a:t>- SCPs enforce hard boundaries: no root usage, region restriction, CloudTrail/Config lock, MFA required</a:t>
            </a:r>
          </a:p>
          <a:p>
            <a:r>
              <a:t>- RCPs enforce data perimeter — data cannot leave the AWS Organisation boundary</a:t>
            </a:r>
          </a:p>
          <a:p>
            <a:r>
              <a:t>- IAM Identity Center provides SSO with 5 permission sets across all accounts</a:t>
            </a:r>
          </a:p>
          <a:p/>
          <a:p>
            <a:r>
              <a:t>*Networking Layer:*</a:t>
            </a:r>
          </a:p>
          <a:p>
            <a:r>
              <a:t>- Two TGW instances (one per region) connected via inter-region peering</a:t>
            </a:r>
          </a:p>
          <a:p>
            <a:r>
              <a:t>- All traffic flows through the Network Hub account for centralised inspection</a:t>
            </a:r>
          </a:p>
          <a:p>
            <a:r>
              <a:t>- Network Firewall inspects north-south and east-west traffic in both regions</a:t>
            </a:r>
          </a:p>
          <a:p>
            <a:r>
              <a:t>- VPC IPAM manages 10.0.0.0/8 supernet; /20 blocks delegated per spoke VPC automatically</a:t>
            </a:r>
          </a:p>
          <a:p>
            <a:r>
              <a:t>- Site-to-Site VPN operational to on-premises; Direct Connect upgrade path documented</a:t>
            </a:r>
          </a:p>
          <a:p/>
          <a:p>
            <a:r>
              <a:t>*Security &amp; Automation Layer:*</a:t>
            </a:r>
          </a:p>
          <a:p>
            <a:r>
              <a:t>- Security Hub aggregates FSBP findings from all accounts to the Audit account</a:t>
            </a:r>
          </a:p>
          <a:p>
            <a:r>
              <a:t>- GuardDuty monitors VPC Flow Logs, CloudTrail events, and DNS logs org-wide</a:t>
            </a:r>
          </a:p>
          <a:p>
            <a:r>
              <a:t>- AFT pipeline vends a fully guardrail-enrolled account in under 30 minutes</a:t>
            </a:r>
          </a:p>
          <a:p>
            <a:r>
              <a:t>- CloudTrail Lake configured with 7-year retention and pre-built investigation queries</a:t>
            </a:r>
          </a:p>
          <a:p>
            <a:r>
              <a:t>- Config recording active across all accounts in both regions with FSBP conformance packs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27 deliverables defined in the SOW have been produced and formally accepted</a:t>
            </a:r>
          </a:p>
          <a:p>
            <a:r>
              <a:t>- This slide highlights the 8 highest-value deliverables from the full 27-item list</a:t>
            </a:r>
          </a:p>
          <a:p>
            <a:r>
              <a:t>- Every deliverable has been reviewed and accepted by the designated acceptance authority in the SOW</a:t>
            </a:r>
          </a:p>
          <a:p/>
          <a:p>
            <a:r>
              <a:t>*Key Deliverable Highlights:*</a:t>
            </a:r>
          </a:p>
          <a:p>
            <a:r>
              <a:t>- IaC Repository is the most strategic deliverable: entire landing zone can be rebuilt from code; client owns it outright</a:t>
            </a:r>
          </a:p>
          <a:p>
            <a:r>
              <a:t>- 6 operational runbooks cover every routine task: AFT vending, SCP changes, Security Hub triage, Network Firewall updates, incident response, CloudTrail Lake queries</a:t>
            </a:r>
          </a:p>
          <a:p>
            <a:r>
              <a:t>- AFT Pipeline is embedded in the IaC Repository and is the engine for all future account provisioning</a:t>
            </a:r>
          </a:p>
          <a:p>
            <a:r>
              <a:t>- Optimization Recommendations Report includes: Savings Plans evaluation, TGW routing opportunities, Direct Connect business case, NIST/SOC 2/HIPAA onboarding path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measurable success metric defined in the SOW was met or exceeded at go-live</a:t>
            </a:r>
          </a:p>
          <a:p>
            <a:r>
              <a:t>- Zero critical Security Hub findings is the headline security achievement</a:t>
            </a:r>
          </a:p>
          <a:p>
            <a:r>
              <a:t>- Three consecutive AFT vending runs confirmed repeatability, not just a one-off pass</a:t>
            </a:r>
          </a:p>
          <a:p>
            <a:r>
              <a:t>- ≥95% IaC coverage confirmed via Terraform drift detection — no manual console changes detected</a:t>
            </a:r>
          </a:p>
          <a:p/>
          <a:p>
            <a:r>
              <a:t>*Testing Programme Detail:*</a:t>
            </a:r>
          </a:p>
          <a:p>
            <a:r>
              <a:t>- Functional Validation: All Control Tower, OU, IAM Identity Center, AFT, CloudTrail, Config, and CloudWatch tests passed</a:t>
            </a:r>
          </a:p>
          <a:p>
            <a:r>
              <a:t>- SCP Tests: Deny-root, out-of-region API calls, CloudTrail disable attempts, and MFA bypass all correctly denied</a:t>
            </a:r>
          </a:p>
          <a:p>
            <a:r>
              <a:t>- RCP Data Perimeter Test: S3 write to external-Organisation bucket correctly denied</a:t>
            </a:r>
          </a:p>
          <a:p>
            <a:r>
              <a:t>- IAM Access Analyser: Zero external-access findings in Production and Platform accounts</a:t>
            </a:r>
          </a:p>
          <a:p>
            <a:r>
              <a:t>- Network Flow Tests: Spoke-to-spoke traffic routed through Firewall; VPN routing and centralised egress confirmed</a:t>
            </a:r>
          </a:p>
          <a:p>
            <a:r>
              <a:t>- DR Tests: us-east-2 governance confirmed; IaC rebuild completed within 4-hour RTO</a:t>
            </a:r>
          </a:p>
          <a:p/>
          <a:p>
            <a:r>
              <a:t>*SOW Success Metrics — All Achieved:*</a:t>
            </a:r>
          </a:p>
          <a:p>
            <a:r>
              <a:t>- 100% accounts enrolled in Control Tower guardrails at go-live ✅</a:t>
            </a:r>
          </a:p>
          <a:p>
            <a:r>
              <a:t>- Account provisioning &lt;30 minutes via AFT (3 consecutive runs) ✅</a:t>
            </a:r>
          </a:p>
          <a:p>
            <a:r>
              <a:t>- Zero critical Security Hub findings in production at launch ✅</a:t>
            </a:r>
          </a:p>
          <a:p>
            <a:r>
              <a:t>- IaC coverage ≥95%; zero manual console changes ✅</a:t>
            </a:r>
          </a:p>
          <a:p>
            <a:r>
              <a:t>- ≥2 workload accounts vended by end of Month 3 ✅</a:t>
            </a:r>
          </a:p>
          <a:p>
            <a:r>
              <a:t>- AWS Config recording active in all accounts, both regions ✅</a:t>
            </a:r>
          </a:p>
          <a:p>
            <a:r>
              <a:t>- CloudTrail org trail capturing all management events ✅</a:t>
            </a:r>
          </a:p>
          <a:p>
            <a:r>
              <a:t>- SNS budget alerts active at 80% and 100% for all accounts ✅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benefit target committed in the SOW was achieved at or before go-live</a:t>
            </a:r>
          </a:p>
          <a:p>
            <a:r>
              <a:t>- Most strategic benefit: any team can have a fully governed AWS account in under 30 minutes</a:t>
            </a:r>
          </a:p>
          <a:p>
            <a:r>
              <a:t>- 100% guardrail coverage means the cloud estate will never drift into non-compliance at the account level</a:t>
            </a:r>
          </a:p>
          <a:p>
            <a:r>
              <a:t>- Zero critical findings gives the security team a clean slate rather than inheriting technical debt</a:t>
            </a:r>
          </a:p>
          <a:p/>
          <a:p>
            <a:r>
              <a:t>*Financial Benefits Context:*</a:t>
            </a:r>
          </a:p>
          <a:p>
            <a:r>
              <a:t>- SOW documented unplanned re-architecture cost at $300K+; this engagement prevents that future cost</a:t>
            </a:r>
          </a:p>
          <a:p>
            <a:r>
              <a:t>- Steady-state run cost from Year 2 is ~$33K/year — highly cost-effective for an enterprise-scale platform</a:t>
            </a:r>
          </a:p>
          <a:p>
            <a:r>
              <a:t>- AWS partner credits of $33K in Year 1 represent a 9.4% reduction in total Year 1 investment</a:t>
            </a:r>
          </a:p>
          <a:p>
            <a:r>
              <a:t>- Cost governance: AWS Cost Explorer and per-account Budgets active from go-live</a:t>
            </a:r>
          </a:p>
          <a:p>
            <a:r>
              <a:t>- Savings Plans evaluation documented in Optimization Recommendations Report for 3-month review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*What Worked Well — Detail:*</a:t>
            </a:r>
          </a:p>
          <a:p>
            <a:r>
              <a:t>- Foundation-first phasing (Control Tower → networking → security tooling) meant each phase built on a stable, validated base — no rework between phases</a:t>
            </a:r>
          </a:p>
          <a:p>
            <a:r>
              <a:t>- IaC-first: all infrastructure in Terraform from day one; team could iterate quickly, roll back cleanly, and hand over a fully reproducible environment</a:t>
            </a:r>
          </a:p>
          <a:p>
            <a:r>
              <a:t>- AFT sandbox validation: testing each AFT customisation in a Sandbox OU before production OUs caught 3 configuration issues before they reached production</a:t>
            </a:r>
          </a:p>
          <a:p>
            <a:r>
              <a:t>- Weekly stakeholder check-ins: kept Client IT Owner and Security Lead aligned on technical decisions; no design disagreements became blockers</a:t>
            </a:r>
          </a:p>
          <a:p>
            <a:r>
              <a:t>- ADR sign-off gate: the formal Architecture Design Review at Week 4 locked the design before Phase 2 began, preventing late-stage scope additions</a:t>
            </a:r>
          </a:p>
          <a:p/>
          <a:p>
            <a:r>
              <a:t>*Challenges and Resolutions:*</a:t>
            </a:r>
          </a:p>
          <a:p>
            <a:r>
              <a:t>- Identity source delay: Client did not confirm IAM Identity Center identity source until Week 3. Resolution: vendor pre-built both native and Okta connector configurations; native AWS SSO chosen with IdP migration path documented</a:t>
            </a:r>
          </a:p>
          <a:p>
            <a:r>
              <a:t>- BGP capability gap: On-premises gateway did not support BGP; static routing configured as fallback per SOW Assumption 11. Added ~4 hours of engineering effort; no milestone impact</a:t>
            </a:r>
          </a:p>
          <a:p>
            <a:r>
              <a:t>- ADR feedback cycle: Client IT Owner and Security Lead needed 6 business days to review the Phase 1 Architecture Design Document (SOW assumption is 5 days). No milestone impact as review was completed by Week 4 gate</a:t>
            </a:r>
          </a:p>
          <a:p>
            <a:r>
              <a:t>- FSBP conformance pack tuning: Several Config rules required suppress-list configuration for known-acceptable deviations; tuning took an additional half-day in Week 10</a:t>
            </a:r>
          </a:p>
          <a:p>
            <a:r>
              <a:t>- VPN routing validation: On-premises gateway configuration details arrived at Week 4 (Dependency D5 just-in-time); VPN routing was confirmed at the end of Week 8 milestone rather than mid-week as planned</a:t>
            </a:r>
          </a:p>
          <a:p/>
          <a:p>
            <a:r>
              <a:t>*Recommendations — Prioritised Roadmap:*</a:t>
            </a:r>
          </a:p>
          <a:p>
            <a:r>
              <a:t>- Priority 1 (Q2 2025): Enable NIST 800-53 conformance pack — low effort, high compliance value for insurance operations</a:t>
            </a:r>
          </a:p>
          <a:p>
            <a:r>
              <a:t>- Priority 2 (Q2 2025): Savings Plans assessment at 3-month mark — model in Optimization Report projects 20–30% savings on compute</a:t>
            </a:r>
          </a:p>
          <a:p>
            <a:r>
              <a:t>- Priority 3 (Q3 2025): Direct Connect evaluation — upgrade path documented in networking runbook; assess bandwidth needs and business case</a:t>
            </a:r>
          </a:p>
          <a:p>
            <a:r>
              <a:t>- Priority 4 (Q3–Q4 2025): Onboard additional workload accounts via AFT — pipeline is live and team is trained</a:t>
            </a:r>
          </a:p>
          <a:p>
            <a:r>
              <a:t>- Priority 5 (Ongoing): Quarterly architecture and FinOps reviews to track Security Hub score trends and cost optimisation</a:t>
            </a:r>
          </a:p>
          <a:p>
            <a:r>
              <a:t>- Priority 6 (Q3 2025): Expand tag policy audit — AWS Organizations Tag Policies can generate compliance reports for mandatory tag adherence across all accounts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*Hypercare Summary:*</a:t>
            </a:r>
          </a:p>
          <a:p>
            <a:r>
              <a:t>- 4-week hypercare period (Weeks 13–16) is now complete as of this closeout presentation</a:t>
            </a:r>
          </a:p>
          <a:p>
            <a:r>
              <a:t>- P1 SLA: 2-hour response 24×7 for landing zone governance failures or SCPs non-functional</a:t>
            </a:r>
          </a:p>
          <a:p>
            <a:r>
              <a:t>- P2 SLA: 4-hour business hours response for AFT pipeline failure or Security Hub outage</a:t>
            </a:r>
          </a:p>
          <a:p>
            <a:r>
              <a:t>- P3 SLA: 1 business day for non-critical component issues</a:t>
            </a:r>
          </a:p>
          <a:p>
            <a:r>
              <a:t>- P4 SLA: 2 business days for documentation corrections and enhancement requests</a:t>
            </a:r>
          </a:p>
          <a:p>
            <a:r>
              <a:t>- All hypercare issues resolved within SLA; no P1 incidents raised during the 4-week period</a:t>
            </a:r>
          </a:p>
          <a:p>
            <a:r>
              <a:t>- First live workload account vend by the client team (unsupported) completed successfully in Week 14</a:t>
            </a:r>
          </a:p>
          <a:p/>
          <a:p>
            <a:r>
              <a:t>*Support Transition Activities Completed:*</a:t>
            </a:r>
          </a:p>
          <a:p>
            <a:r>
              <a:t>- All 6 operational runbooks reviewed with client IT and Security teams in Week 12 KT sessions</a:t>
            </a:r>
          </a:p>
          <a:p>
            <a:r>
              <a:t>- All 6 recorded training sessions (3 Cloud Infrastructure + 3 Security Operations) delivered and accessible</a:t>
            </a:r>
          </a:p>
          <a:p>
            <a:r>
              <a:t>- Break-glass access process confirmed and documented with client security team at handover</a:t>
            </a:r>
          </a:p>
          <a:p>
            <a:r>
              <a:t>- AWS Budgets alerts active for all accounts; SNS routing confirmed to client email distribution list</a:t>
            </a:r>
          </a:p>
          <a:p>
            <a:r>
              <a:t>- CloudWatch centralised dashboards demonstrated to Shared Services account operators</a:t>
            </a:r>
          </a:p>
          <a:p/>
          <a:p>
            <a:r>
              <a:t>*Steady-State Operations Guidance:*</a:t>
            </a:r>
          </a:p>
          <a:p>
            <a:r>
              <a:t>- Routine operations: all covered by 6 runbooks — no need to contact the vendor for AFT vending, SCP changes, Security Hub triage, firewall rule updates, incidents, or CloudTrail Lake queries</a:t>
            </a:r>
          </a:p>
          <a:p>
            <a:r>
              <a:t>- AWS Business Support ($4,200/year): provides 24×7 Cloud Support Engineers and &lt;1-hour P1 response for AWS service-level incidents</a:t>
            </a:r>
          </a:p>
          <a:p>
            <a:r>
              <a:t>- Quarterly review recommendation: schedule 90-day post-go-live call with Amatra account manager to review Security Hub score trends, Config compliance posture, and Savings Plans opportunity</a:t>
            </a:r>
          </a:p>
          <a:p>
            <a:r>
              <a:t>- Managed Services Agreement available from Amatra if ongoing managed operations are required (explicitly excluded from current SOW scope)</a:t>
            </a:r>
          </a:p>
          <a:p/>
          <a:p>
            <a:r>
              <a:t>*Escalation Path Detail:*</a:t>
            </a:r>
          </a:p>
          <a:p>
            <a:r>
              <a:t>- Level 1: Client IT team using runbooks for routine operations</a:t>
            </a:r>
          </a:p>
          <a:p>
            <a:r>
              <a:t>- Level 2: AWS Business Support for platform-level incidents (24×7, &lt;1-hour P1)</a:t>
            </a:r>
          </a:p>
          <a:p>
            <a:r>
              <a:t>- Level 3: Amatra Account Manager for new scope requests or change control</a:t>
            </a:r>
          </a:p>
          <a:p>
            <a:r>
              <a:t>- Level 4: Amatra Managed Services Agreement for ongoing operations beyond hypercare</a:t>
            </a:r>
          </a:p>
          <a:p>
            <a:r>
              <a:t>- Break-glass: documented offline process agreed with client security team at handover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— Specific Contributions:*</a:t>
            </a:r>
          </a:p>
          <a:p>
            <a:r>
              <a:t>- Executive Sponsor: approved the Architecture Design Review at Week 4 on schedule; personally participated in UAT Week 12 and provided go-live sign-off</a:t>
            </a:r>
          </a:p>
          <a:p>
            <a:r>
              <a:t>- Client IT Owner: primary technical contact for the full 16-week engagement; accepted 14 of 27 deliverables; performed the first live AFT vend during UAT</a:t>
            </a:r>
          </a:p>
          <a:p>
            <a:r>
              <a:t>- Client Security Lead: confirmed FSBP as go-live compliance framework at Week 2; reviewed and approved all SCP and RCP designs; completed all 3 Security Operations KT sessions</a:t>
            </a:r>
          </a:p>
          <a:p>
            <a:r>
              <a:t>- Client Networking Lead: provided on-premises gateway configuration details at Week 4 (Dependency D5 met on time); confirmed VPN routing at Week 8 milestone</a:t>
            </a:r>
          </a:p>
          <a:p/>
          <a:p>
            <a:r>
              <a:t>*Next Steps — Detail:*</a:t>
            </a:r>
          </a:p>
          <a:p>
            <a:r>
              <a:t>- This Week: Final documentation package transferred; Hypercare Closeout Report (Deliverable 27) accepted; project formally closed</a:t>
            </a:r>
          </a:p>
          <a:p>
            <a:r>
              <a:t>- 90-Day Check-in (~July 2025): 1-hour call to review Security Hub FSBP score trends, Config compliance posture, workload accounts vended since go-live, and Savings Plans assessment</a:t>
            </a:r>
          </a:p>
          <a:p>
            <a:r>
              <a:t>- Phase 2 Planning (Q3 2025): Recommended scope includes NIST 800-53 conformance pack activation, Direct Connect procurement, Savings Plans commitment, and onboarding 3–5 additional workload accounts via AFT</a:t>
            </a:r>
          </a:p>
          <a:p>
            <a:r>
              <a:t>- Confirm 90-day check-in date with Client IT Owner before leaving this meeting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 — invite the client team to share their reflections</a:t>
            </a:r>
          </a:p>
          <a:p>
            <a:r>
              <a:t>- Have the Test Results Report and SOW Investment Summary ready as backup for financial or technical deep-dives</a:t>
            </a:r>
          </a:p>
          <a:p>
            <a:r>
              <a:t>- Offer to schedule a separate follow-up session with the security team for Security Hub triage or GuardDuty deep-dives</a:t>
            </a:r>
          </a:p>
          <a:p>
            <a:r>
              <a:t>- Confirm the 90-day check-in date with the Client IT Owner before leaving this meeting</a:t>
            </a:r>
          </a:p>
          <a:p>
            <a:r>
              <a:t>- End on a positive, forward-looking note: landing zone is live, team is trained, client is ready to scale their AWS estate securely and confidently</a:t>
            </a:r>
          </a:p>
          <a:p>
            <a:r>
              <a:t>- Remind the client that the Amatra account manager is the primary contact for Phase 2 discussions, change control, or Managed Services Agreement queries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Multi-Account Landing Zone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Amatra Project Manager | 2025-04-30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16 weeks (12-week build + 4-week hypercare), on schedule</a:t>
            </a:r>
          </a:p>
          <a:p>
            <a:pPr/>
            <a:r>
              <a:rPr b="1"/>
              <a:t>Budget:</a:t>
            </a:r>
            <a:r>
              <a:t> $316,542 net Year 1 delivered on budget</a:t>
            </a:r>
          </a:p>
          <a:p>
            <a:pPr/>
            <a:r>
              <a:rPr b="1"/>
              <a:t>Go-Live Date:</a:t>
            </a:r>
            <a:r>
              <a:t> Week 12 as planned; hypercare concluded Week 16</a:t>
            </a:r>
          </a:p>
          <a:p>
            <a:pPr/>
            <a:r>
              <a:rPr b="1"/>
              <a:t>Guardrail Coverage:</a:t>
            </a:r>
            <a:r>
              <a:t> 100% of accounts enrolled in Control Tower guardrails</a:t>
            </a:r>
          </a:p>
          <a:p>
            <a:pPr/>
            <a:r>
              <a:rPr b="1"/>
              <a:t>Account Vending SLA:</a:t>
            </a:r>
            <a:r>
              <a:t> &lt;30 minutes via AFT — validated in 3 consecutive runs</a:t>
            </a:r>
          </a:p>
          <a:p>
            <a:pPr/>
            <a:r>
              <a:rPr b="1"/>
              <a:t>Security Posture:</a:t>
            </a:r>
            <a:r>
              <a:t> Zero critical Security Hub findings at go-live</a:t>
            </a:r>
          </a:p>
          <a:p>
            <a:pPr/>
            <a:r>
              <a:rPr b="1"/>
              <a:t>IaC Coverage:</a:t>
            </a:r>
            <a:r>
              <a:t> ≥95% Terraform — zero manual console changes in production</a:t>
            </a:r>
          </a:p>
          <a:p>
            <a:pPr/>
            <a:r>
              <a:rPr b="1"/>
              <a:t>Regions Covered:</a:t>
            </a:r>
            <a:r>
              <a:t> us-east-1 (primary) and us-east-2 (DR) both operational</a:t>
            </a:r>
          </a:p>
          <a:p>
            <a:pPr/>
            <a:r>
              <a:rPr b="1"/>
              <a:t>Workload Accounts:</a:t>
            </a:r>
            <a:r>
              <a:t> 2 accounts (1 Prod, 1 NonProd) vended and guardrail-enrolled</a:t>
            </a:r>
          </a:p>
          <a:p>
            <a:pPr/>
            <a:r>
              <a:rPr b="1"/>
              <a:t>ROI Status:</a:t>
            </a:r>
            <a:r>
              <a:t> Operational savings and governance value realised from day 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Governance &amp; Identity</a:t>
            </a:r>
          </a:p>
          <a:p>
            <a:pPr lvl="1"/>
            <a:r>
              <a:t>Control Tower + Organizations (multi-region)</a:t>
            </a:r>
          </a:p>
          <a:p>
            <a:pPr lvl="1"/>
            <a:r>
              <a:t>IAM Identity Center SSO (all accounts)</a:t>
            </a:r>
          </a:p>
          <a:p>
            <a:pPr lvl="1"/>
            <a:r>
              <a:t>SCPs/RCPs (7-OU policy enforcement)</a:t>
            </a:r>
          </a:p>
          <a:p>
            <a:pPr/>
            <a:r>
              <a:rPr b="1"/>
              <a:t>Networking</a:t>
            </a:r>
          </a:p>
          <a:p>
            <a:pPr lvl="1"/>
            <a:r>
              <a:t>Transit Gateway hub-spoke (both regions)</a:t>
            </a:r>
          </a:p>
          <a:p>
            <a:pPr lvl="1"/>
            <a:r>
              <a:t>Network Firewall (north-south + east-west)</a:t>
            </a:r>
          </a:p>
          <a:p>
            <a:pPr lvl="1"/>
            <a:r>
              <a:t>VPC IPAM + Site-to-Site VPN</a:t>
            </a:r>
          </a:p>
          <a:p>
            <a:pPr/>
            <a:r>
              <a:rPr b="1"/>
              <a:t>Security &amp; Automation</a:t>
            </a:r>
          </a:p>
          <a:p>
            <a:pPr lvl="1"/>
            <a:r>
              <a:t>Security Hub FSBP + GuardDuty (org-wide)</a:t>
            </a:r>
          </a:p>
          <a:p>
            <a:pPr lvl="1"/>
            <a:r>
              <a:t>AFT account vending pipeline (&lt;30 min)</a:t>
            </a:r>
          </a:p>
          <a:p>
            <a:pPr lvl="1"/>
            <a:r>
              <a:t>CloudTrail Lake + Config rules (both regions)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Phase 1 Architecture Design Doc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OU hierarchy, SCP/RCP, Identity Center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As-Built Architecture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Final production configuration reference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`/delivery/as-built-architecture.docx`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IaC Repository (Terraform + AFT)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infrastructure code for all components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CI/CD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Branch-protected IaC deployment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`/delivery/scripts/cicd/`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 (×6)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Account vending, SCP changes, incident response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SCP, vending, network, security, UAT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Administrator 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Recorded sessions for CT, AFT, Security Hub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Optimization Recommendations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Savings Plans, Direct Connect, TGW tuning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`/delivery/optimization-report.docx`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SCP Enforcement Tests: 100% pass rate</a:t>
            </a:r>
          </a:p>
          <a:p>
            <a:pPr lvl="1"/>
            <a:r>
              <a:t>Account Vending Runs: 3/3 under 30 min</a:t>
            </a:r>
          </a:p>
          <a:p>
            <a:pPr lvl="1"/>
            <a:r>
              <a:t>Security Hub FSBP Score: ≥80% at go-live</a:t>
            </a:r>
          </a:p>
          <a:p>
            <a:pPr lvl="1"/>
            <a:r>
              <a:t>Critical Findings at Go-Live: 0</a:t>
            </a:r>
          </a:p>
          <a:p>
            <a:pPr lvl="1"/>
            <a:r>
              <a:t>UAT Sign-Off: Obtained Week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Account Vending SLA: &lt;30 min (target &lt;30 min)</a:t>
            </a:r>
          </a:p>
          <a:p>
            <a:pPr lvl="1"/>
            <a:r>
              <a:t>IaC Coverage: ≥95% (target ≥95%)</a:t>
            </a:r>
          </a:p>
          <a:p>
            <a:pPr lvl="1"/>
            <a:r>
              <a:t>Accounts Guardrail-Enrolled: 100% (target 100%)</a:t>
            </a:r>
          </a:p>
          <a:p>
            <a:pPr lvl="1"/>
            <a:r>
              <a:t>Landing Zone RTO: &lt;4 hrs (target &lt;4 hrs)</a:t>
            </a:r>
          </a:p>
          <a:p>
            <a:pPr lvl="1"/>
            <a:r>
              <a:t>Config Recording Active: Both regions, all accounts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916405"/>
                <a:gridCol w="1916405"/>
                <a:gridCol w="209062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Account Provisioning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&lt;30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&lt;30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Self-service for new workloads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Guardrail Enrolment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at go-live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at go-live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Every account secure from creation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Security Findings at Go-Live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critical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 critical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Clean compliance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IaC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rebuild capability retained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Regions Governed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(us-east-1, us-east-2)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regions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Multi-region resilience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Workload Accounts Vended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≥2 by Month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(1 Prod, 1 NonProd)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Workload onboarding unblocked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Handover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runbooks +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 runbooks + 6 KT sessions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Client team self-sufficient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3-Year Cost Avoidance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Avoid re-architecture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~$300K+ avoided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Governed foundation from day one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Foundation-first phasing reduced delivery risk</a:t>
            </a:r>
          </a:p>
          <a:p>
            <a:pPr lvl="1"/>
            <a:r>
              <a:t>IaC-first approach enabled fast, repeatable deploys</a:t>
            </a:r>
          </a:p>
          <a:p>
            <a:pPr lvl="1"/>
            <a:r>
              <a:t>AFT validated in sandbox before production apply</a:t>
            </a:r>
          </a:p>
          <a:p>
            <a:pPr lvl="1"/>
            <a:r>
              <a:t>Weekly stakeholder check-ins maintained alignment</a:t>
            </a:r>
          </a:p>
          <a:p>
            <a:pPr lvl="1"/>
            <a:r>
              <a:t>ADR sign-off gate prevented Phase 2 scope creep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Identity source confirmation delayed to Week 3</a:t>
            </a:r>
          </a:p>
          <a:p>
            <a:pPr lvl="1"/>
            <a:r>
              <a:t>On-premises BGP unsupported; static routing used</a:t>
            </a:r>
          </a:p>
          <a:p>
            <a:pPr lvl="1"/>
            <a:r>
              <a:t>ADR document feedback cycle took 6 business days</a:t>
            </a:r>
          </a:p>
          <a:p>
            <a:pPr lvl="1"/>
            <a:r>
              <a:t>FSBP conformance pack tuning required extra iteration</a:t>
            </a:r>
          </a:p>
          <a:p>
            <a:pPr lvl="1"/>
            <a:r>
              <a:t>VPN routing validated later than planned in Week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Enable NIST 800-53 conformance pack in Security Hub</a:t>
            </a:r>
          </a:p>
          <a:p>
            <a:pPr lvl="1"/>
            <a:r>
              <a:t>Evaluate Direct Connect to replace Site-to-Site VPN</a:t>
            </a:r>
          </a:p>
          <a:p>
            <a:pPr lvl="1"/>
            <a:r>
              <a:t>Onboard additional workload accounts via AFT</a:t>
            </a:r>
          </a:p>
          <a:p>
            <a:pPr lvl="1"/>
            <a:r>
              <a:t>Assess Savings Plans at 3-month post-go-live mark</a:t>
            </a:r>
          </a:p>
          <a:p>
            <a:pPr lvl="1"/>
            <a:r>
              <a:t>Establish quarterly architecture and FinOps reviews</a:t>
            </a:r>
          </a:p>
          <a:p>
            <a:pPr lvl="1"/>
            <a:r>
              <a:t>Expand tagging governance with AWS Tag Policies audit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13–16 — Now Complete)</a:t>
            </a:r>
          </a:p>
          <a:p>
            <a:pPr lvl="1"/>
            <a:r>
              <a:t>Dedicated vendor support team active</a:t>
            </a:r>
          </a:p>
          <a:p>
            <a:pPr lvl="1"/>
            <a:r>
              <a:t>P1 response: 2-hour SLA (24×7)</a:t>
            </a:r>
          </a:p>
          <a:p>
            <a:pPr lvl="1"/>
            <a:r>
              <a:t>P2 response: 4-hour SLA (business hours)</a:t>
            </a:r>
          </a:p>
          <a:p>
            <a:pPr lvl="1"/>
            <a:r>
              <a:t>First live AFT workload vend supported</a:t>
            </a:r>
          </a:p>
          <a:p>
            <a:pPr lvl="1"/>
            <a:r>
              <a:t>Hypercare Closeout Report delivered Week 16</a:t>
            </a:r>
          </a:p>
          <a:p>
            <a:pPr/>
            <a:r>
              <a:rPr b="1"/>
              <a:t>Steady State (Week 17+)</a:t>
            </a:r>
          </a:p>
          <a:p>
            <a:pPr lvl="1"/>
            <a:r>
              <a:t>Client team confirmed fully self-sufficient</a:t>
            </a:r>
          </a:p>
          <a:p>
            <a:pPr lvl="1"/>
            <a:r>
              <a:t>6 runbooks cover all routine operations</a:t>
            </a:r>
          </a:p>
          <a:p>
            <a:pPr lvl="1"/>
            <a:r>
              <a:t>6 recorded KT sessions available on demand</a:t>
            </a:r>
          </a:p>
          <a:p>
            <a:pPr lvl="1"/>
            <a:r>
              <a:t>AWS Business Support plan active ($4,200/yr)</a:t>
            </a:r>
          </a:p>
          <a:p>
            <a:pPr lvl="1"/>
            <a:r>
              <a:t>Quarterly architecture review recommended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Contacts</a:t>
            </a:r>
          </a:p>
          <a:p>
            <a:pPr lvl="1"/>
            <a:r>
              <a:t>AWS Business Support (P1: &lt;1-hour response 24×7)</a:t>
            </a:r>
          </a:p>
          <a:p>
            <a:pPr lvl="1"/>
            <a:r>
              <a:t>Amatra Account Manager for new engagement scope</a:t>
            </a:r>
          </a:p>
          <a:p>
            <a:pPr lvl="1"/>
            <a:r>
              <a:t>Amatra Managed Services for ongoing operations</a:t>
            </a:r>
          </a:p>
          <a:p>
            <a:pPr lvl="1"/>
            <a:r>
              <a:t>AWS Partner Network support via Amatra portal</a:t>
            </a:r>
          </a:p>
          <a:p>
            <a:pPr lvl="1"/>
            <a:r>
              <a:t>Break-glass process documented with Security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Executive Sponsor for leadership, ADR approval, and UAT sign-off</a:t>
            </a:r>
          </a:p>
          <a:p>
            <a:pPr/>
            <a:r>
              <a:t>Client IT Owner for technical availability and deliverable acceptance</a:t>
            </a:r>
          </a:p>
          <a:p>
            <a:pPr/>
            <a:r>
              <a:t>Client Security Lead for SCP and compliance design input</a:t>
            </a:r>
          </a:p>
          <a:p>
            <a:pPr/>
            <a:r>
              <a:t>Client Networking Lead for on-premises VPN configuration</a:t>
            </a:r>
          </a:p>
          <a:p>
            <a:pPr/>
            <a:r>
              <a:rPr b="1"/>
              <a:t>This Week:</a:t>
            </a:r>
            <a:r>
              <a:t> Formal closeout and final documentation handover</a:t>
            </a:r>
          </a:p>
          <a:p>
            <a:pPr/>
            <a:r>
              <a:rPr b="1"/>
              <a:t>Next 30 Days:</a:t>
            </a:r>
            <a:r>
              <a:t> 90-day check-in to review Security Hub score trends</a:t>
            </a:r>
          </a:p>
          <a:p>
            <a:pPr/>
            <a:r>
              <a:rPr b="1"/>
              <a:t>Next Quarter:</a:t>
            </a:r>
            <a:r>
              <a:t> Phase 2 planning — NIST 800-53, Direct Connect, Savings Plans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Multi-Account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