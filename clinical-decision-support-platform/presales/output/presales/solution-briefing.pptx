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media/image1.bin" ContentType="image/unknown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9"/>
  </p:notesMasterIdLst>
  <p:sldIdLst>
    <p:sldId id="256" r:id="rId7"/>
    <p:sldId id="257" r:id="rId8"/>
    <p:sldId id="258" r:id="rId6"/>
    <p:sldId id="259" r:id="rId5"/>
    <p:sldId id="260" r:id="rId4"/>
    <p:sldId id="261" r:id="rId3"/>
    <p:sldId id="262" r:id="rId2"/>
    <p:sldId id="263" r:id="rId14"/>
    <p:sldId id="264" r:id="rId15"/>
    <p:sldId id="265" r:id="rId16"/>
    <p:sldId id="266" r:id="rId17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A01C0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E3FDE45-AF77-4B5C-9715-49D594BDF05E}" styleName="Light Style 1 - Accent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35" d="100"/>
          <a:sy n="135" d="100"/>
        </p:scale>
        <p:origin x="380" y="3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 snapToObjects="1">
      <p:cViewPr varScale="1">
        <p:scale>
          <a:sx n="83" d="100"/>
          <a:sy n="83" d="100"/>
        </p:scale>
        <p:origin x="3732" y="76"/>
      </p:cViewPr>
      <p:guideLst/>
    </p:cSldViewPr>
  </p:notes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7.xml"/><Relationship Id="rId3" Type="http://schemas.openxmlformats.org/officeDocument/2006/relationships/slide" Target="slides/slide6.xml"/><Relationship Id="rId4" Type="http://schemas.openxmlformats.org/officeDocument/2006/relationships/slide" Target="slides/slide5.xml"/><Relationship Id="rId5" Type="http://schemas.openxmlformats.org/officeDocument/2006/relationships/slide" Target="slides/slide4.xml"/><Relationship Id="rId6" Type="http://schemas.openxmlformats.org/officeDocument/2006/relationships/slide" Target="slides/slide3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17145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514350" y="4400550"/>
            <a:ext cx="4114800" cy="3600450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16738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bin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bin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O 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8D36A0E4-7374-4A92-CEC2-AC1CC29B855F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2180492" y="171206"/>
            <a:ext cx="3978520" cy="1314694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pic>
        <p:nvPicPr>
          <p:cNvPr id="5" name="Image 0" descr="/home/claude/eo-framework-logo.png">
            <a:extLst>
              <a:ext uri="{FF2B5EF4-FFF2-40B4-BE49-F238E27FC236}">
                <a16:creationId xmlns:a16="http://schemas.microsoft.com/office/drawing/2014/main" id="{028AFAE3-D949-BFF8-132D-C3956962B6BC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6945879" y="4648200"/>
            <a:ext cx="1952244" cy="417576"/>
          </a:xfrm>
          <a:prstGeom prst="rect">
            <a:avLst/>
          </a:prstGeom>
        </p:spPr>
      </p:pic>
      <p:sp>
        <p:nvSpPr>
          <p:cNvPr id="6" name="Text Placeholder 8">
            <a:extLst>
              <a:ext uri="{FF2B5EF4-FFF2-40B4-BE49-F238E27FC236}">
                <a16:creationId xmlns:a16="http://schemas.microsoft.com/office/drawing/2014/main" id="{ABC2FEB1-3552-40B4-D5D2-8C9A2DF4EF3E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38528" y="1886679"/>
            <a:ext cx="7671288" cy="527050"/>
          </a:xfrm>
          <a:prstGeom prst="rect">
            <a:avLst/>
          </a:prstGeom>
        </p:spPr>
        <p:txBody>
          <a:bodyPr/>
          <a:lstStyle>
            <a:lvl1pPr marL="0" indent="0" algn="ctr">
              <a:lnSpc>
                <a:spcPts val="3600"/>
              </a:lnSpc>
              <a:buNone/>
              <a:defRPr sz="3600" b="1" i="0" baseline="0">
                <a:latin typeface="Arial" panose="020B0604020202020204" pitchFamily="34" charset="0"/>
              </a:defRPr>
            </a:lvl1pPr>
          </a:lstStyle>
          <a:p>
            <a:pPr marL="0" indent="0" algn="ctr">
              <a:lnSpc>
                <a:spcPts val="3600"/>
              </a:lnSpc>
              <a:buNone/>
            </a:pPr>
            <a:r>
              <a:rPr lang="en-US" sz="3600" b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Presentation Title</a:t>
            </a:r>
            <a:endParaRPr lang="en-US" sz="3600" dirty="0"/>
          </a:p>
        </p:txBody>
      </p:sp>
      <p:sp>
        <p:nvSpPr>
          <p:cNvPr id="7" name="Picture Placeholder 13">
            <a:extLst>
              <a:ext uri="{FF2B5EF4-FFF2-40B4-BE49-F238E27FC236}">
                <a16:creationId xmlns:a16="http://schemas.microsoft.com/office/drawing/2014/main" id="{86145EB1-48C8-058E-F657-82D57B579544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313591" y="4536078"/>
            <a:ext cx="2099897" cy="529698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8" name="Text 0">
            <a:extLst>
              <a:ext uri="{FF2B5EF4-FFF2-40B4-BE49-F238E27FC236}">
                <a16:creationId xmlns:a16="http://schemas.microsoft.com/office/drawing/2014/main" id="{D51056DC-8081-0916-0351-65D88D1682B8}"/>
              </a:ext>
            </a:extLst>
          </p:cNvPr>
          <p:cNvSpPr/>
          <p:nvPr userDrawn="1"/>
        </p:nvSpPr>
        <p:spPr>
          <a:xfrm>
            <a:off x="2224455" y="1676475"/>
            <a:ext cx="3886322" cy="45719"/>
          </a:xfrm>
          <a:prstGeom prst="roundRect">
            <a:avLst>
              <a:gd name="adj" fmla="val 50000"/>
            </a:avLst>
          </a:prstGeom>
          <a:solidFill>
            <a:srgbClr val="CC0000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DC531180-94E5-3403-56E5-895E003A9D72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059473" y="2437679"/>
            <a:ext cx="6629399" cy="334598"/>
          </a:xfrm>
          <a:prstGeom prst="rect">
            <a:avLst/>
          </a:prstGeom>
        </p:spPr>
        <p:txBody>
          <a:bodyPr/>
          <a:lstStyle>
            <a:lvl1pPr marL="0" marR="0" indent="0" algn="ctr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 sz="18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r>
              <a:rPr lang="en-US" sz="1800" dirty="0">
                <a:solidFill>
                  <a:srgbClr val="6C75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Subtitle Text</a:t>
            </a:r>
            <a:endParaRPr lang="en-US" sz="1800" dirty="0"/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39F5D3C5-0033-51A7-77BC-7E3DBBF84F2E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2734286" y="3631467"/>
            <a:ext cx="3605212" cy="334963"/>
          </a:xfrm>
          <a:prstGeom prst="rect">
            <a:avLst/>
          </a:prstGeom>
        </p:spPr>
        <p:txBody>
          <a:bodyPr/>
          <a:lstStyle>
            <a:lvl1pPr marL="0" marR="0" indent="0" algn="ctr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 sz="14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sz="1400" dirty="0">
                <a:solidFill>
                  <a:srgbClr val="6C757D"/>
                </a:solidFill>
                <a:latin typeface="Arial" pitchFamily="34" charset="0"/>
                <a:cs typeface="Arial" pitchFamily="34" charset="-120"/>
              </a:rPr>
              <a:t>Presenter Name | Date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1143506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O Singl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icture Placeholder 13">
            <a:extLst>
              <a:ext uri="{FF2B5EF4-FFF2-40B4-BE49-F238E27FC236}">
                <a16:creationId xmlns:a16="http://schemas.microsoft.com/office/drawing/2014/main" id="{2DB97592-C4D5-B315-7F11-AA14F6EE8A62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313593" y="4536078"/>
            <a:ext cx="2143858" cy="529698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4EA828A1-D5D6-9ADA-1918-E5FE226673A0}"/>
              </a:ext>
            </a:extLst>
          </p:cNvPr>
          <p:cNvSpPr/>
          <p:nvPr userDrawn="1"/>
        </p:nvSpPr>
        <p:spPr>
          <a:xfrm>
            <a:off x="0" y="606304"/>
            <a:ext cx="9144000" cy="0"/>
          </a:xfrm>
          <a:prstGeom prst="line">
            <a:avLst/>
          </a:prstGeom>
          <a:noFill/>
          <a:ln w="28575">
            <a:solidFill>
              <a:srgbClr val="CC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980A86D4-478F-6846-9F0A-B815F2A3AB2D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96863" y="0"/>
            <a:ext cx="8509304" cy="527008"/>
          </a:xfrm>
          <a:prstGeom prst="rect">
            <a:avLst/>
          </a:prstGeom>
        </p:spPr>
        <p:txBody>
          <a:bodyPr/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 sz="2700" b="1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Slide Title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4BEE1A0-720D-187D-95F8-429F3DF3D64E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296863" y="685601"/>
            <a:ext cx="8548687" cy="3811657"/>
          </a:xfrm>
          <a:prstGeom prst="rect">
            <a:avLst/>
          </a:prstGeom>
        </p:spPr>
        <p:txBody>
          <a:bodyPr/>
          <a:lstStyle>
            <a:lvl1pPr>
              <a:defRPr sz="2000" b="1" baseline="0">
                <a:solidFill>
                  <a:srgbClr val="C00000"/>
                </a:solidFill>
              </a:defRPr>
            </a:lvl1pPr>
            <a:lvl2pPr>
              <a:buFont typeface="Arial" panose="020B0604020202020204" pitchFamily="34" charset="0"/>
              <a:buChar char="•"/>
              <a:defRPr sz="1600"/>
            </a:lvl2pPr>
            <a:lvl3pPr>
              <a:defRPr sz="1400"/>
            </a:lvl3pPr>
            <a:lvl4pPr>
              <a:buFont typeface="Arial" panose="020B0604020202020204" pitchFamily="34" charset="0"/>
              <a:buChar char="•"/>
              <a:defRPr sz="1200"/>
            </a:lvl4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7F71806-AFEA-DD6D-E6AA-E2A002E682DE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5627076" y="4738688"/>
            <a:ext cx="3218473" cy="238125"/>
          </a:xfrm>
          <a:prstGeom prst="rect">
            <a:avLst/>
          </a:prstGeom>
        </p:spPr>
        <p:txBody>
          <a:bodyPr/>
          <a:lstStyle>
            <a:lvl5pPr algn="r">
              <a:buNone/>
              <a:defRPr sz="1100"/>
            </a:lvl5pPr>
          </a:lstStyle>
          <a:p>
            <a:pPr lvl="4"/>
            <a:r>
              <a:rPr lang="en-US" dirty="0"/>
              <a:t>Project Name</a:t>
            </a:r>
          </a:p>
        </p:txBody>
      </p:sp>
    </p:spTree>
    <p:extLst>
      <p:ext uri="{BB962C8B-B14F-4D97-AF65-F5344CB8AC3E}">
        <p14:creationId xmlns:p14="http://schemas.microsoft.com/office/powerpoint/2010/main" val="104623962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O Bullet Poin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icture Placeholder 13">
            <a:extLst>
              <a:ext uri="{FF2B5EF4-FFF2-40B4-BE49-F238E27FC236}">
                <a16:creationId xmlns:a16="http://schemas.microsoft.com/office/drawing/2014/main" id="{2DB97592-C4D5-B315-7F11-AA14F6EE8A62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313593" y="4536078"/>
            <a:ext cx="2143858" cy="529698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4EA828A1-D5D6-9ADA-1918-E5FE226673A0}"/>
              </a:ext>
            </a:extLst>
          </p:cNvPr>
          <p:cNvSpPr/>
          <p:nvPr userDrawn="1"/>
        </p:nvSpPr>
        <p:spPr>
          <a:xfrm>
            <a:off x="0" y="606304"/>
            <a:ext cx="9144000" cy="0"/>
          </a:xfrm>
          <a:prstGeom prst="line">
            <a:avLst/>
          </a:prstGeom>
          <a:noFill/>
          <a:ln w="28575">
            <a:solidFill>
              <a:srgbClr val="CC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980A86D4-478F-6846-9F0A-B815F2A3AB2D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96863" y="0"/>
            <a:ext cx="8509304" cy="527008"/>
          </a:xfrm>
          <a:prstGeom prst="rect">
            <a:avLst/>
          </a:prstGeom>
        </p:spPr>
        <p:txBody>
          <a:bodyPr/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 sz="2700" b="1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Bullet Points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4BEE1A0-720D-187D-95F8-429F3DF3D64E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296863" y="685601"/>
            <a:ext cx="8548687" cy="3811657"/>
          </a:xfrm>
          <a:prstGeom prst="rect">
            <a:avLst/>
          </a:prstGeom>
        </p:spPr>
        <p:txBody>
          <a:bodyPr/>
          <a:lstStyle>
            <a:lvl1pPr>
              <a:defRPr sz="2000" baseline="0">
                <a:solidFill>
                  <a:schemeClr val="tx1"/>
                </a:solidFill>
              </a:defRPr>
            </a:lvl1pPr>
            <a:lvl2pPr>
              <a:buFont typeface="Arial" panose="020B0604020202020204" pitchFamily="34" charset="0"/>
              <a:buChar char="•"/>
              <a:defRPr sz="1600"/>
            </a:lvl2pPr>
            <a:lvl3pPr>
              <a:defRPr sz="1400"/>
            </a:lvl3pPr>
            <a:lvl4pPr>
              <a:buFont typeface="Arial" panose="020B0604020202020204" pitchFamily="34" charset="0"/>
              <a:buChar char="•"/>
              <a:defRPr sz="1200"/>
            </a:lvl4pPr>
          </a:lstStyle>
          <a:p>
            <a:pPr lvl="0"/>
            <a:r>
              <a:rPr lang="en-US" dirty="0"/>
              <a:t>Bullet Point 1</a:t>
            </a:r>
          </a:p>
          <a:p>
            <a:pPr lvl="0"/>
            <a:r>
              <a:rPr lang="en-US" dirty="0"/>
              <a:t>Bullet Point 2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62079A5-28FD-9D2F-2B9B-2FC8F9339A31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5627076" y="4738688"/>
            <a:ext cx="3218473" cy="238125"/>
          </a:xfrm>
          <a:prstGeom prst="rect">
            <a:avLst/>
          </a:prstGeom>
        </p:spPr>
        <p:txBody>
          <a:bodyPr/>
          <a:lstStyle>
            <a:lvl5pPr algn="r">
              <a:buNone/>
              <a:defRPr sz="1100"/>
            </a:lvl5pPr>
          </a:lstStyle>
          <a:p>
            <a:pPr lvl="4"/>
            <a:r>
              <a:rPr lang="en-US" dirty="0"/>
              <a:t>Project Name</a:t>
            </a:r>
          </a:p>
        </p:txBody>
      </p:sp>
    </p:spTree>
    <p:extLst>
      <p:ext uri="{BB962C8B-B14F-4D97-AF65-F5344CB8AC3E}">
        <p14:creationId xmlns:p14="http://schemas.microsoft.com/office/powerpoint/2010/main" val="109073776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O Two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icture Placeholder 13">
            <a:extLst>
              <a:ext uri="{FF2B5EF4-FFF2-40B4-BE49-F238E27FC236}">
                <a16:creationId xmlns:a16="http://schemas.microsoft.com/office/drawing/2014/main" id="{6A0FA445-7602-F06E-EC73-5504EBF827CC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313592" y="4536078"/>
            <a:ext cx="2121877" cy="529698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4EA828A1-D5D6-9ADA-1918-E5FE226673A0}"/>
              </a:ext>
            </a:extLst>
          </p:cNvPr>
          <p:cNvSpPr/>
          <p:nvPr userDrawn="1"/>
        </p:nvSpPr>
        <p:spPr>
          <a:xfrm>
            <a:off x="0" y="606304"/>
            <a:ext cx="9144000" cy="0"/>
          </a:xfrm>
          <a:prstGeom prst="line">
            <a:avLst/>
          </a:prstGeom>
          <a:noFill/>
          <a:ln w="28575">
            <a:solidFill>
              <a:srgbClr val="CC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980A86D4-478F-6846-9F0A-B815F2A3AB2D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57174" y="7163"/>
            <a:ext cx="8530738" cy="527013"/>
          </a:xfrm>
          <a:prstGeom prst="rect">
            <a:avLst/>
          </a:prstGeom>
        </p:spPr>
        <p:txBody>
          <a:bodyPr/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 sz="2700" b="1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Two Column Layout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229E4A97-A874-D6CA-E54C-5584536CAA7C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193675" y="678433"/>
            <a:ext cx="4431079" cy="3785515"/>
          </a:xfrm>
          <a:prstGeom prst="rect">
            <a:avLst/>
          </a:prstGeom>
        </p:spPr>
        <p:txBody>
          <a:bodyPr/>
          <a:lstStyle>
            <a:lvl1pPr>
              <a:defRPr sz="1800" b="1">
                <a:solidFill>
                  <a:srgbClr val="C00000"/>
                </a:solidFill>
              </a:defRPr>
            </a:lvl1pPr>
            <a:lvl2pPr>
              <a:defRPr sz="14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 dirty="0"/>
              <a:t>Left Column Sub Title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EF61ADBD-DA9D-A8A7-8FC3-64E82242B983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4721470" y="678433"/>
            <a:ext cx="4228856" cy="3785515"/>
          </a:xfrm>
          <a:prstGeom prst="rect">
            <a:avLst/>
          </a:prstGeom>
        </p:spPr>
        <p:txBody>
          <a:bodyPr/>
          <a:lstStyle>
            <a:lvl1pPr>
              <a:defRPr sz="1800" b="1">
                <a:solidFill>
                  <a:srgbClr val="C00000"/>
                </a:solidFill>
              </a:defRPr>
            </a:lvl1pPr>
            <a:lvl2pPr>
              <a:defRPr sz="14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 dirty="0"/>
              <a:t>Right Column Sub title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Text Placeholder 4">
            <a:extLst>
              <a:ext uri="{FF2B5EF4-FFF2-40B4-BE49-F238E27FC236}">
                <a16:creationId xmlns:a16="http://schemas.microsoft.com/office/drawing/2014/main" id="{5DF49ED0-89F0-F008-ADD7-D71F338C8B9B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5697414" y="4681864"/>
            <a:ext cx="3218473" cy="238125"/>
          </a:xfrm>
          <a:prstGeom prst="rect">
            <a:avLst/>
          </a:prstGeom>
        </p:spPr>
        <p:txBody>
          <a:bodyPr/>
          <a:lstStyle>
            <a:lvl5pPr algn="r">
              <a:buNone/>
              <a:defRPr sz="1100"/>
            </a:lvl5pPr>
          </a:lstStyle>
          <a:p>
            <a:pPr lvl="4"/>
            <a:r>
              <a:rPr lang="en-US" dirty="0"/>
              <a:t>Project Name</a:t>
            </a:r>
          </a:p>
        </p:txBody>
      </p:sp>
    </p:spTree>
    <p:extLst>
      <p:ext uri="{BB962C8B-B14F-4D97-AF65-F5344CB8AC3E}">
        <p14:creationId xmlns:p14="http://schemas.microsoft.com/office/powerpoint/2010/main" val="124373098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O 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icture Placeholder 13">
            <a:extLst>
              <a:ext uri="{FF2B5EF4-FFF2-40B4-BE49-F238E27FC236}">
                <a16:creationId xmlns:a16="http://schemas.microsoft.com/office/drawing/2014/main" id="{2DB97592-C4D5-B315-7F11-AA14F6EE8A62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313592" y="4536078"/>
            <a:ext cx="2126273" cy="529698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4EA828A1-D5D6-9ADA-1918-E5FE226673A0}"/>
              </a:ext>
            </a:extLst>
          </p:cNvPr>
          <p:cNvSpPr/>
          <p:nvPr userDrawn="1"/>
        </p:nvSpPr>
        <p:spPr>
          <a:xfrm>
            <a:off x="0" y="606304"/>
            <a:ext cx="9144000" cy="0"/>
          </a:xfrm>
          <a:prstGeom prst="line">
            <a:avLst/>
          </a:prstGeom>
          <a:noFill/>
          <a:ln w="28575">
            <a:solidFill>
              <a:srgbClr val="CC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980A86D4-478F-6846-9F0A-B815F2A3AB2D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56855" y="39642"/>
            <a:ext cx="8710933" cy="527013"/>
          </a:xfrm>
          <a:prstGeom prst="rect">
            <a:avLst/>
          </a:prstGeom>
        </p:spPr>
        <p:txBody>
          <a:bodyPr/>
          <a:lstStyle>
            <a:lvl1pPr marL="0" marR="0" indent="0" algn="ctr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 sz="27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r>
              <a:rPr lang="en-US" sz="2700" b="1" dirty="0">
                <a:solidFill>
                  <a:srgbClr val="2C3E50"/>
                </a:solidFill>
                <a:latin typeface="Arial" pitchFamily="34" charset="0"/>
                <a:cs typeface="Arial" pitchFamily="34" charset="-120"/>
              </a:rPr>
              <a:t>Table</a:t>
            </a:r>
            <a:endParaRPr lang="en-US" sz="3200" dirty="0"/>
          </a:p>
          <a:p>
            <a:pPr lvl="0"/>
            <a:endParaRPr lang="en-US" dirty="0"/>
          </a:p>
        </p:txBody>
      </p:sp>
      <p:sp>
        <p:nvSpPr>
          <p:cNvPr id="5" name="Table Placeholder 4">
            <a:extLst>
              <a:ext uri="{FF2B5EF4-FFF2-40B4-BE49-F238E27FC236}">
                <a16:creationId xmlns:a16="http://schemas.microsoft.com/office/drawing/2014/main" id="{D3D9E4F7-6B7D-2205-75B9-EE8C54E89A5F}"/>
              </a:ext>
            </a:extLst>
          </p:cNvPr>
          <p:cNvSpPr>
            <a:spLocks noGrp="1"/>
          </p:cNvSpPr>
          <p:nvPr>
            <p:ph type="tbl" sz="quarter" idx="14"/>
          </p:nvPr>
        </p:nvSpPr>
        <p:spPr>
          <a:xfrm>
            <a:off x="256855" y="677011"/>
            <a:ext cx="8710933" cy="3785084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4" name="Text Placeholder 4">
            <a:extLst>
              <a:ext uri="{FF2B5EF4-FFF2-40B4-BE49-F238E27FC236}">
                <a16:creationId xmlns:a16="http://schemas.microsoft.com/office/drawing/2014/main" id="{A00DC936-676C-1BAA-B4B4-D45CC5951D6E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5749315" y="4681864"/>
            <a:ext cx="3218473" cy="238125"/>
          </a:xfrm>
          <a:prstGeom prst="rect">
            <a:avLst/>
          </a:prstGeom>
        </p:spPr>
        <p:txBody>
          <a:bodyPr/>
          <a:lstStyle>
            <a:lvl5pPr algn="r">
              <a:buNone/>
              <a:defRPr sz="1100"/>
            </a:lvl5pPr>
          </a:lstStyle>
          <a:p>
            <a:pPr lvl="4"/>
            <a:r>
              <a:rPr lang="en-US" dirty="0"/>
              <a:t>Project Name</a:t>
            </a:r>
          </a:p>
        </p:txBody>
      </p:sp>
    </p:spTree>
    <p:extLst>
      <p:ext uri="{BB962C8B-B14F-4D97-AF65-F5344CB8AC3E}">
        <p14:creationId xmlns:p14="http://schemas.microsoft.com/office/powerpoint/2010/main" val="281483460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O Visual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icture Placeholder 13">
            <a:extLst>
              <a:ext uri="{FF2B5EF4-FFF2-40B4-BE49-F238E27FC236}">
                <a16:creationId xmlns:a16="http://schemas.microsoft.com/office/drawing/2014/main" id="{6A0FA445-7602-F06E-EC73-5504EBF827CC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313592" y="4536078"/>
            <a:ext cx="2130670" cy="529698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4EA828A1-D5D6-9ADA-1918-E5FE226673A0}"/>
              </a:ext>
            </a:extLst>
          </p:cNvPr>
          <p:cNvSpPr/>
          <p:nvPr userDrawn="1"/>
        </p:nvSpPr>
        <p:spPr>
          <a:xfrm>
            <a:off x="0" y="606304"/>
            <a:ext cx="9144000" cy="0"/>
          </a:xfrm>
          <a:prstGeom prst="line">
            <a:avLst/>
          </a:prstGeom>
          <a:noFill/>
          <a:ln w="28575">
            <a:solidFill>
              <a:srgbClr val="CC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980A86D4-478F-6846-9F0A-B815F2A3AB2D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57174" y="7163"/>
            <a:ext cx="8742364" cy="527013"/>
          </a:xfrm>
          <a:prstGeom prst="rect">
            <a:avLst/>
          </a:prstGeom>
        </p:spPr>
        <p:txBody>
          <a:bodyPr/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 sz="2700" b="1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Visual Content</a:t>
            </a:r>
          </a:p>
        </p:txBody>
      </p:sp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D4B682B8-2171-423F-A77B-10BADD07BC6C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4662488" y="685799"/>
            <a:ext cx="4337050" cy="3815859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1EE9992-B6F6-08BF-BFB5-6AF6BEDE367A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92075" y="685800"/>
            <a:ext cx="4449763" cy="3815859"/>
          </a:xfrm>
          <a:prstGeom prst="rect">
            <a:avLst/>
          </a:prstGeom>
        </p:spPr>
        <p:txBody>
          <a:bodyPr/>
          <a:lstStyle>
            <a:lvl1pPr>
              <a:defRPr sz="1800" b="1">
                <a:solidFill>
                  <a:srgbClr val="C00000"/>
                </a:solidFill>
              </a:defRPr>
            </a:lvl1pPr>
            <a:lvl2pPr>
              <a:defRPr sz="14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6D03683B-7C4B-D474-74C5-EC53E3BB515B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5781065" y="4729530"/>
            <a:ext cx="3218473" cy="238125"/>
          </a:xfrm>
          <a:prstGeom prst="rect">
            <a:avLst/>
          </a:prstGeom>
        </p:spPr>
        <p:txBody>
          <a:bodyPr/>
          <a:lstStyle>
            <a:lvl5pPr algn="r">
              <a:buNone/>
              <a:defRPr sz="1100"/>
            </a:lvl5pPr>
          </a:lstStyle>
          <a:p>
            <a:pPr lvl="4"/>
            <a:r>
              <a:rPr lang="en-US" dirty="0"/>
              <a:t>Project Name</a:t>
            </a:r>
          </a:p>
        </p:txBody>
      </p:sp>
    </p:spTree>
    <p:extLst>
      <p:ext uri="{BB962C8B-B14F-4D97-AF65-F5344CB8AC3E}">
        <p14:creationId xmlns:p14="http://schemas.microsoft.com/office/powerpoint/2010/main" val="94405969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O Data Visualiza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icture Placeholder 13">
            <a:extLst>
              <a:ext uri="{FF2B5EF4-FFF2-40B4-BE49-F238E27FC236}">
                <a16:creationId xmlns:a16="http://schemas.microsoft.com/office/drawing/2014/main" id="{6A0FA445-7602-F06E-EC73-5504EBF827CC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313592" y="4536078"/>
            <a:ext cx="2104294" cy="529698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4EA828A1-D5D6-9ADA-1918-E5FE226673A0}"/>
              </a:ext>
            </a:extLst>
          </p:cNvPr>
          <p:cNvSpPr/>
          <p:nvPr userDrawn="1"/>
        </p:nvSpPr>
        <p:spPr>
          <a:xfrm>
            <a:off x="0" y="606304"/>
            <a:ext cx="9144000" cy="0"/>
          </a:xfrm>
          <a:prstGeom prst="line">
            <a:avLst/>
          </a:prstGeom>
          <a:noFill/>
          <a:ln w="28575">
            <a:solidFill>
              <a:srgbClr val="CC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980A86D4-478F-6846-9F0A-B815F2A3AB2D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57174" y="7163"/>
            <a:ext cx="8640764" cy="527013"/>
          </a:xfrm>
          <a:prstGeom prst="rect">
            <a:avLst/>
          </a:prstGeom>
        </p:spPr>
        <p:txBody>
          <a:bodyPr/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 sz="2700" b="1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Data Visualization</a:t>
            </a:r>
          </a:p>
        </p:txBody>
      </p:sp>
      <p:sp>
        <p:nvSpPr>
          <p:cNvPr id="5" name="Chart Placeholder 4">
            <a:extLst>
              <a:ext uri="{FF2B5EF4-FFF2-40B4-BE49-F238E27FC236}">
                <a16:creationId xmlns:a16="http://schemas.microsoft.com/office/drawing/2014/main" id="{A686C49F-4337-BBE6-FF21-682B01E38601}"/>
              </a:ext>
            </a:extLst>
          </p:cNvPr>
          <p:cNvSpPr>
            <a:spLocks noGrp="1"/>
          </p:cNvSpPr>
          <p:nvPr>
            <p:ph type="chart" sz="quarter" idx="15"/>
          </p:nvPr>
        </p:nvSpPr>
        <p:spPr>
          <a:xfrm>
            <a:off x="4572000" y="685597"/>
            <a:ext cx="4325938" cy="3778347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0B730E7-C68E-A3E8-1745-8AF89C786D5F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136525" y="678433"/>
            <a:ext cx="4237038" cy="3785513"/>
          </a:xfrm>
          <a:prstGeom prst="rect">
            <a:avLst/>
          </a:prstGeom>
        </p:spPr>
        <p:txBody>
          <a:bodyPr/>
          <a:lstStyle>
            <a:lvl1pPr>
              <a:defRPr sz="1800" b="1">
                <a:solidFill>
                  <a:srgbClr val="C00000"/>
                </a:solidFill>
              </a:defRPr>
            </a:lvl1pPr>
            <a:lvl2pPr>
              <a:defRPr sz="14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Text Placeholder 4">
            <a:extLst>
              <a:ext uri="{FF2B5EF4-FFF2-40B4-BE49-F238E27FC236}">
                <a16:creationId xmlns:a16="http://schemas.microsoft.com/office/drawing/2014/main" id="{A1231DFE-6A5A-950E-159E-9E1D3D45FD36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5679465" y="4681864"/>
            <a:ext cx="3218473" cy="238125"/>
          </a:xfrm>
          <a:prstGeom prst="rect">
            <a:avLst/>
          </a:prstGeom>
        </p:spPr>
        <p:txBody>
          <a:bodyPr/>
          <a:lstStyle>
            <a:lvl5pPr algn="r">
              <a:buNone/>
              <a:defRPr sz="900"/>
            </a:lvl5pPr>
          </a:lstStyle>
          <a:p>
            <a:pPr lvl="4"/>
            <a:r>
              <a:rPr lang="en-US" dirty="0"/>
              <a:t>Project Name</a:t>
            </a:r>
          </a:p>
        </p:txBody>
      </p:sp>
    </p:spTree>
    <p:extLst>
      <p:ext uri="{BB962C8B-B14F-4D97-AF65-F5344CB8AC3E}">
        <p14:creationId xmlns:p14="http://schemas.microsoft.com/office/powerpoint/2010/main" val="47354944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O Thank Yo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8D36A0E4-7374-4A92-CEC2-AC1CC29B855F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2180492" y="171206"/>
            <a:ext cx="3978520" cy="1314694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pic>
        <p:nvPicPr>
          <p:cNvPr id="5" name="Image 0" descr="/home/claude/eo-framework-logo.png">
            <a:extLst>
              <a:ext uri="{FF2B5EF4-FFF2-40B4-BE49-F238E27FC236}">
                <a16:creationId xmlns:a16="http://schemas.microsoft.com/office/drawing/2014/main" id="{028AFAE3-D949-BFF8-132D-C3956962B6BC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6945879" y="4648200"/>
            <a:ext cx="1952244" cy="417576"/>
          </a:xfrm>
          <a:prstGeom prst="rect">
            <a:avLst/>
          </a:prstGeom>
        </p:spPr>
      </p:pic>
      <p:sp>
        <p:nvSpPr>
          <p:cNvPr id="6" name="Text Placeholder 8">
            <a:extLst>
              <a:ext uri="{FF2B5EF4-FFF2-40B4-BE49-F238E27FC236}">
                <a16:creationId xmlns:a16="http://schemas.microsoft.com/office/drawing/2014/main" id="{ABC2FEB1-3552-40B4-D5D2-8C9A2DF4EF3E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736356" y="2247927"/>
            <a:ext cx="7671288" cy="527050"/>
          </a:xfrm>
          <a:prstGeom prst="rect">
            <a:avLst/>
          </a:prstGeom>
        </p:spPr>
        <p:txBody>
          <a:bodyPr/>
          <a:lstStyle>
            <a:lvl1pPr marL="0" indent="0" algn="ctr">
              <a:lnSpc>
                <a:spcPts val="3600"/>
              </a:lnSpc>
              <a:buNone/>
              <a:defRPr sz="3600" b="1" i="0" baseline="0">
                <a:latin typeface="Arial" panose="020B0604020202020204" pitchFamily="34" charset="0"/>
              </a:defRPr>
            </a:lvl1pPr>
          </a:lstStyle>
          <a:p>
            <a:pPr marL="0" indent="0" algn="ctr">
              <a:lnSpc>
                <a:spcPts val="3600"/>
              </a:lnSpc>
              <a:buNone/>
            </a:pPr>
            <a:r>
              <a:rPr lang="en-US" sz="3600" b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Thank You</a:t>
            </a:r>
          </a:p>
          <a:p>
            <a:pPr marL="0" indent="0" algn="ctr">
              <a:lnSpc>
                <a:spcPts val="3600"/>
              </a:lnSpc>
              <a:buNone/>
            </a:pPr>
            <a:endParaRPr lang="en-US" sz="3600" dirty="0"/>
          </a:p>
        </p:txBody>
      </p:sp>
      <p:sp>
        <p:nvSpPr>
          <p:cNvPr id="7" name="Picture Placeholder 13">
            <a:extLst>
              <a:ext uri="{FF2B5EF4-FFF2-40B4-BE49-F238E27FC236}">
                <a16:creationId xmlns:a16="http://schemas.microsoft.com/office/drawing/2014/main" id="{86145EB1-48C8-058E-F657-82D57B579544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313592" y="4536078"/>
            <a:ext cx="2164114" cy="529698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8" name="Text 0">
            <a:extLst>
              <a:ext uri="{FF2B5EF4-FFF2-40B4-BE49-F238E27FC236}">
                <a16:creationId xmlns:a16="http://schemas.microsoft.com/office/drawing/2014/main" id="{D51056DC-8081-0916-0351-65D88D1682B8}"/>
              </a:ext>
            </a:extLst>
          </p:cNvPr>
          <p:cNvSpPr/>
          <p:nvPr userDrawn="1"/>
        </p:nvSpPr>
        <p:spPr>
          <a:xfrm>
            <a:off x="2224455" y="1676475"/>
            <a:ext cx="3886322" cy="45719"/>
          </a:xfrm>
          <a:prstGeom prst="roundRect">
            <a:avLst>
              <a:gd name="adj" fmla="val 50000"/>
            </a:avLst>
          </a:prstGeom>
          <a:solidFill>
            <a:srgbClr val="CC0000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DC531180-94E5-3403-56E5-895E003A9D72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024304" y="1874962"/>
            <a:ext cx="6629399" cy="334598"/>
          </a:xfrm>
          <a:prstGeom prst="rect">
            <a:avLst/>
          </a:prstGeom>
        </p:spPr>
        <p:txBody>
          <a:bodyPr/>
          <a:lstStyle>
            <a:lvl1pPr marL="0" marR="0" indent="0" algn="ctr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 sz="18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r>
              <a:rPr lang="en-US" sz="1800" dirty="0">
                <a:solidFill>
                  <a:srgbClr val="6C75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Questions?</a:t>
            </a:r>
            <a:endParaRPr lang="en-US" sz="1800" dirty="0"/>
          </a:p>
        </p:txBody>
      </p:sp>
      <p:sp>
        <p:nvSpPr>
          <p:cNvPr id="2" name="Text 3">
            <a:extLst>
              <a:ext uri="{FF2B5EF4-FFF2-40B4-BE49-F238E27FC236}">
                <a16:creationId xmlns:a16="http://schemas.microsoft.com/office/drawing/2014/main" id="{5727805F-2A15-11D3-243F-1AE09D6E973E}"/>
              </a:ext>
            </a:extLst>
          </p:cNvPr>
          <p:cNvSpPr/>
          <p:nvPr userDrawn="1"/>
        </p:nvSpPr>
        <p:spPr>
          <a:xfrm>
            <a:off x="3312808" y="4536078"/>
            <a:ext cx="2797969" cy="529698"/>
          </a:xfrm>
          <a:prstGeom prst="roundRect">
            <a:avLst>
              <a:gd name="adj" fmla="val 14286"/>
            </a:avLst>
          </a:prstGeom>
          <a:solidFill>
            <a:srgbClr val="F5F5F5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Text 4">
            <a:extLst>
              <a:ext uri="{FF2B5EF4-FFF2-40B4-BE49-F238E27FC236}">
                <a16:creationId xmlns:a16="http://schemas.microsoft.com/office/drawing/2014/main" id="{1034B79E-463D-8396-409E-62C28A2DEB04}"/>
              </a:ext>
            </a:extLst>
          </p:cNvPr>
          <p:cNvSpPr/>
          <p:nvPr userDrawn="1"/>
        </p:nvSpPr>
        <p:spPr>
          <a:xfrm>
            <a:off x="3614735" y="4667577"/>
            <a:ext cx="2076688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1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500" b="1" dirty="0">
                <a:solidFill>
                  <a:schemeClr val="bg2">
                    <a:lumMod val="75000"/>
                  </a:scheme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www.eoframework.org</a:t>
            </a:r>
            <a:endParaRPr lang="en-US" sz="1500" dirty="0">
              <a:solidFill>
                <a:schemeClr val="bg2">
                  <a:lumMod val="75000"/>
                </a:schemeClr>
              </a:solidFill>
            </a:endParaRPr>
          </a:p>
        </p:txBody>
      </p:sp>
      <p:sp>
        <p:nvSpPr>
          <p:cNvPr id="16" name="Text Placeholder 9">
            <a:extLst>
              <a:ext uri="{FF2B5EF4-FFF2-40B4-BE49-F238E27FC236}">
                <a16:creationId xmlns:a16="http://schemas.microsoft.com/office/drawing/2014/main" id="{2DED039B-C555-DCF4-1CA7-CA1E44823784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268165" y="3131272"/>
            <a:ext cx="8480181" cy="334598"/>
          </a:xfrm>
          <a:prstGeom prst="rect">
            <a:avLst/>
          </a:prstGeom>
        </p:spPr>
        <p:txBody>
          <a:bodyPr/>
          <a:lstStyle>
            <a:lvl1pPr marL="0" marR="0" indent="0" algn="ctr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 sz="1800" b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>
              <a:spcAft>
                <a:spcPts val="1200"/>
              </a:spcAft>
            </a:pPr>
            <a:r>
              <a:rPr lang="en-US" sz="1800" b="1" dirty="0">
                <a:solidFill>
                  <a:srgbClr val="000000"/>
                </a:solidFill>
              </a:rPr>
              <a:t>Account Manager:</a:t>
            </a:r>
            <a:r>
              <a:rPr lang="en-US" sz="1800" dirty="0">
                <a:solidFill>
                  <a:srgbClr val="000000"/>
                </a:solidFill>
              </a:rPr>
              <a:t> [Name, Title] | [Email] | [Phone]</a:t>
            </a:r>
          </a:p>
        </p:txBody>
      </p:sp>
    </p:spTree>
    <p:extLst>
      <p:ext uri="{BB962C8B-B14F-4D97-AF65-F5344CB8AC3E}">
        <p14:creationId xmlns:p14="http://schemas.microsoft.com/office/powerpoint/2010/main" val="3821020057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51" r:id="rId1"/>
    <p:sldLayoutId id="2147483653" r:id="rId2"/>
    <p:sldLayoutId id="2147483659" r:id="rId3"/>
    <p:sldLayoutId id="2147483654" r:id="rId4"/>
    <p:sldLayoutId id="2147483655" r:id="rId5"/>
    <p:sldLayoutId id="2147483656" r:id="rId6"/>
    <p:sldLayoutId id="2147483657" r:id="rId7"/>
    <p:sldLayoutId id="2147483658" r:id="rId8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4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3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5.png"/><Relationship Id="rId3" Type="http://schemas.openxmlformats.org/officeDocument/2006/relationships/image" Target="../media/image3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3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3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3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3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" name="Text Placeholder 2"/>
          <p:cNvSpPr>
            <a:spLocks noGrp="1"/>
          </p:cNvSpPr>
          <p:nvPr>
            <p:ph type="body" idx="12" sz="quarter"/>
          </p:nvPr>
        </p:nvSpPr>
        <p:spPr/>
        <p:txBody>
          <a:bodyPr/>
          <a:lstStyle/>
          <a:p>
            <a:r>
              <a:t>Solution Briefing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4" sz="quarter"/>
          </p:nvPr>
        </p:nvSpPr>
        <p:spPr/>
        <p:txBody>
          <a:bodyPr/>
          <a:lstStyle/>
          <a:p>
            <a:r>
              <a:t>AWS AI/ML Clinical Decision Support Platform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idx="15" sz="quarter"/>
          </p:nvPr>
        </p:nvSpPr>
        <p:spPr/>
        <p:txBody>
          <a:bodyPr/>
          <a:lstStyle/>
          <a:p>
            <a:r>
              <a:t>[Presenter Name] | June 29, 2026</a:t>
            </a:r>
          </a:p>
        </p:txBody>
      </p:sp>
      <p:pic>
        <p:nvPicPr>
          <p:cNvPr id="7" name="Picture 6" descr="client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80492" y="171206"/>
            <a:ext cx="3978520" cy="1314694"/>
          </a:xfrm>
          <a:prstGeom prst="rect">
            <a:avLst/>
          </a:prstGeom>
        </p:spPr>
      </p:pic>
      <p:pic>
        <p:nvPicPr>
          <p:cNvPr id="8" name="Picture 7" descr="consulting_company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3591" y="4536078"/>
            <a:ext cx="2099897" cy="529698"/>
          </a:xfrm>
          <a:prstGeom prst="rect">
            <a:avLst/>
          </a:prstGeom>
        </p:spPr>
      </p:pic>
      <p:pic>
        <p:nvPicPr>
          <p:cNvPr id="9" name="Picture 8" descr="eo-framework-logo-real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84264" y="4535424"/>
            <a:ext cx="2139696" cy="530352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" name="Text Placeholder 2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pPr algn="l"/>
            <a:r>
              <a:t>Slide 2: Business Opportunity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6" sz="quarter"/>
          </p:nvPr>
        </p:nvSpPr>
        <p:spPr/>
        <p:txBody>
          <a:bodyPr/>
          <a:lstStyle/>
          <a:p>
            <a:pPr/>
            <a:r>
              <a:rPr b="1"/>
              <a:t>Opportunity</a:t>
            </a:r>
          </a:p>
          <a:p>
            <a:pPr lvl="1"/>
            <a:r>
              <a:t>Reduce sepsis mortality 15% via real-time AI risk scoring across 18 hospitals</a:t>
            </a:r>
          </a:p>
          <a:p>
            <a:pPr lvl="1"/>
            <a:r>
              <a:t>Cut false-positive alert fatigue 40% replacing inconsistent rule-based alerts</a:t>
            </a:r>
          </a:p>
          <a:p>
            <a:pPr lvl="1"/>
            <a:r>
              <a:t>Prevent costly 30-day readmissions with predictive risk models at scale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7" sz="quarter"/>
          </p:nvPr>
        </p:nvSpPr>
        <p:spPr/>
        <p:txBody>
          <a:bodyPr/>
          <a:lstStyle/>
          <a:p>
            <a:pPr/>
            <a:r>
              <a:rPr b="1"/>
              <a:t>Success Criteria</a:t>
            </a:r>
          </a:p>
          <a:p>
            <a:pPr lvl="1"/>
            <a:r>
              <a:t>15% sepsis mortality reduction within 12 months of go-live</a:t>
            </a:r>
          </a:p>
          <a:p>
            <a:pPr lvl="1"/>
            <a:r>
              <a:t>40% false-positive alert reduction validated by nursing staff</a:t>
            </a:r>
          </a:p>
          <a:p>
            <a:pPr lvl="1"/>
            <a:r>
              <a:t>20% readmission rate reduction across all facilities by 18 months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idx="15" sz="quarter"/>
          </p:nvPr>
        </p:nvSpPr>
        <p:spPr/>
        <p:txBody>
          <a:bodyPr/>
          <a:lstStyle/>
          <a:p>
            <a:pPr algn="r">
              <a:buNone/>
            </a:pPr>
            <a:r>
              <a:rPr sz="1100">
                <a:solidFill>
                  <a:srgbClr val="CC0000"/>
                </a:solidFill>
              </a:rPr>
              <a:t>AWS AI/ML Clinical Decision Support Platform</a:t>
            </a:r>
          </a:p>
        </p:txBody>
      </p:sp>
      <p:pic>
        <p:nvPicPr>
          <p:cNvPr id="7" name="Picture 6" descr="consulting_company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3592" y="4536078"/>
            <a:ext cx="2121877" cy="529698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" name="Text Placeholder 2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pPr algn="l"/>
            <a:r>
              <a:t>Slide 3: Engagement Scope</a:t>
            </a:r>
          </a:p>
        </p:txBody>
      </p:sp>
      <p:graphicFrame>
        <p:nvGraphicFramePr>
          <p:cNvPr id="4" name="Table Placeholder 3"/>
          <p:cNvGraphicFramePr>
            <a:graphicFrameLocks noGrp="1"/>
          </p:cNvGraphicFramePr>
          <p:nvPr>
            <p:ph type="tbl" idx="14" sz="quarter"/>
          </p:nvPr>
        </p:nvGraphicFramePr>
        <p:xfrm>
          <a:off x="256855" y="677011"/>
          <a:ext cx="8710929" cy="2225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67967"/>
                <a:gridCol w="2526170"/>
                <a:gridCol w="435546"/>
                <a:gridCol w="1567967"/>
                <a:gridCol w="2613279"/>
              </a:tblGrid>
              <a:tr h="370840"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FFFFFF"/>
                          </a:solidFill>
                        </a:rPr>
                        <a:t>Parameter</a:t>
                      </a:r>
                    </a:p>
                  </a:txBody>
                  <a:tcPr>
                    <a:solidFill>
                      <a:srgbClr val="A01C0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FFFFFF"/>
                          </a:solidFill>
                        </a:rPr>
                        <a:t>Scope</a:t>
                      </a:r>
                    </a:p>
                  </a:txBody>
                  <a:tcPr>
                    <a:solidFill>
                      <a:srgbClr val="A01C02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FFFFFF"/>
                          </a:solidFill>
                        </a:rPr>
                        <a:t>Parameter</a:t>
                      </a:r>
                    </a:p>
                  </a:txBody>
                  <a:tcPr>
                    <a:solidFill>
                      <a:srgbClr val="A01C0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FFFFFF"/>
                          </a:solidFill>
                        </a:rPr>
                        <a:t>Scope</a:t>
                      </a:r>
                    </a:p>
                  </a:txBody>
                  <a:tcPr>
                    <a:solidFill>
                      <a:srgbClr val="A01C02"/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b="1" sz="1100"/>
                        <a:t>Single hospital unit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~4200 staff across 18 hospitals and 60+ clinics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100"/>
                        <a:t>Single facility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18 hospitals + 60+ outpatient clinics (southeastern US)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b="1" sz="1100"/>
                        <a:t>Low-volume EHR feeds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~2.1 million patients annually; real-time vitals, labs, and EHR events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100"/>
                        <a:t>No external integrations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Epic FHIR R4 API, Mirth Connect HL7 v2.3, Azure AD SSO, SQL Server nightly export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b="1" sz="1100"/>
                        <a:t>Single environment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Dev / QA / Staging / Production (4 environments)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100"/>
                        <a:t>Single pre-built model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3 custom models (sepsis; readmission; rapid response) + LLM summarization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b="1" sz="1100"/>
                        <a:t>No specific compliance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HIPAA BAA + HITECH + SOC 2 Type II + PHI audit logging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100"/>
                        <a:t>Best-effort (99.0%)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99.95% platform availability (excluding maintenance windows)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b="1" sz="1100"/>
                        <a:t>Single-phase delivery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3 phases: Phase 1 by 2026-10-31; Phase 2 by 2027-02-28; Phase 3 by 2027-06-30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>
                    <a:solidFill>
                      <a:srgbClr val="E7E6E6"/>
                    </a:solidFill>
                  </a:tcPr>
                </a:tc>
              </a:tr>
            </a:tbl>
          </a:graphicData>
        </a:graphic>
      </p:graphicFrame>
      <p:sp>
        <p:nvSpPr>
          <p:cNvPr id="5" name="Text Placeholder 4"/>
          <p:cNvSpPr>
            <a:spLocks noGrp="1"/>
          </p:cNvSpPr>
          <p:nvPr>
            <p:ph type="body" idx="15" sz="quarter"/>
          </p:nvPr>
        </p:nvSpPr>
        <p:spPr/>
        <p:txBody>
          <a:bodyPr/>
          <a:lstStyle/>
          <a:p>
            <a:pPr algn="r">
              <a:buNone/>
            </a:pPr>
            <a:r>
              <a:rPr sz="1100">
                <a:solidFill>
                  <a:srgbClr val="CC0000"/>
                </a:solidFill>
              </a:rPr>
              <a:t>AWS AI/ML Clinical Decision Support Platform</a:t>
            </a:r>
          </a:p>
        </p:txBody>
      </p:sp>
      <p:pic>
        <p:nvPicPr>
          <p:cNvPr id="6" name="Picture 5" descr="consulting_company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3592" y="4536078"/>
            <a:ext cx="2126273" cy="529698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" name="Text Placeholder 2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pPr algn="l"/>
            <a:r>
              <a:t>Slide 4: Solution Overview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6" sz="quarter"/>
          </p:nvPr>
        </p:nvSpPr>
        <p:spPr/>
        <p:txBody>
          <a:bodyPr/>
          <a:lstStyle/>
          <a:p>
            <a:pPr/>
            <a:r>
              <a:rPr b="1"/>
              <a:t>Ingestion &amp; AI/ML</a:t>
            </a:r>
          </a:p>
          <a:p>
            <a:pPr lvl="1"/>
            <a:r>
              <a:t>Kinesis streams Epic FHIR and HL7 vitals for sub-3-second inference</a:t>
            </a:r>
          </a:p>
          <a:p>
            <a:pPr lvl="1"/>
            <a:r>
              <a:t>SageMaker serves sepsis, readmission, and rapid-response risk models</a:t>
            </a:r>
          </a:p>
          <a:p>
            <a:pPr/>
            <a:r>
              <a:rPr b="1"/>
              <a:t>Alerting &amp; Explainability</a:t>
            </a:r>
          </a:p>
          <a:p>
            <a:pPr lvl="1"/>
            <a:r>
              <a:t>Bedrock LLM generates plain-language clinical narratives per alert</a:t>
            </a:r>
          </a:p>
          <a:p>
            <a:pPr lvl="1"/>
            <a:r>
              <a:t>EventBridge routes role-based alerts to nursing and physician dashboards</a:t>
            </a:r>
          </a:p>
          <a:p>
            <a:pPr/>
            <a:r>
              <a:rPr b="1"/>
              <a:t>Security &amp; Compliance</a:t>
            </a:r>
          </a:p>
          <a:p>
            <a:pPr lvl="1"/>
            <a:r>
              <a:t>KMS encrypts all PHI at rest; CloudTrail logs every PHI access event</a:t>
            </a:r>
          </a:p>
          <a:p>
            <a:pPr lvl="1"/>
            <a:r>
              <a:t>Cognito federates Azure AD identities via SAML 2.0 with RBAC enforcement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idx="17" sz="quarter"/>
          </p:nvPr>
        </p:nvSpPr>
        <p:spPr/>
        <p:txBody>
          <a:bodyPr/>
          <a:lstStyle/>
          <a:p>
            <a:pPr algn="r">
              <a:buNone/>
            </a:pPr>
            <a:r>
              <a:rPr sz="1100">
                <a:solidFill>
                  <a:srgbClr val="CC0000"/>
                </a:solidFill>
              </a:rPr>
              <a:t>AWS AI/ML Clinical Decision Support Platform</a:t>
            </a:r>
          </a:p>
        </p:txBody>
      </p:sp>
      <p:pic>
        <p:nvPicPr>
          <p:cNvPr id="7" name="Picture 6" descr="architecture-diagra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62488" y="685799"/>
            <a:ext cx="4337050" cy="3815859"/>
          </a:xfrm>
          <a:prstGeom prst="rect">
            <a:avLst/>
          </a:prstGeom>
          <a:ln w="12700">
            <a:solidFill>
              <a:srgbClr val="C0C0C0"/>
            </a:solidFill>
            <a:prstDash val="solid"/>
          </a:ln>
        </p:spPr>
      </p:pic>
      <p:pic>
        <p:nvPicPr>
          <p:cNvPr id="8" name="Picture 7" descr="consulting_company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3592" y="4536078"/>
            <a:ext cx="2130670" cy="529698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" name="Text Placeholder 2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pPr algn="l"/>
            <a:r>
              <a:t>Slide 5: Implementation Approach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4" sz="quarter"/>
          </p:nvPr>
        </p:nvSpPr>
        <p:spPr/>
        <p:txBody>
          <a:bodyPr/>
          <a:lstStyle/>
          <a:p>
            <a:pPr/>
            <a:r>
              <a:rPr b="1"/>
              <a:t>Phase 1: Foundation and Sepsis Pilot (Months 1-4)</a:t>
            </a:r>
          </a:p>
          <a:p>
            <a:pPr lvl="1"/>
            <a:r>
              <a:t>Deploy AWS data ingestion pipeline with Epic FHIR and HL7 v2.3 feeds</a:t>
            </a:r>
          </a:p>
          <a:p>
            <a:pPr lvl="1"/>
            <a:r>
              <a:t>Train and validate sepsis risk model; achieve 95%+ accuracy benchmark</a:t>
            </a:r>
          </a:p>
          <a:p>
            <a:pPr lvl="1"/>
            <a:r>
              <a:t>Stand up HIPAA-compliant infrastructure with KMS, CloudTrail, and Cognito</a:t>
            </a:r>
          </a:p>
          <a:p>
            <a:pPr/>
            <a:r>
              <a:rPr b="1"/>
              <a:t>Phase 2: Model Expansion and Dashboard (Months 5-8)</a:t>
            </a:r>
          </a:p>
          <a:p>
            <a:pPr lvl="1"/>
            <a:r>
              <a:t>Deploy readmission and rapid-response models with explainability outputs</a:t>
            </a:r>
          </a:p>
          <a:p>
            <a:pPr lvl="1"/>
            <a:r>
              <a:t>Launch clinical dashboard with role-based alert workflows and SSO</a:t>
            </a:r>
          </a:p>
          <a:p>
            <a:pPr lvl="1"/>
            <a:r>
              <a:t>Integrate Bedrock LLM for plain-language alert narrative generation</a:t>
            </a:r>
          </a:p>
          <a:p>
            <a:pPr/>
            <a:r>
              <a:rPr b="1"/>
              <a:t>Phase 3: Full Rollout and Optimisation (Months 9-12)</a:t>
            </a:r>
          </a:p>
          <a:p>
            <a:pPr lvl="1"/>
            <a:r>
              <a:t>Phased go-live across all 18 hospitals and 60 outpatient clinics</a:t>
            </a:r>
          </a:p>
          <a:p>
            <a:pPr lvl="1"/>
            <a:r>
              <a:t>Fine-tune models with production feedback and outcome data</a:t>
            </a:r>
          </a:p>
          <a:p>
            <a:pPr lvl="1"/>
            <a:r>
              <a:t>Complete operations handoff, runbooks, and SOC 2 audit preparation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5" sz="quarter"/>
          </p:nvPr>
        </p:nvSpPr>
        <p:spPr/>
        <p:txBody>
          <a:bodyPr/>
          <a:lstStyle/>
          <a:p>
            <a:pPr algn="r">
              <a:buNone/>
            </a:pPr>
            <a:r>
              <a:rPr sz="1100">
                <a:solidFill>
                  <a:srgbClr val="CC0000"/>
                </a:solidFill>
              </a:rPr>
              <a:t>AWS AI/ML Clinical Decision Support Platform</a:t>
            </a:r>
          </a:p>
        </p:txBody>
      </p:sp>
      <p:pic>
        <p:nvPicPr>
          <p:cNvPr id="6" name="Picture 5" descr="consulting_company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3593" y="4536078"/>
            <a:ext cx="2143858" cy="529698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" name="Text Placeholder 2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pPr algn="l"/>
            <a:r>
              <a:t>Slide 6: Timeline &amp; Milestones</a:t>
            </a:r>
          </a:p>
        </p:txBody>
      </p:sp>
      <p:graphicFrame>
        <p:nvGraphicFramePr>
          <p:cNvPr id="4" name="Table Placeholder 3"/>
          <p:cNvGraphicFramePr>
            <a:graphicFrameLocks noGrp="1"/>
          </p:cNvGraphicFramePr>
          <p:nvPr>
            <p:ph type="tbl" idx="14" sz="quarter"/>
          </p:nvPr>
        </p:nvGraphicFramePr>
        <p:xfrm>
          <a:off x="256855" y="677011"/>
          <a:ext cx="8710931" cy="1483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71093"/>
                <a:gridCol w="2177733"/>
                <a:gridCol w="1306639"/>
                <a:gridCol w="4355466"/>
              </a:tblGrid>
              <a:tr h="370840"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FFFFFF"/>
                          </a:solidFill>
                        </a:rPr>
                        <a:t>Phase No</a:t>
                      </a:r>
                    </a:p>
                  </a:txBody>
                  <a:tcPr>
                    <a:solidFill>
                      <a:srgbClr val="A01C0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FFFFFF"/>
                          </a:solidFill>
                        </a:rPr>
                        <a:t>Phase Description</a:t>
                      </a:r>
                    </a:p>
                  </a:txBody>
                  <a:tcPr>
                    <a:solidFill>
                      <a:srgbClr val="A01C0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FFFFFF"/>
                          </a:solidFill>
                        </a:rPr>
                        <a:t>Timeline</a:t>
                      </a:r>
                    </a:p>
                  </a:txBody>
                  <a:tcPr>
                    <a:solidFill>
                      <a:srgbClr val="A01C0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FFFFFF"/>
                          </a:solidFill>
                        </a:rPr>
                        <a:t>Key Deliverables</a:t>
                      </a:r>
                    </a:p>
                  </a:txBody>
                  <a:tcPr>
                    <a:solidFill>
                      <a:srgbClr val="A01C02"/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sz="1100"/>
                        <a:t>Phase 1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Foundation and Sepsis Pilot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Months 1-4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Ingestion pipeline live, Sepsis model validated at 95%+ accuracy, HIPAA-compliant infrastructure operational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sz="1100"/>
                        <a:t>Phase 2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Model Expansion and Dashboard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Months 5-8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Readmission and rapid-response models live, Clinical dashboard with RBAC deployed, Bedrock alert narratives enabled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sz="1100"/>
                        <a:t>Phase 3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Full Rollout and Optimisation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Months 9-12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All 18 hospitals live, Models fine-tuned on production data, SOC 2 audit documentation complete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</a:tr>
            </a:tbl>
          </a:graphicData>
        </a:graphic>
      </p:graphicFrame>
      <p:sp>
        <p:nvSpPr>
          <p:cNvPr id="5" name="Text Placeholder 4"/>
          <p:cNvSpPr>
            <a:spLocks noGrp="1"/>
          </p:cNvSpPr>
          <p:nvPr>
            <p:ph type="body" idx="15" sz="quarter"/>
          </p:nvPr>
        </p:nvSpPr>
        <p:spPr/>
        <p:txBody>
          <a:bodyPr/>
          <a:lstStyle/>
          <a:p>
            <a:pPr algn="r">
              <a:buNone/>
            </a:pPr>
            <a:r>
              <a:rPr sz="1100">
                <a:solidFill>
                  <a:srgbClr val="CC0000"/>
                </a:solidFill>
              </a:rPr>
              <a:t>AWS AI/ML Clinical Decision Support Platform</a:t>
            </a:r>
          </a:p>
        </p:txBody>
      </p:sp>
      <p:pic>
        <p:nvPicPr>
          <p:cNvPr id="6" name="Picture 5" descr="consulting_company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3592" y="4536078"/>
            <a:ext cx="2126273" cy="529698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" name="Text Placeholder 2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pPr algn="l"/>
            <a:r>
              <a:t>Slide 7: Success Stories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4" sz="quarter"/>
          </p:nvPr>
        </p:nvSpPr>
        <p:spPr/>
        <p:txBody>
          <a:bodyPr/>
          <a:lstStyle/>
          <a:p>
            <a:pPr/>
            <a:r>
              <a:rPr b="1"/>
              <a:t>Regional Health System (12 hospitals, southeastern US)</a:t>
            </a:r>
          </a:p>
          <a:p>
            <a:pPr lvl="1"/>
            <a:r>
              <a:t>Challenge: Rule-based sepsis alerts with 35% false-positive rate, delayed response</a:t>
            </a:r>
          </a:p>
          <a:p>
            <a:pPr lvl="1"/>
            <a:r>
              <a:t>Solution: SageMaker real-time inference with FHIR ingestion and A2I review</a:t>
            </a:r>
          </a:p>
          <a:p>
            <a:pPr lvl="1"/>
            <a:r>
              <a:t>Result: 18% sepsis mortality reduction; false positives cut 42% in 6 months</a:t>
            </a:r>
          </a:p>
          <a:p>
            <a:pPr/>
            <a:r>
              <a:rPr b="1"/>
              <a:t>National Health Insurer (500K members, Medicare and commercial)</a:t>
            </a:r>
          </a:p>
          <a:p>
            <a:pPr lvl="1"/>
            <a:r>
              <a:t>Challenge: 25% readmission rate, manual care-gap identification, $48M annual cost</a:t>
            </a:r>
          </a:p>
          <a:p>
            <a:pPr lvl="1"/>
            <a:r>
              <a:t>Solution: AWS ML readmission model integrated with care manager workflow tools</a:t>
            </a:r>
          </a:p>
          <a:p>
            <a:pPr lvl="1"/>
            <a:r>
              <a:t>Result: 22% readmission reduction; $10.5M annual savings within 12 months</a:t>
            </a:r>
          </a:p>
          <a:p>
            <a:pPr/>
            <a:r>
              <a:rPr b="1"/>
              <a:t>Academic Medical Centre (Level 1 trauma, 900-bed, HIPAA and SOC 2)</a:t>
            </a:r>
          </a:p>
          <a:p>
            <a:pPr lvl="1"/>
            <a:r>
              <a:t>Challenge: Siloed EHR and vitals data, no unified risk view, 6-second alert lag</a:t>
            </a:r>
          </a:p>
          <a:p>
            <a:pPr lvl="1"/>
            <a:r>
              <a:t>Solution: Kinesis streaming, SageMaker inference, Bedrock clinical narratives</a:t>
            </a:r>
          </a:p>
          <a:p>
            <a:pPr lvl="1"/>
            <a:r>
              <a:t>Result: Sub-2-second risk updates; 80% clinician adoption within 60 days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5" sz="quarter"/>
          </p:nvPr>
        </p:nvSpPr>
        <p:spPr/>
        <p:txBody>
          <a:bodyPr/>
          <a:lstStyle/>
          <a:p>
            <a:pPr algn="r">
              <a:buNone/>
            </a:pPr>
            <a:r>
              <a:rPr sz="1100">
                <a:solidFill>
                  <a:srgbClr val="CC0000"/>
                </a:solidFill>
              </a:rPr>
              <a:t>AWS AI/ML Clinical Decision Support Platform</a:t>
            </a:r>
          </a:p>
        </p:txBody>
      </p:sp>
      <p:pic>
        <p:nvPicPr>
          <p:cNvPr id="6" name="Picture 5" descr="consulting_company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3593" y="4536078"/>
            <a:ext cx="2143858" cy="529698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" name="Text Placeholder 2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pPr algn="l"/>
            <a:r>
              <a:t>Slide 8: Our Partnership Advantage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6" sz="quarter"/>
          </p:nvPr>
        </p:nvSpPr>
        <p:spPr/>
        <p:txBody>
          <a:bodyPr/>
          <a:lstStyle/>
          <a:p>
            <a:pPr/>
            <a:r>
              <a:rPr b="1"/>
              <a:t>What We Bring</a:t>
            </a:r>
          </a:p>
          <a:p>
            <a:pPr lvl="1"/>
            <a:r>
              <a:t>12+ years delivering AWS AI/ML solutions in regulated healthcare environments</a:t>
            </a:r>
          </a:p>
          <a:p>
            <a:pPr lvl="1"/>
            <a:r>
              <a:t>40+ clinical AI implementations across health systems, IDNs, and insurers</a:t>
            </a:r>
          </a:p>
          <a:p>
            <a:pPr lvl="1"/>
            <a:r>
              <a:t>AWS Advanced Consulting Partner with Machine Learning and Health Competencies</a:t>
            </a:r>
          </a:p>
          <a:p>
            <a:pPr lvl="1"/>
            <a:r>
              <a:t>HIPAA-certified architects with Epic FHIR integration expertise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7" sz="quarter"/>
          </p:nvPr>
        </p:nvSpPr>
        <p:spPr/>
        <p:txBody>
          <a:bodyPr/>
          <a:lstStyle/>
          <a:p>
            <a:pPr/>
            <a:r>
              <a:rPr b="1"/>
              <a:t>Value to You</a:t>
            </a:r>
          </a:p>
          <a:p>
            <a:pPr lvl="1"/>
            <a:r>
              <a:t>Pre-built FHIR ingestion and SageMaker accelerators cut build time by 30%</a:t>
            </a:r>
          </a:p>
          <a:p>
            <a:pPr lvl="1"/>
            <a:r>
              <a:t>Proven model validation methodology reduces time to clinical-grade accuracy</a:t>
            </a:r>
          </a:p>
          <a:p>
            <a:pPr lvl="1"/>
            <a:r>
              <a:t>Direct AWS Healthcare and Life Sciences specialist support via partner network</a:t>
            </a:r>
          </a:p>
          <a:p>
            <a:pPr lvl="1"/>
            <a:r>
              <a:t>Best practices from 40+ implementations prevent HIPAA and SOC 2 compliance gaps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idx="15" sz="quarter"/>
          </p:nvPr>
        </p:nvSpPr>
        <p:spPr/>
        <p:txBody>
          <a:bodyPr/>
          <a:lstStyle/>
          <a:p>
            <a:pPr algn="r">
              <a:buNone/>
            </a:pPr>
            <a:r>
              <a:rPr sz="1100">
                <a:solidFill>
                  <a:srgbClr val="CC0000"/>
                </a:solidFill>
              </a:rPr>
              <a:t>AWS AI/ML Clinical Decision Support Platform</a:t>
            </a:r>
          </a:p>
        </p:txBody>
      </p:sp>
      <p:pic>
        <p:nvPicPr>
          <p:cNvPr id="7" name="Picture 6" descr="consulting_company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3592" y="4536078"/>
            <a:ext cx="2121877" cy="529698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" name="Text Placeholder 2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pPr algn="l"/>
            <a:r>
              <a:t>Slide 9: Investment Summary</a:t>
            </a:r>
          </a:p>
        </p:txBody>
      </p:sp>
      <p:graphicFrame>
        <p:nvGraphicFramePr>
          <p:cNvPr id="4" name="Table Placeholder 3"/>
          <p:cNvGraphicFramePr>
            <a:graphicFrameLocks noGrp="1"/>
          </p:cNvGraphicFramePr>
          <p:nvPr>
            <p:ph type="tbl" idx="14" sz="quarter"/>
          </p:nvPr>
        </p:nvGraphicFramePr>
        <p:xfrm>
          <a:off x="256855" y="677011"/>
          <a:ext cx="8710930" cy="2595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97920"/>
                <a:gridCol w="1198752"/>
                <a:gridCol w="1198752"/>
                <a:gridCol w="1198752"/>
                <a:gridCol w="959001"/>
                <a:gridCol w="959001"/>
                <a:gridCol w="1198752"/>
              </a:tblGrid>
              <a:tr h="370840"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FFFFFF"/>
                          </a:solidFill>
                        </a:rPr>
                        <a:t>Cost Category</a:t>
                      </a:r>
                    </a:p>
                  </a:txBody>
                  <a:tcPr>
                    <a:solidFill>
                      <a:srgbClr val="A01C0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FFFFFF"/>
                          </a:solidFill>
                        </a:rPr>
                        <a:t>Year 1 List</a:t>
                      </a:r>
                    </a:p>
                  </a:txBody>
                  <a:tcPr>
                    <a:solidFill>
                      <a:srgbClr val="A01C0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FFFFFF"/>
                          </a:solidFill>
                        </a:rPr>
                        <a:t>Year 1 Credits</a:t>
                      </a:r>
                    </a:p>
                  </a:txBody>
                  <a:tcPr>
                    <a:solidFill>
                      <a:srgbClr val="A01C0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FFFFFF"/>
                          </a:solidFill>
                        </a:rPr>
                        <a:t>Year 1 Net</a:t>
                      </a:r>
                    </a:p>
                  </a:txBody>
                  <a:tcPr>
                    <a:solidFill>
                      <a:srgbClr val="A01C0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FFFFFF"/>
                          </a:solidFill>
                        </a:rPr>
                        <a:t>Year 2</a:t>
                      </a:r>
                    </a:p>
                  </a:txBody>
                  <a:tcPr>
                    <a:solidFill>
                      <a:srgbClr val="A01C0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FFFFFF"/>
                          </a:solidFill>
                        </a:rPr>
                        <a:t>Year 3</a:t>
                      </a:r>
                    </a:p>
                  </a:txBody>
                  <a:tcPr>
                    <a:solidFill>
                      <a:srgbClr val="A01C0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FFFFFF"/>
                          </a:solidFill>
                        </a:rPr>
                        <a:t>3-Year Total</a:t>
                      </a:r>
                    </a:p>
                  </a:txBody>
                  <a:tcPr>
                    <a:solidFill>
                      <a:srgbClr val="A01C02"/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sz="1100"/>
                        <a:t>Professional Services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$0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$0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$0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$0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$0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$0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sz="1100"/>
                        <a:t>Cloud Services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$233,280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($38,000)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$195,280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$233,280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$260,498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$689,058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sz="1100"/>
                        <a:t>Connectivity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$9,432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$0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$9,432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$9,432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$9,432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$28,296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sz="1100"/>
                        <a:t>Software Licenses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$7,920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($2,400)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$5,520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$7,920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$7,920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$21,360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sz="1100"/>
                        <a:t>Support &amp; Maintenance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$21,600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$0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$21,600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$21,600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$21,600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$64,800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b="1" sz="1100"/>
                        <a:t>TOTAL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100"/>
                        <a:t>$272,232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100"/>
                        <a:t>($40,400)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100"/>
                        <a:t>$231,832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100"/>
                        <a:t>$272,232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100"/>
                        <a:t>$299,450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100"/>
                        <a:t>$803,514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</a:tr>
            </a:tbl>
          </a:graphicData>
        </a:graphic>
      </p:graphicFrame>
      <p:sp>
        <p:nvSpPr>
          <p:cNvPr id="5" name="Text Placeholder 4"/>
          <p:cNvSpPr>
            <a:spLocks noGrp="1"/>
          </p:cNvSpPr>
          <p:nvPr>
            <p:ph type="body" idx="15" sz="quarter"/>
          </p:nvPr>
        </p:nvSpPr>
        <p:spPr/>
        <p:txBody>
          <a:bodyPr/>
          <a:lstStyle/>
          <a:p>
            <a:pPr algn="r">
              <a:buNone/>
            </a:pPr>
            <a:r>
              <a:rPr sz="1100">
                <a:solidFill>
                  <a:srgbClr val="CC0000"/>
                </a:solidFill>
              </a:rPr>
              <a:t>AWS AI/ML Clinical Decision Support Platform</a:t>
            </a:r>
          </a:p>
        </p:txBody>
      </p:sp>
      <p:pic>
        <p:nvPicPr>
          <p:cNvPr id="6" name="Picture 5" descr="consulting_company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3592" y="4536078"/>
            <a:ext cx="2126273" cy="529698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" name="Text Placeholder 2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pPr algn="l"/>
            <a:r>
              <a:t>Slide 10: Next Steps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4" sz="quarter"/>
          </p:nvPr>
        </p:nvSpPr>
        <p:spPr/>
        <p:txBody>
          <a:bodyPr/>
          <a:lstStyle/>
          <a:p>
            <a:pPr/>
            <a:r>
              <a:rPr b="1"/>
              <a:t>Decision:</a:t>
            </a:r>
            <a:r>
              <a:t> Executive approval for Phase 1 pilot by [specific date]</a:t>
            </a:r>
          </a:p>
          <a:p>
            <a:pPr/>
            <a:r>
              <a:rPr b="1"/>
              <a:t>Kickoff:</a:t>
            </a:r>
            <a:r>
              <a:t> Target Phase 1 start date within 30 days of CMO and CIO approval</a:t>
            </a:r>
          </a:p>
          <a:p>
            <a:pPr/>
            <a:r>
              <a:rPr b="1"/>
              <a:t>Team Formation:</a:t>
            </a:r>
            <a:r>
              <a:t> Identify Clinical Informatics Lead, EHR Integration Lead, and CISO for BAA sign-off</a:t>
            </a:r>
          </a:p>
          <a:p>
            <a:pPr/>
            <a:r>
              <a:rPr b="1"/>
              <a:t>Week 1-2:</a:t>
            </a:r>
            <a:r>
              <a:t> Contract finalization, AWS account setup in Clinical Applications OU, and BAA execution</a:t>
            </a:r>
          </a:p>
          <a:p>
            <a:pPr/>
            <a:r>
              <a:rPr b="1"/>
              <a:t>Week 3-4:</a:t>
            </a:r>
            <a:r>
              <a:t> Epic FHIR API connectivity confirmed and sepsis training data samples collected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5" sz="quarter"/>
          </p:nvPr>
        </p:nvSpPr>
        <p:spPr/>
        <p:txBody>
          <a:bodyPr/>
          <a:lstStyle/>
          <a:p>
            <a:pPr algn="r">
              <a:buNone/>
            </a:pPr>
            <a:r>
              <a:rPr sz="1100">
                <a:solidFill>
                  <a:srgbClr val="CC0000"/>
                </a:solidFill>
              </a:rPr>
              <a:t>AWS AI/ML Clinical Decision Support Platform</a:t>
            </a:r>
          </a:p>
        </p:txBody>
      </p:sp>
      <p:pic>
        <p:nvPicPr>
          <p:cNvPr id="6" name="Picture 5" descr="consulting_company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3593" y="4536078"/>
            <a:ext cx="2143858" cy="529698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" name="Text Placeholder 2"/>
          <p:cNvSpPr>
            <a:spLocks noGrp="1"/>
          </p:cNvSpPr>
          <p:nvPr>
            <p:ph type="body" idx="12" sz="quarter"/>
          </p:nvPr>
        </p:nvSpPr>
        <p:spPr/>
        <p:txBody>
          <a:bodyPr/>
          <a:lstStyle/>
          <a:p>
            <a:r>
              <a:t>Slide 11: Thank You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4" sz="quarter"/>
          </p:nvPr>
        </p:nvSpPr>
        <p:spPr/>
        <p:txBody>
          <a:bodyPr/>
          <a:lstStyle/>
          <a:p/>
        </p:txBody>
      </p:sp>
      <p:sp>
        <p:nvSpPr>
          <p:cNvPr id="6" name="Text Placeholder 5"/>
          <p:cNvSpPr>
            <a:spLocks noGrp="1"/>
          </p:cNvSpPr>
          <p:nvPr>
            <p:ph type="body" idx="15" sz="quarter"/>
          </p:nvPr>
        </p:nvSpPr>
        <p:spPr/>
        <p:txBody>
          <a:bodyPr/>
          <a:lstStyle/>
          <a:p/>
        </p:txBody>
      </p:sp>
      <p:pic>
        <p:nvPicPr>
          <p:cNvPr id="7" name="Picture 6" descr="client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80492" y="171206"/>
            <a:ext cx="3978520" cy="1314694"/>
          </a:xfrm>
          <a:prstGeom prst="rect">
            <a:avLst/>
          </a:prstGeom>
        </p:spPr>
      </p:pic>
      <p:pic>
        <p:nvPicPr>
          <p:cNvPr id="8" name="Picture 7" descr="consulting_company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3592" y="4536078"/>
            <a:ext cx="2164114" cy="529698"/>
          </a:xfrm>
          <a:prstGeom prst="rect">
            <a:avLst/>
          </a:prstGeom>
        </p:spPr>
      </p:pic>
      <p:pic>
        <p:nvPicPr>
          <p:cNvPr id="9" name="Picture 8" descr="eo-framework-logo-real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84264" y="4535424"/>
            <a:ext cx="2139696" cy="530352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441</TotalTime>
  <Words>42</Words>
  <Application>Microsoft Office PowerPoint</Application>
  <PresentationFormat>On-screen Show (16:9)</PresentationFormat>
  <Paragraphs>21</Paragraphs>
  <Slides>7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Aptos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EOFramework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EOFramework Template</dc:title>
  <dc:subject>PptxGenJS Presentation</dc:subject>
  <dc:creator>EOFramework</dc:creator>
  <cp:lastModifiedBy>Kishan Siram</cp:lastModifiedBy>
  <cp:revision>86</cp:revision>
  <dcterms:created xsi:type="dcterms:W3CDTF">2025-11-01T21:16:10Z</dcterms:created>
  <dcterms:modified xsi:type="dcterms:W3CDTF">2025-11-27T20:15:42Z</dcterms:modified>
</cp:coreProperties>
</file>