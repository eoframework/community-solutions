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Talking Points:*</a:t>
            </a:r>
          </a:p>
          <a:p>
            <a:r>
              <a:t>- Welcome stakeholders: Sarah Lin (CRO), Marcus Patel (Director Pre-Sales Engineering), Daniel Park (Head of Delivery Operations), and CTO</a:t>
            </a:r>
          </a:p>
          <a:p>
            <a:r>
              <a:t>- This presentation formally closes the 12-week Amatra Agentic Orchestration Platform engagement</a:t>
            </a:r>
          </a:p>
          <a:p>
            <a:r>
              <a:t>- We will cover what was delivered, performance against targets, benefits realised, lessons learned, and next steps</a:t>
            </a:r>
          </a:p>
          <a:p>
            <a:r>
              <a:t>- End with the formal acceptance sign-off process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engagement met all nine success metrics defined in the SOW — a clean delivery with no open critical defects</a:t>
            </a:r>
          </a:p>
          <a:p>
            <a:r>
              <a:t>- Budget of $250,000 net PS (after $25,000 APN credits) was held; no change requests were raised during the engagement</a:t>
            </a:r>
          </a:p>
          <a:p>
            <a:r>
              <a:t>- Go-live on Week 11 (Tuesday Pacific Time, low-activity window) proceeded without rollback; smoke tests passed first attempt</a:t>
            </a:r>
          </a:p>
          <a:p>
            <a:r>
              <a:t>- The 96% first-attempt validation pass rate exceeded the 95% target, meaning only 4 in 100 artifacts needed a retry cycle</a:t>
            </a:r>
          </a:p>
          <a:p>
            <a:r>
              <a:t>- Average end-to-end latency of 47 minutes across the five UAT test cases comfortably beats the 60-minute SLA</a:t>
            </a:r>
          </a:p>
          <a:p>
            <a:r>
              <a:t>- The 90% effort reduction — the primary business objective — is already being observed in the first post-go-live sprint</a:t>
            </a:r>
          </a:p>
          <a:p/>
          <a:p>
            <a:r>
              <a:t>*Budget Breakdown:*</a:t>
            </a:r>
          </a:p>
          <a:p>
            <a:r>
              <a:t>- Professional Services: $275,000 list → $250,000 net after $25,000 APN partner credits</a:t>
            </a:r>
          </a:p>
          <a:p>
            <a:r>
              <a:t>- AWS Activate infrastructure credit ($5,000) applied to Year 1 cloud costs</a:t>
            </a:r>
          </a:p>
          <a:p>
            <a:r>
              <a:t>- Year 1 cloud infrastructure on track at $28,308 net (vs. $33,308 list)</a:t>
            </a:r>
          </a:p>
          <a:p>
            <a:r>
              <a:t>- AWS Business Support at $6,000/year activated post-go-live</a:t>
            </a:r>
          </a:p>
          <a:p>
            <a:r>
              <a:t>- Total Year 1 net investment: $284,308 — within approved budget envelope</a:t>
            </a:r>
          </a:p>
          <a:p/>
          <a:p>
            <a:r>
              <a:t>*Timeline Specifics:*</a:t>
            </a:r>
          </a:p>
          <a:p>
            <a:r>
              <a:t>- M1 Kickoff: Week 1 — all stakeholders confirmed, CTO sign-off process initiated</a:t>
            </a:r>
          </a:p>
          <a:p>
            <a:r>
              <a:t>- M2 Architecture Approved: Week 3 — CTO and Marcus Patel signed architecture design</a:t>
            </a:r>
          </a:p>
          <a:p>
            <a:r>
              <a:t>- M3 Foundation Live: Week 4 — Cognito auth, API Gateway scaffold, DynamoDB quota schema operational</a:t>
            </a:r>
          </a:p>
          <a:p>
            <a:r>
              <a:t>- M4 All Agents Registered: Week 8 — all 5 agents on AgentCore Runtime, Docker image in ECR</a:t>
            </a:r>
          </a:p>
          <a:p>
            <a:r>
              <a:t>- M5 Platform Integration Complete: Week 9 — CLI, 11 Lambda routes, GitHub commit, CloudWatch integrated</a:t>
            </a:r>
          </a:p>
          <a:p>
            <a:r>
              <a:t>- M6 Validation Green: Week 11 — all 12 artifact types passing; green CloudWatch baseline confirmed</a:t>
            </a:r>
          </a:p>
          <a:p>
            <a:r>
              <a:t>- M7 Go-Live: Week 11 — production deployment complete; executive demo delivered to Sarah Lin</a:t>
            </a:r>
          </a:p>
          <a:p>
            <a:r>
              <a:t>- M8 Handover Complete: Week 12 — all 26 deliverables transferred; formal acceptance signed</a:t>
            </a:r>
          </a:p>
          <a:p>
            <a:r>
              <a:t>- M9 Hypercare End: Week 16 (target) — 4-week hypercare period concludes; BAU operations begin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architecture is fully serverless — no EC2, no VPC, no container clusters to operate day-to-day</a:t>
            </a:r>
          </a:p>
          <a:p>
            <a:r>
              <a:t>- Walk through the architecture left-to-right: CLI/API → Cognito auth → Lambda → AgentCore Runtime → Bedrock models → S3 → GitHub</a:t>
            </a:r>
          </a:p>
          <a:p>
            <a:r>
              <a:t>- Every consultant request is authenticated before any Lambda is invoked; quota is checked atomically before Bedrock spend begins</a:t>
            </a:r>
          </a:p>
          <a:p>
            <a:r>
              <a:t>- The eof-tools converter library (~30 Python modules) was baked into the agent container image — no rewrite, no risk, proven conversion for all 12 artifact types</a:t>
            </a:r>
          </a:p>
          <a:p/>
          <a:p>
            <a:r>
              <a:t>*Architecture Decisions Made:*</a:t>
            </a:r>
          </a:p>
          <a:p>
            <a:r>
              <a:t>- Serverless-first: Lambda + AgentCore Runtime abstracts agent lifecycle; scales to 200 solutions/month without ops overhead</a:t>
            </a:r>
          </a:p>
          <a:p>
            <a:r>
              <a:t>- Graded artifact delivery policy in EO Validator allows partial bundle commits for resilience</a:t>
            </a:r>
          </a:p>
          <a:p>
            <a:r>
              <a:t>- API Gateway HTTP API v2 chosen over REST API for lower latency and cost; JWT authoriser eliminates custom auth Lambda</a:t>
            </a:r>
          </a:p>
          <a:p>
            <a:r>
              <a:t>- DynamoDB on-demand capacity confirmed cost-effective at PoC throughput; provisioned capacity can be evaluated at 200 solutions/month steady state</a:t>
            </a:r>
          </a:p>
          <a:p/>
          <a:p>
            <a:r>
              <a:t>*Presales Alignment:*</a:t>
            </a:r>
          </a:p>
          <a:p>
            <a:r>
              <a:t>- Architecture matches Solution Briefing specification exactly</a:t>
            </a:r>
          </a:p>
          <a:p>
            <a:r>
              <a:t>- Services deployed: Cognito, API Gateway, Lambda, DynamoDB, S3, Bedrock AgentCore Runtime, ECR, Secrets Manager, CloudWatch, WAF, CloudTrail</a:t>
            </a:r>
          </a:p>
          <a:p>
            <a:r>
              <a:t>- No scope additions beyond presales commitment; eof-tools integration preserved as existing PREDICTif asset</a:t>
            </a:r>
          </a:p>
          <a:p/>
          <a:p>
            <a:r>
              <a:t>*Component Counts:*</a:t>
            </a:r>
          </a:p>
          <a:p>
            <a:r>
              <a:t>- 5 Strands agents (Input Validator, Pre-Sales Generator, Delivery Generator, Code Generator, EO Validator)</a:t>
            </a:r>
          </a:p>
          <a:p>
            <a:r>
              <a:t>- 11 JWT-protected Lambda route handlers</a:t>
            </a:r>
          </a:p>
          <a:p>
            <a:r>
              <a:t>- 14 CLI subcommands (auth login/logout, solution generate/status/list, artifact download, admin usage, etc.)</a:t>
            </a:r>
          </a:p>
          <a:p>
            <a:r>
              <a:t>- 3 DynamoDB tables (Users, Solutions, GlobalQuota)</a:t>
            </a:r>
          </a:p>
          <a:p>
            <a:r>
              <a:t>- 3 S3 prefixes (raw/, converted/, terraform/)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26 formal deliverables defined in the SOW have been reviewed and accepted by the named acceptance authority</a:t>
            </a:r>
          </a:p>
          <a:p>
            <a:r>
              <a:t>- The 8 rows above represent the primary documentation and automation deliverables — the full list includes deployed systems, training sessions, and the formal acceptance artefact</a:t>
            </a:r>
          </a:p>
          <a:p>
            <a:r>
              <a:t>- All documentation is committed to the agreed GitHub repository and accessible via the artifact download CLI subcommand</a:t>
            </a:r>
          </a:p>
          <a:p/>
          <a:p>
            <a:r>
              <a:t>*Full Deliverable Acceptance Status:*</a:t>
            </a:r>
          </a:p>
          <a:p>
            <a:r>
              <a:t>- Deliverables 1–7 (Phase 1 documents + foundation infrastructure): Accepted by Marcus Patel / CTO by Week 4</a:t>
            </a:r>
          </a:p>
          <a:p>
            <a:r>
              <a:t>- Deliverables 8–17 (agents, Docker pipeline, CLI, Lambda routes, observability): Accepted by Marcus Patel by Week 9</a:t>
            </a:r>
          </a:p>
          <a:p>
            <a:r>
              <a:t>- Deliverables 18–19 (test plan, test results): Accepted by QA sign-off and Marcus Patel by Week 11</a:t>
            </a:r>
          </a:p>
          <a:p>
            <a:r>
              <a:t>- Deliverables 20–21 (production deployment, CLI published to PyPI): Accepted by CTO / Marcus Patel by Week 11</a:t>
            </a:r>
          </a:p>
          <a:p>
            <a:r>
              <a:t>- Deliverables 22–24 (runbooks, as-built docs, knowledge transfer): Accepted by Daniel Park / Marcus Patel by Week 12</a:t>
            </a:r>
          </a:p>
          <a:p>
            <a:r>
              <a:t>- Deliverables 25–26 (Phase 2 roadmap, formal acceptance): Accepted by Sarah Lin by Week 12</a:t>
            </a:r>
          </a:p>
          <a:p/>
          <a:p>
            <a:r>
              <a:t>*Key Deliverable Highlights:*</a:t>
            </a:r>
          </a:p>
          <a:p>
            <a:r>
              <a:t>- Terraform IaC bundle: all 5 core service modules pass `terraform validate` gate; committed to GitHub</a:t>
            </a:r>
          </a:p>
          <a:p>
            <a:r>
              <a:t>- Pip-installable CLI: published to internal PyPI; `pip install amatra-cli` tested end-to-end on macOS and Linux</a:t>
            </a:r>
          </a:p>
          <a:p>
            <a:r>
              <a:t>- Operational Runbooks: 4 runbooks covering the 4 highest-risk operational scenarios reviewed and approved by Daniel Park</a:t>
            </a:r>
          </a:p>
          <a:p>
            <a:r>
              <a:t>- Phase 2 Optimisation Roadmap: documents multi-region, additional artifact types, and 200 solutions/month cost optimisation path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embedded into the delivery process from Day 1 — unit tests written alongside each agent and Lambda route</a:t>
            </a:r>
          </a:p>
          <a:p>
            <a:r>
              <a:t>- Zero critical defects at go-live is the headline achievement; the security test found 2 medium-severity WAF rule gaps that were resolved before production deployment</a:t>
            </a:r>
          </a:p>
          <a:p>
            <a:r>
              <a:t>- The 96% first-attempt validation pass rate is particularly significant because it directly drives the platform ROI — fewer retries mean lower Bedrock token spend per solution</a:t>
            </a:r>
          </a:p>
          <a:p/>
          <a:p>
            <a:r>
              <a:t>*Detailed Testing Breakdown:*</a:t>
            </a:r>
          </a:p>
          <a:p>
            <a:r>
              <a:t>- Unit Tests: 5 agent modules + 11 Lambda route handlers; mocked with pytest and moto respectively; 97% line coverage achieved</a:t>
            </a:r>
          </a:p>
          <a:p>
            <a:r>
              <a:t>- Integration Tests: all 12 artifact types (5 presales + 6 delivery + 1 Terraform bundle) tested end-to-end against staging with real Bedrock calls</a:t>
            </a:r>
          </a:p>
          <a:p>
            <a:r>
              <a:t>- API Route Tests: all 11 Lambda routes tested via CLI and HTTP client; JWT bypass tests all returned 401/403; rate limiting confirmed at 100 req/IP/min</a:t>
            </a:r>
          </a:p>
          <a:p>
            <a:r>
              <a:t>- Quota Contention Tests: 20 concurrent solution submissions; DynamoDB conditional writes enforced per-user (10/month) and global (1,000/month) quotas atomically with zero race conditions observed</a:t>
            </a:r>
          </a:p>
          <a:p>
            <a:r>
              <a:t>- Security Tests: JWT bypass (6 test vectors, all blocked), WAF SQLi/XSS (12 payloads, all blocked), IAM privilege escalation (Access Analyzer — no unintended access), Secrets Manager access control confirmed</a:t>
            </a:r>
          </a:p>
          <a:p/>
          <a:p>
            <a:r>
              <a:t>*Presales SLA Alignment:*</a:t>
            </a:r>
          </a:p>
          <a:p>
            <a:r>
              <a:t>- 95% validation pass rate target: achieved at 96% ✓</a:t>
            </a:r>
          </a:p>
          <a:p>
            <a:r>
              <a:t>- &lt;60 minute end-to-end latency: achieved at 47 minutes average ✓</a:t>
            </a:r>
          </a:p>
          <a:p>
            <a:r>
              <a:t>- Per-user quota (10/month) and global quota (1,000/month): enforced and tested ✓</a:t>
            </a:r>
          </a:p>
          <a:p>
            <a:r>
              <a:t>- Green CloudWatch baseline: Lambda error &lt;1%, DynamoDB throttles = 0, API GW 4xx &lt;2% ✓</a:t>
            </a:r>
          </a:p>
          <a:p>
            <a:r>
              <a:t>- `terraform validate` passes on all Terraform IaC output ✓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seven benefit categories tracked against the SOW success metrics; all targets met or exceeded</a:t>
            </a:r>
          </a:p>
          <a:p>
            <a:r>
              <a:t>- The most impactful benefit is the per-engagement effort reduction — at 120 consultants × 8 hours saved × 200 engagements/month, the annualised consultant time saving is substantial</a:t>
            </a:r>
          </a:p>
          <a:p>
            <a:r>
              <a:t>- The $4.20/solution model spend is 16% under the $5 target, meaning the 3-year infrastructure cost projection may improve as throughput grows</a:t>
            </a:r>
          </a:p>
          <a:p/>
          <a:p>
            <a:r>
              <a:t>*ROI Calculation:*</a:t>
            </a:r>
          </a:p>
          <a:p>
            <a:r>
              <a:t>- Scenario: 120 consultants, average 2 engagements/consultant/month = 240 bundles/month</a:t>
            </a:r>
          </a:p>
          <a:p>
            <a:r>
              <a:t>- Pre-platform: 240 bundles × 8 hrs avg = 1,920 senior consultant hours/month</a:t>
            </a:r>
          </a:p>
          <a:p>
            <a:r>
              <a:t>- Post-platform: 240 bundles × 0.75 hrs avg (submission + review) = 180 senior consultant hours/month</a:t>
            </a:r>
          </a:p>
          <a:p>
            <a:r>
              <a:t>- Hours saved per month: 1,740 hours; at blended $175/hr = $304,500/month saved in consultant capacity</a:t>
            </a:r>
          </a:p>
          <a:p>
            <a:r>
              <a:t>- Payback on $250,000 net PS investment: under 1 month of realised savings at full throughput</a:t>
            </a:r>
          </a:p>
          <a:p>
            <a:r>
              <a:t>- More conservatively, assuming 50% of saved hours redirected to billable work: payback in ~2 months</a:t>
            </a:r>
          </a:p>
          <a:p/>
          <a:p>
            <a:r>
              <a:t>*Future Benefit Projections:*</a:t>
            </a:r>
          </a:p>
          <a:p>
            <a:r>
              <a:t>- Phase 2 multi-region deployment could extend the platform to EMEA and APAC, multiplying throughput and savings</a:t>
            </a:r>
          </a:p>
          <a:p>
            <a:r>
              <a:t>- Additional artifact types in Phase 2 would further reduce manual residual per engagement</a:t>
            </a:r>
          </a:p>
          <a:p>
            <a:r>
              <a:t>- Cost optimisation at 200 solutions/month: amortised infrastructure converges to under $0.50/solution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*What Worked Well — Detail:*</a:t>
            </a:r>
          </a:p>
          <a:p>
            <a:r>
              <a:t>- Foundation-first (Cognito + DynamoDB + API GW before agents): ensured the team never spent Bedrock budget on an unauthenticated system; also gave Marcus Patel an early tangible deliverable to rally stakeholder confidence</a:t>
            </a:r>
          </a:p>
          <a:p>
            <a:r>
              <a:t>- Incremental agent validation: each of the 5 agents was unit-tested independently before wiring into the multi-agent graph; Phase 3 integration revealed only minor issues, not fundamental design flaws</a:t>
            </a:r>
          </a:p>
          <a:p>
            <a:r>
              <a:t>- eof-tools as container image bake-in: decision to avoid rewriting eof-tools saved an estimated 3–4 weeks of engineering effort and eliminated conversion bug risk</a:t>
            </a:r>
          </a:p>
          <a:p>
            <a:r>
              <a:t>- DynamoDB conditional writes: atomic pattern prevented quota races under the 20-concurrent-submissions load test; a simpler get-then-update pattern would have had race conditions</a:t>
            </a:r>
          </a:p>
          <a:p>
            <a:r>
              <a:t>- Scope deferral policy: agreeing upfront which items were deferred to Phase 2 protected the April executive demo deadline when timeline pressure arose in Week 9</a:t>
            </a:r>
          </a:p>
          <a:p/>
          <a:p>
            <a:r>
              <a:t>*Challenges and How They Were Resolved:*</a:t>
            </a:r>
          </a:p>
          <a:p>
            <a:r>
              <a:t>- Bedrock service quota in us-west-2: Claude Sonnet 4.6 tokens-per-minute quota hit during load testing in Week 10; resolved by submitting a quota increase request in Week 5 (earlier than planned) and running load tests during off-peak hours while the increase was processed</a:t>
            </a:r>
          </a:p>
          <a:p>
            <a:r>
              <a:t>- CTO sign-off scheduling: CTO availability for the Week 3 architecture review was delayed by two days due to a conflicting board meeting; resolved by distributing the architecture document for asynchronous review and holding a 30-minute focused sign-off call; no timeline impact</a:t>
            </a:r>
          </a:p>
          <a:p/>
          <a:p>
            <a:r>
              <a:t>*Recommendations — Priority and Expected Benefit:*</a:t>
            </a:r>
          </a:p>
          <a:p>
            <a:r>
              <a:t>- Phase 2 multi-region: primary recommendation; EMEA and APAC regions extend the platform to international consultants; estimated 3-month build; requires separate SOW</a:t>
            </a:r>
          </a:p>
          <a:p>
            <a:r>
              <a:t>- Sonnet/Haiku ratio optimisation: some artifact types (e.g., RAID log, configuration CSV) may be fully generatable by Haiku 4.5 alone; shifting these would reduce model spend per solution by ~15–20%</a:t>
            </a:r>
          </a:p>
          <a:p>
            <a:r>
              <a:t>- Bedrock Provisioned Throughput: at 200 solutions/month, provisioned throughput for Sonnet 4.6 may reduce per-token cost by ~30% vs. on-demand; worth evaluating at Month 6 post-go-live</a:t>
            </a:r>
          </a:p>
          <a:p>
            <a:r>
              <a:t>- Quarterly platform performance reviews: formalised review cadence to assess validation pass rate trends, quota utilisation, and CloudWatch alarm frequency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hypercare period runs for exactly 4 weeks (Weeks 12–16) as committed in the SOW; coverage is business hours Monday–Friday, 8 AM–6 PM Pacific Time</a:t>
            </a:r>
          </a:p>
          <a:p>
            <a:r>
              <a:t>- After hypercare, the platform runs under Daniel Park's Delivery Operations team using the 4 operational runbooks delivered as Deliverable 22</a:t>
            </a:r>
          </a:p>
          <a:p>
            <a:r>
              <a:t>- The escalation structure is internal to PREDICTif after Week 16 — Amatra's involvement post-hypercare is by separate agreement only</a:t>
            </a:r>
          </a:p>
          <a:p/>
          <a:p>
            <a:r>
              <a:t>*Response Time by Severity (Hypercare):*</a:t>
            </a:r>
          </a:p>
          <a:p>
            <a:r>
              <a:t>- Severity 1 (platform down, generation completely blocked): 2-hour response and workaround; vendor team contacted via marcus.patel@predictif.com</a:t>
            </a:r>
          </a:p>
          <a:p>
            <a:r>
              <a:t>- Severity 2 (generation degraded, individual artifact type failing): 4-hour response</a:t>
            </a:r>
          </a:p>
          <a:p>
            <a:r>
              <a:t>- Severity 3 (cosmetic issues, documentation queries): next business day</a:t>
            </a:r>
          </a:p>
          <a:p/>
          <a:p>
            <a:r>
              <a:t>*What is Covered in Hypercare:*</a:t>
            </a:r>
          </a:p>
          <a:p>
            <a:r>
              <a:t>- Production defects in delivered platform code and configuration</a:t>
            </a:r>
          </a:p>
          <a:p>
            <a:r>
              <a:t>- Agent prompt tuning (adjustments within EO Framework spec)</a:t>
            </a:r>
          </a:p>
          <a:p>
            <a:r>
              <a:t>- Quota adjustment (per-user or global limit changes)</a:t>
            </a:r>
          </a:p>
          <a:p>
            <a:r>
              <a:t>- GitHub commit troubleshooting</a:t>
            </a:r>
          </a:p>
          <a:p>
            <a:r>
              <a:t>- CloudWatch alert investigation and resolution</a:t>
            </a:r>
          </a:p>
          <a:p/>
          <a:p>
            <a:r>
              <a:t>*What is NOT Covered in Hypercare:*</a:t>
            </a:r>
          </a:p>
          <a:p>
            <a:r>
              <a:t>- New feature requests or new artifact types</a:t>
            </a:r>
          </a:p>
          <a:p>
            <a:r>
              <a:t>- Additional CLI subcommands</a:t>
            </a:r>
          </a:p>
          <a:p>
            <a:r>
              <a:t>- Changes to EO Framework guidance files (client responsibility)</a:t>
            </a:r>
          </a:p>
          <a:p>
            <a:r>
              <a:t>- These require a change request or Phase 2 engagement</a:t>
            </a:r>
          </a:p>
          <a:p/>
          <a:p>
            <a:r>
              <a:t>*Key Contacts Post-Hypercare:*</a:t>
            </a:r>
          </a:p>
          <a:p>
            <a:r>
              <a:t>- Platform Operations: Daniel Park — owns CloudWatch dashboards, runbooks, and quota management</a:t>
            </a:r>
          </a:p>
          <a:p>
            <a:r>
              <a:t>- Technical Escalation: Marcus Patel — architecture decisions and Phase 2 scoping</a:t>
            </a:r>
          </a:p>
          <a:p>
            <a:r>
              <a:t>- AWS Support: Business Support case via AWS console (24x7, &lt;1-hour critical response SLA active)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Emphasise that delivery success was a true partnership — the client's responsiveness on CTO scheduling, UAT participation, and Bedrock quota management were all critical enablers</a:t>
            </a:r>
          </a:p>
          <a:p>
            <a:r>
              <a:t>- Recognise the Pre-Sales Engineering team members who participated in UAT with Marcus Patel — their feedback shaped the final prompt tuning pass in Week 11</a:t>
            </a:r>
          </a:p>
          <a:p>
            <a:r>
              <a:t>- Daniel Park's early involvement in runbook review (Week 11, ahead of the Week 12 target) meant the ops team was confident before hypercare began</a:t>
            </a:r>
          </a:p>
          <a:p/>
          <a:p>
            <a:r>
              <a:t>*Specific Recognition:*</a:t>
            </a:r>
          </a:p>
          <a:p>
            <a:r>
              <a:t>- Sarah Lin: reviewed UAT output personally in Week 11 as part of exec demo preparation; her direct feedback on the solution briefing artifact quality led to a prompt adjustment that improved presales bundle coherence</a:t>
            </a:r>
          </a:p>
          <a:p>
            <a:r>
              <a:t>- Marcus Patel: primary day-to-day counterpart for 12 weeks; responded to every technical clarification within hours; co-authored the UAT scenarios that became the regression test suite</a:t>
            </a:r>
          </a:p>
          <a:p>
            <a:r>
              <a:t>- Daniel Park: accepted all 4 operational runbooks ahead of schedule; proactively added CloudWatch alarm thresholds for quota utilisation based on operational experience</a:t>
            </a:r>
          </a:p>
          <a:p>
            <a:r>
              <a:t>- CTO: turned around the Cognito user pool sign-off within 24 hours of receiving the architecture document; no timeline impact</a:t>
            </a:r>
          </a:p>
          <a:p/>
          <a:p>
            <a:r>
              <a:t>*Next Steps Timeline:*</a:t>
            </a:r>
          </a:p>
          <a:p>
            <a:r>
              <a:t>- This week (Week 12): formal project acceptance document signed by Sarah Lin; all 26 deliverables confirmed received; Milestone 4 invoice (15% — $37,500) issued</a:t>
            </a:r>
          </a:p>
          <a:p>
            <a:r>
              <a:t>- Weeks 12–16: hypercare in effect; daily standup with Daniel Park at 9 AM Pacific; vendor team available for production issues</a:t>
            </a:r>
          </a:p>
          <a:p>
            <a:r>
              <a:t>- Week 16: hypercare close-out meeting; support formally transitioned to BAU under Daniel Park</a:t>
            </a:r>
          </a:p>
          <a:p>
            <a:r>
              <a:t>- Month 4 (approx. August 2026): Phase 2 planning workshop — multi-region design, additional artifact type prioritisation, Bedrock provisioned throughput evaluation, and Sonnet/Haiku ratio optimisation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— the team has backup detail on budget variance, test results breakdown, quota enforcement mechanics, and Phase 2 roadmap sizing</a:t>
            </a:r>
          </a:p>
          <a:p>
            <a:r>
              <a:t>- Have the Test Results Report (Deliverable 19) and Phase 2 Optimisation Recommendations (Deliverable 25) ready as reference documents for deep-dive questions</a:t>
            </a:r>
          </a:p>
          <a:p>
            <a:r>
              <a:t>- If Sarah Lin asks about the formal acceptance process: the acceptance form is pre-populated and ready to sign today; Milestone 4 invoice will be issued within 24 hours of signature</a:t>
            </a:r>
          </a:p>
          <a:p>
            <a:r>
              <a:t>- If there are questions about the hypercare period scope or escalation: refer to Slide 8 and the Operational Runbook (Deliverable 22)</a:t>
            </a:r>
          </a:p>
          <a:p>
            <a:r>
              <a:t>- Close on a positive note — the platform is live, validated, and already delivering the 90% effort reduction that PREDICTif committed to at project kickoff</a:t>
            </a:r>
          </a:p>
          <a:p>
            <a:r>
              <a:t>- Express genuine appreciation for the partnership and signal readiness to begin Phase 2 scoping discussions at the Month 4 planning workshop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Agentic Orchestration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Marcus Patel | 2026-04-30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Duration:</a:t>
            </a:r>
            <a:r>
              <a:t> 12 weeks delivered on schedule (Q2 2026)</a:t>
            </a:r>
          </a:p>
          <a:p>
            <a:pPr/>
            <a:r>
              <a:rPr b="1"/>
              <a:t>Budget:</a:t>
            </a:r>
            <a:r>
              <a:t> $250,000 net professional services, on budget</a:t>
            </a:r>
          </a:p>
          <a:p>
            <a:pPr/>
            <a:r>
              <a:rPr b="1"/>
              <a:t>Go-Live:</a:t>
            </a:r>
            <a:r>
              <a:t> Week 11 — production live as planned</a:t>
            </a:r>
          </a:p>
          <a:p>
            <a:pPr/>
            <a:r>
              <a:rPr b="1"/>
              <a:t>Executive Demo:</a:t>
            </a:r>
            <a:r>
              <a:t> Delivered to Sarah Lin (CRO) on schedule</a:t>
            </a:r>
          </a:p>
          <a:p>
            <a:pPr/>
            <a:r>
              <a:rPr b="1"/>
              <a:t>Agents Deployed:</a:t>
            </a:r>
            <a:r>
              <a:t> 5 Strands agents on Bedrock AgentCore Runtime</a:t>
            </a:r>
          </a:p>
          <a:p>
            <a:pPr/>
            <a:r>
              <a:rPr b="1"/>
              <a:t>Validation Pass Rate:</a:t>
            </a:r>
            <a:r>
              <a:t> 96% first-attempt across all 12 artifact types</a:t>
            </a:r>
          </a:p>
          <a:p>
            <a:pPr/>
            <a:r>
              <a:rPr b="1"/>
              <a:t>End-to-End Latency:</a:t>
            </a:r>
            <a:r>
              <a:t> Avg 47 minutes per 12-artifact bundle (&lt;60 min target)</a:t>
            </a:r>
          </a:p>
          <a:p>
            <a:pPr/>
            <a:r>
              <a:rPr b="1"/>
              <a:t>Throughput Capacity:</a:t>
            </a:r>
            <a:r>
              <a:t> 200 solutions/month unlocked at &lt;$5 model spend</a:t>
            </a:r>
          </a:p>
          <a:p>
            <a:pPr/>
            <a:r>
              <a:rPr b="1"/>
              <a:t>Effort Reduction:</a:t>
            </a:r>
            <a:r>
              <a:t> 90% reduction — 8 hrs to &lt;1 hr per engagement</a:t>
            </a:r>
          </a:p>
          <a:p>
            <a:pPr/>
            <a:r>
              <a:rPr b="1"/>
              <a:t>CTO Sign-Off:</a:t>
            </a:r>
            <a:r>
              <a:t> Cognito user pool approved; production deployment authorised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Agent &amp; Orchestration Layer</a:t>
            </a:r>
          </a:p>
          <a:p>
            <a:pPr lvl="1"/>
            <a:r>
              <a:t>Five Strands agents on AgentCore Runtime</a:t>
            </a:r>
          </a:p>
          <a:p>
            <a:pPr lvl="1"/>
            <a:r>
              <a:t>Sonnet 4.6 generation, Haiku 4.5 validation</a:t>
            </a:r>
          </a:p>
          <a:p>
            <a:pPr lvl="1"/>
            <a:r>
              <a:t>Up to 3 retries per artifact via EO Validator</a:t>
            </a:r>
          </a:p>
          <a:p>
            <a:pPr/>
            <a:r>
              <a:rPr b="1"/>
              <a:t>Platform &amp; Security Layer</a:t>
            </a:r>
          </a:p>
          <a:p>
            <a:pPr lvl="1"/>
            <a:r>
              <a:t>Cognito JWT auth; 11 API Gateway routes</a:t>
            </a:r>
          </a:p>
          <a:p>
            <a:pPr lvl="1"/>
            <a:r>
              <a:t>DynamoDB quota enforcement; S3 artifact store</a:t>
            </a:r>
          </a:p>
          <a:p>
            <a:pPr lvl="1"/>
            <a:r>
              <a:t>WAF, CloudTrail audit, Secrets Manager</a:t>
            </a:r>
          </a:p>
          <a:p>
            <a:pPr/>
            <a:r>
              <a:rPr b="1"/>
              <a:t>CLI &amp; Observability Layer</a:t>
            </a:r>
          </a:p>
          <a:p>
            <a:pPr lvl="1"/>
            <a:r>
              <a:t>14-subcommand pip-installable CLI</a:t>
            </a:r>
          </a:p>
          <a:p>
            <a:pPr lvl="1"/>
            <a:r>
              <a:t>CloudWatch dashboards; per-phase token metrics</a:t>
            </a:r>
          </a:p>
          <a:p>
            <a:pPr lvl="1"/>
            <a:r>
              <a:t>GitHub PAT-based artifact commit pipeline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Multi-agent graph, AWS architecture, security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and configuration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resource allocation, RACI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 cases, pass/fail outcomes, UAT sign-off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as Code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Terraform modules for all 5 core AWS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Environment parameters for dev, staging, prod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 recovery, quota reset, PAT rotation, image update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As-Built Architecture &amp; API Reference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OpenAPI 3.0 spec, CLI command reference, operator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`/delivery/api-reference.md`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Unit test coverage: 97% (target: 80%)</a:t>
            </a:r>
          </a:p>
          <a:p>
            <a:pPr lvl="1"/>
            <a:r>
              <a:t>All 12 artifact types: integration tested</a:t>
            </a:r>
          </a:p>
          <a:p>
            <a:pPr lvl="1"/>
            <a:r>
              <a:t>Critical defects at go-live: 0</a:t>
            </a:r>
          </a:p>
          <a:p>
            <a:pPr lvl="1"/>
            <a:r>
              <a:t>Security findings resolved: 100%</a:t>
            </a:r>
          </a:p>
          <a:p>
            <a:pPr lvl="1"/>
            <a:r>
              <a:t>UAT sign-off: Marcus Patel — passed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Validation pass rate: 96% (target: 95%)</a:t>
            </a:r>
          </a:p>
          <a:p>
            <a:pPr lvl="1"/>
            <a:r>
              <a:t>End-to-end latency: 47 min (target: &lt;60 min)</a:t>
            </a:r>
          </a:p>
          <a:p>
            <a:pPr lvl="1"/>
            <a:r>
              <a:t>Lambda error rate: 0.3% (target: &lt;1%)</a:t>
            </a:r>
          </a:p>
          <a:p>
            <a:pPr lvl="1"/>
            <a:r>
              <a:t>DynamoDB throttles at go-live: 0</a:t>
            </a:r>
          </a:p>
          <a:p>
            <a:pPr lvl="1"/>
            <a:r>
              <a:t>API Gateway 4xx rate: 1.1% (target: &lt;2%)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567967"/>
                <a:gridCol w="1567967"/>
                <a:gridCol w="2787498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Per-Engagement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8–10 hrs → under 1 hr per bundle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End-to-End Latency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&lt;60 min/bundle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47 min avg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Same-day proposal response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Validation Pass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 first attempt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96% first attempt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Fewer retries; lower model cost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Pipeline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solutions/month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200/month unlocked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Sequential bottleneck 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Model Spend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&lt;$5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~$4.20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16% under target; ROI accelerated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Consultant Hours Freed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120 consultants ×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Realised from Day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Senior time redirected to client 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Audit &amp; Quota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DynamoDB audit trail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Operational from Day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CloudTrail + quota enforcement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Foundation-first: auth proven before AI spend began</a:t>
            </a:r>
          </a:p>
          <a:p>
            <a:pPr lvl="1"/>
            <a:r>
              <a:t>Incremental agent validation de-risked Phase 3</a:t>
            </a:r>
          </a:p>
          <a:p>
            <a:pPr lvl="1"/>
            <a:r>
              <a:t>eof-tools baked into image — zero rewrite risk</a:t>
            </a:r>
          </a:p>
          <a:p>
            <a:pPr lvl="1"/>
            <a:r>
              <a:t>DynamoDB conditional writes ensured atomic quota</a:t>
            </a:r>
          </a:p>
          <a:p>
            <a:pPr lvl="1"/>
            <a:r>
              <a:t>Fixed scope gates protected the April deadline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Bedrock quota in us-west-2 needed early request</a:t>
            </a:r>
          </a:p>
          <a:p>
            <a:pPr lvl="1"/>
            <a:r>
              <a:t>CTO sign-off scheduling required proactive outreach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Initiate Phase 2 multi-region design immediately</a:t>
            </a:r>
          </a:p>
          <a:p>
            <a:pPr lvl="1"/>
            <a:r>
              <a:t>Optimise Sonnet 4.6 vs. Haiku 4.5 usage ratio</a:t>
            </a:r>
          </a:p>
          <a:p>
            <a:pPr lvl="1"/>
            <a:r>
              <a:t>Evaluate Bedrock Provisioned Throughput at scale</a:t>
            </a:r>
          </a:p>
          <a:p>
            <a:pPr lvl="1"/>
            <a:r>
              <a:t>Formalise quarterly platform performance reviews</a:t>
            </a:r>
          </a:p>
          <a:p>
            <a:pPr lvl="1"/>
            <a:r>
              <a:t>Expand artifact types to cover additional use cases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12–16)</a:t>
            </a:r>
          </a:p>
          <a:p>
            <a:pPr lvl="1"/>
            <a:r>
              <a:t>Dedicated vendor team available business hours</a:t>
            </a:r>
          </a:p>
          <a:p>
            <a:pPr lvl="1"/>
            <a:r>
              <a:t>Daily standup with Daniel Park's ops team</a:t>
            </a:r>
          </a:p>
          <a:p>
            <a:pPr lvl="1"/>
            <a:r>
              <a:t>Sev 1 response: 2-hour workaround SLA</a:t>
            </a:r>
          </a:p>
          <a:p>
            <a:pPr lvl="1"/>
            <a:r>
              <a:t>Sev 2 response: 4-hour resolution SLA</a:t>
            </a:r>
          </a:p>
          <a:p>
            <a:pPr lvl="1"/>
            <a:r>
              <a:t>Proactive CloudWatch dashboard monitoring</a:t>
            </a:r>
          </a:p>
          <a:p>
            <a:pPr/>
            <a:r>
              <a:rPr b="1"/>
              <a:t>Transition (Week 16 Handover)</a:t>
            </a:r>
          </a:p>
          <a:p>
            <a:pPr lvl="1"/>
            <a:r>
              <a:t>Full runbook walkthrough completed</a:t>
            </a:r>
          </a:p>
          <a:p>
            <a:pPr lvl="1"/>
            <a:r>
              <a:t>CloudWatch dashboard access transferred</a:t>
            </a:r>
          </a:p>
          <a:p>
            <a:pPr lvl="1"/>
            <a:r>
              <a:t>Admin API keys and Cognito admin provisioned</a:t>
            </a:r>
          </a:p>
          <a:p>
            <a:pPr lvl="1"/>
            <a:r>
              <a:t>GitHub PAT rotation procedure demonstrated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Steady State (Week 17+)</a:t>
            </a:r>
          </a:p>
          <a:p>
            <a:pPr lvl="1"/>
            <a:r>
              <a:t>Daniel Park's team owns ops independently</a:t>
            </a:r>
          </a:p>
          <a:p>
            <a:pPr lvl="1"/>
            <a:r>
              <a:t>Monthly CloudWatch performance review</a:t>
            </a:r>
          </a:p>
          <a:p>
            <a:pPr lvl="1"/>
            <a:r>
              <a:t>Quarterly business reviews with Sarah Lin</a:t>
            </a:r>
          </a:p>
          <a:p>
            <a:pPr lvl="1"/>
            <a:r>
              <a:t>Phase 2 planning workshop at Month 4</a:t>
            </a:r>
          </a:p>
          <a:p>
            <a:pPr/>
            <a:r>
              <a:rPr b="1"/>
              <a:t>Escalation Contacts</a:t>
            </a:r>
          </a:p>
          <a:p>
            <a:pPr lvl="1"/>
            <a:r>
              <a:t>L1 (ops): daniel.park@predictif.com</a:t>
            </a:r>
          </a:p>
          <a:p>
            <a:pPr lvl="1"/>
            <a:r>
              <a:t>L2 (technical): marcus.patel@predictif.com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Sarah Lin (CRO) — executive vision, budget authority, and UAT leadership</a:t>
            </a:r>
          </a:p>
          <a:p>
            <a:pPr/>
            <a:r>
              <a:t>Marcus Patel — technical leadership, architecture approval, and UAT ownership</a:t>
            </a:r>
          </a:p>
          <a:p>
            <a:pPr/>
            <a:r>
              <a:t>Daniel Park — delivery operations readiness and runbook acceptance</a:t>
            </a:r>
          </a:p>
          <a:p>
            <a:pPr/>
            <a:r>
              <a:t>CTO — architecture sign-off enabling production deployment on schedule</a:t>
            </a:r>
          </a:p>
          <a:p>
            <a:pPr/>
            <a:r>
              <a:rPr b="1"/>
              <a:t>This Week:</a:t>
            </a:r>
            <a:r>
              <a:t> Formal acceptance sign-off and documentation handover</a:t>
            </a:r>
          </a:p>
          <a:p>
            <a:pPr/>
            <a:r>
              <a:rPr b="1"/>
              <a:t>Next 30 Days:</a:t>
            </a:r>
            <a:r>
              <a:t> Hypercare support — daily standups and proactive monitoring</a:t>
            </a:r>
          </a:p>
          <a:p>
            <a:pPr/>
            <a:r>
              <a:rPr b="1"/>
              <a:t>Month 4:</a:t>
            </a:r>
            <a:r>
              <a:t> Phase 2 planning workshop — multi-region and artifact expansion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