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with confidence — every contractual commitment was met or exceeded</a:t>
            </a:r>
          </a:p>
          <a:p>
            <a:r>
              <a:t>- Phase 1 Pre-Sales MVP was live on 30 September 2026, satisfying the hard deadline before Amatra's flagship client renewal on 31 January 2027</a:t>
            </a:r>
          </a:p>
          <a:p>
            <a:r>
              <a:t>- Phase 2 Delivery &amp; Terraform automation went live on 15 December 2026, ahead of the holiday freeze</a:t>
            </a:r>
          </a:p>
          <a:p>
            <a:r>
              <a:t>- General Availability achieved in Q1 2027 with all ~120 internal users onboarded via Cognito (migrated from Okta with zero access disruption)</a:t>
            </a:r>
          </a:p>
          <a:p>
            <a:r>
              <a:t>- QA first-pass rate of 92% exceeded the 90% contractual target by Week 8 post-go-live</a:t>
            </a:r>
          </a:p>
          <a:p/>
          <a:p>
            <a:r>
              <a:t>*Budget Details:*</a:t>
            </a:r>
          </a:p>
          <a:p>
            <a:r>
              <a:t>- List price: $375,000 PS + $61,348 infrastructure + $1,632 software + $173 connectivity + $6,120 support = $444,273 Year 1 list</a:t>
            </a:r>
          </a:p>
          <a:p>
            <a:r>
              <a:t>- Credits applied: $30,000 PS credits (APN Advanced + Bedrock Early Adopter + volume discount) + $5,000 infrastructure credit = $35,000 total</a:t>
            </a:r>
          </a:p>
          <a:p>
            <a:r>
              <a:t>- Net Year 1 investment: $409,273 — within approved budget envelope</a:t>
            </a:r>
          </a:p>
          <a:p>
            <a:r>
              <a:t>- Year 2 and Year 3 run-rate: ~$69,273/year (infrastructure + licenses + support only; no PS fees)</a:t>
            </a:r>
          </a:p>
          <a:p>
            <a:r>
              <a:t>- 3-year TCO: $547,819 vs. estimated $900K+ for 3 FTEs maintaining manual workflow</a:t>
            </a:r>
          </a:p>
          <a:p/>
          <a:p>
            <a:r>
              <a:t>*Quality Summary:*</a:t>
            </a:r>
          </a:p>
          <a:p>
            <a:r>
              <a:t>- Zero critical (Severity 1) defects at Phase 1 go-live</a:t>
            </a:r>
          </a:p>
          <a:p>
            <a:r>
              <a:t>- Zero critical defects at Phase 2 go-live</a:t>
            </a:r>
          </a:p>
          <a:p>
            <a:r>
              <a:t>- 8-week hypercare completed with no platform-down incidents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Architecture is fully serverless — zero managed server infrastructure to patch or scale</a:t>
            </a:r>
          </a:p>
          <a:p>
            <a:r>
              <a:t>- Walk the audience through three logical layers: AI generation at the top, platform and data in the middle, security and compliance at the base</a:t>
            </a:r>
          </a:p>
          <a:p>
            <a:r>
              <a:t>- All services deployed exclusively in us-west-2 (United States data residency — GDPR-aligned)</a:t>
            </a:r>
          </a:p>
          <a:p/>
          <a:p>
            <a:r>
              <a:t>*Technical Highlights:*</a:t>
            </a:r>
          </a:p>
          <a:p>
            <a:r>
              <a:t>- Bedrock Claude 3 Sonnet powers all 7+ artifact type generations</a:t>
            </a:r>
          </a:p>
          <a:p>
            <a:r>
              <a:t>- Step Functions standard workflows handle 30–60 min jobs — no Lambda timeout risk</a:t>
            </a:r>
          </a:p>
          <a:p>
            <a:r>
              <a:t>- SQS FIFO with idempotency keys ensures exactly-once job processing even on retry</a:t>
            </a:r>
          </a:p>
          <a:p>
            <a:r>
              <a:t>- DynamoDB on-demand mode handles per-user and global usage limit enforcement</a:t>
            </a:r>
          </a:p>
          <a:p>
            <a:r>
              <a:t>- S3 versioned buckets with lifecycle policies: Standard → Intelligent-Tiering (90 days) → Glacier (365 days)</a:t>
            </a:r>
          </a:p>
          <a:p>
            <a:r>
              <a:t>- Cognito User Pool replaced Okta; all 120 users migrated with zero access disruption</a:t>
            </a:r>
          </a:p>
          <a:p/>
          <a:p>
            <a:r>
              <a:t>*Presales Alignment:*</a:t>
            </a:r>
          </a:p>
          <a:p>
            <a:r>
              <a:t>- Architecture matches the Solution Briefing specification exactly</a:t>
            </a:r>
          </a:p>
          <a:p>
            <a:r>
              <a:t>- Services: Bedrock, Lambda, API Gateway, Step Functions, SQS, DynamoDB, S3, Cognito, WAF, CloudTrail, Secrets Manager, KMS, PrivateLink, CloudFront, SES, X-Ray, Config, CloudWatch — all in original scope</a:t>
            </a:r>
          </a:p>
          <a:p>
            <a:r>
              <a:t>- No scope additions beyond presales commitment</a:t>
            </a:r>
          </a:p>
          <a:p/>
          <a:p>
            <a:r>
              <a:t>*Design Decisions:*</a:t>
            </a:r>
          </a:p>
          <a:p>
            <a:r>
              <a:t>- Step Functions over EventBridge Pipes — chosen for native execution history, retry configuration, and error-state visibility</a:t>
            </a:r>
          </a:p>
          <a:p>
            <a:r>
              <a:t>- DynamoDB on-demand over provisioned — cost-optimal at 24 engagements/quarter; no capacity planning required</a:t>
            </a:r>
          </a:p>
          <a:p>
            <a:r>
              <a:t>- API Gateway REST (not HTTP) — required for Cognito authoriser with custom usage-limit enforcement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30 formal deliverables listed in the SOW have been reviewed and formally accepted by the designated Amatra stakeholders</a:t>
            </a:r>
          </a:p>
          <a:p>
            <a:r>
              <a:t>- Highlight the Terraform IaC — 100% coverage across Dev, Staging, and Production; any future infrastructure change goes through the same GitHub Actions pipeline, not manual console clicks</a:t>
            </a:r>
          </a:p>
          <a:p>
            <a:r>
              <a:t>- SOC 2 evidence package includes: CloudTrail exports, Config compliance history, Cognito access logs, Secrets Manager rotation logs, IAM Access Analyzer findings, encryption-at-rest inventory</a:t>
            </a:r>
          </a:p>
          <a:p/>
          <a:p>
            <a:r>
              <a:t>*Key Deliverable Highlights:*</a:t>
            </a:r>
          </a:p>
          <a:p>
            <a:r>
              <a:t>- **Detailed Design Document** — covers all ADRs, component topology, DynamoDB schemas, S3 structure, async pipeline design, and Bedrock prompt engineering strategy</a:t>
            </a:r>
          </a:p>
          <a:p>
            <a:r>
              <a:t>- **Implementation Guide** — step-by-step runbook for deploying the platform from scratch; validated by the VP Engineering</a:t>
            </a:r>
          </a:p>
          <a:p>
            <a:r>
              <a:t>- **Configuration Guide** — all Lambda memory/timeout settings, API Gateway throttle limits, DynamoDB table configs, and Bedrock model parameter choices documented</a:t>
            </a:r>
          </a:p>
          <a:p>
            <a:r>
              <a:t>- **Terraform IaC** — modular structure with separate modules for each AWS service; tfvars files per environment; S3+DynamoDB remote state backend</a:t>
            </a:r>
          </a:p>
          <a:p/>
          <a:p>
            <a:r>
              <a:t>*Acceptance Status:*</a:t>
            </a:r>
          </a:p>
          <a:p>
            <a:r>
              <a:t>- All deliverables formally accepted; sign-off documentation on file</a:t>
            </a:r>
          </a:p>
          <a:p>
            <a:r>
              <a:t>- Training materials (admin deck, pre-sales user guide, delivery team guide) delivered at Week 30 and Week 32 sessions</a:t>
            </a:r>
          </a:p>
          <a:p>
            <a:r>
              <a:t>- Hypercare Report and Optimisation Roadmap delivered at Week 36 (project close)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Quality was embedded at every stage — not bolted on at the end</a:t>
            </a:r>
          </a:p>
          <a:p>
            <a:r>
              <a:t>- QA Engineer developed test cases against the internal QA rubric for all 7+ artifact types across three client brief complexity levels (simple, medium, complex)</a:t>
            </a:r>
          </a:p>
          <a:p>
            <a:r>
              <a:t>- UAT with 8 pre-sales consultants from the Head of Solutions team validated that 92% of generated artifacts passed QA on first review — exceeding the 90% contractual target</a:t>
            </a:r>
          </a:p>
          <a:p/>
          <a:p>
            <a:r>
              <a:t>*Testing Phases Completed:*</a:t>
            </a:r>
          </a:p>
          <a:p>
            <a:r>
              <a:t>1. Functional &amp; Integration Testing (Weeks 21–24): API Gateway → Lambda → Bedrock → S3 end-to-end; Cognito auth flows; DynamoDB usage-limit enforcement</a:t>
            </a:r>
          </a:p>
          <a:p>
            <a:r>
              <a:t>2. Performance &amp; Load Testing (Week 24): 10 concurrent brief submissions — all completed within 72 minutes; 25-job stress test confirmed headroom</a:t>
            </a:r>
          </a:p>
          <a:p>
            <a:r>
              <a:t>3. Security &amp; Compliance Testing (Week 25): OWASP API Security Top 10; WAF rule validation; Cognito bypass tests; CloudTrail completeness audit; encryption-at-rest verification</a:t>
            </a:r>
          </a:p>
          <a:p>
            <a:r>
              <a:t>4. DR Testing (Week 25): DynamoDB PITR restoration validated RPO &lt;1 hour; Lambda Terraform redeployment validated RTO &lt;4 hours</a:t>
            </a:r>
          </a:p>
          <a:p>
            <a:r>
              <a:t>5. UAT (Week 26): 8 pre-sales consultants; 92% first-pass acceptance; all Severity 1/2 defects resolved before go-live sign-off</a:t>
            </a:r>
          </a:p>
          <a:p/>
          <a:p>
            <a:r>
              <a:t>*Presales SLA Alignment:*</a:t>
            </a:r>
          </a:p>
          <a:p>
            <a:r>
              <a:t>- 99.9% availability target → Achieved 99.95% in production (measured monthly via CloudWatch)</a:t>
            </a:r>
          </a:p>
          <a:p>
            <a:r>
              <a:t>- ≥90% QA first-pass rate → Achieved 92% by Week 8 post-go-live</a:t>
            </a:r>
          </a:p>
          <a:p>
            <a:r>
              <a:t>- 30–60 min async job duration → Average 42 minutes; max observed 58 minutes under concurrent load</a:t>
            </a:r>
          </a:p>
          <a:p>
            <a:r>
              <a:t>- Zero data loss on legacy monolith decommission → Confirmed; data archive validated before DNS cutover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Benefits are measurable within 8 weeks of Phase 1 go-live — faster than projected</a:t>
            </a:r>
          </a:p>
          <a:p>
            <a:r>
              <a:t>- Artifact turnaround has gone from ~3 weeks to an average of ~4 hours — greater than 95% reduction, exceeding the sub-2-business-day target</a:t>
            </a:r>
          </a:p>
          <a:p>
            <a:r>
              <a:t>- Throughput is ramping: 22 engagements/quarter in the first full quarter post-GA; targeting the 24/quarter run rate by Q2 2027 as all users build familiarity with the platform</a:t>
            </a:r>
          </a:p>
          <a:p/>
          <a:p>
            <a:r>
              <a:t>*ROI Calculation:*</a:t>
            </a:r>
          </a:p>
          <a:p>
            <a:r>
              <a:t>- 3 FTE equivalent at Amatra avg fully-loaded cost ~$104K/year = $312K/year saved</a:t>
            </a:r>
          </a:p>
          <a:p>
            <a:r>
              <a:t>- Net Year 1 investment: $409,273 (including $35K in credits)</a:t>
            </a:r>
          </a:p>
          <a:p>
            <a:r>
              <a:t>- Year 2 run-rate: $69,273</a:t>
            </a:r>
          </a:p>
          <a:p>
            <a:r>
              <a:t>- Break-even: approximately Month 10–11 post-go-live (Q3 2027)</a:t>
            </a:r>
          </a:p>
          <a:p>
            <a:r>
              <a:t>- 3-year net benefit: ($312K × 3) – $547,819 TCO = $388K net value delivered</a:t>
            </a:r>
          </a:p>
          <a:p/>
          <a:p>
            <a:r>
              <a:t>*Detail on Throughput Ramp:*</a:t>
            </a:r>
          </a:p>
          <a:p>
            <a:r>
              <a:t>- Baseline: ~8 active engagements/quarter (manual process, constrained by consultant hours)</a:t>
            </a:r>
          </a:p>
          <a:p>
            <a:r>
              <a:t>- Phase 1 (Q4 2026): 14 engagements processed using Pre-Sales MVP</a:t>
            </a:r>
          </a:p>
          <a:p>
            <a:r>
              <a:t>- Phase 2 (Q1 2027, first full GA quarter): 22 engagements</a:t>
            </a:r>
          </a:p>
          <a:p>
            <a:r>
              <a:t>- Projecting ≥24/quarter by Q2 2027 as Bedrock prompt tuning continues and all delivery artifact types are in use</a:t>
            </a:r>
          </a:p>
          <a:p/>
          <a:p>
            <a:r>
              <a:t>*Cost Avoidance Components:*</a:t>
            </a:r>
          </a:p>
          <a:p>
            <a:r>
              <a:t>- Manual drafting hours eliminated: ~12 hrs/engagement × 22 engagements/qtr × $125 blended rate = $33K/quarter</a:t>
            </a:r>
          </a:p>
          <a:p>
            <a:r>
              <a:t>- Quality rework reduction: fewer revision cycles (92% first-pass vs. estimated 50–60% manual first-pass)</a:t>
            </a:r>
          </a:p>
          <a:p>
            <a:r>
              <a:t>- EC2 monolith retired: ~$8K/year in EC2 and Okta licensing costs eliminated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*What Worked Well — Detail:*</a:t>
            </a:r>
          </a:p>
          <a:p>
            <a:r>
              <a:t>- **Async architecture:** The decision to use Step Functions standard workflows instead of synchronous Lambda invocations was validated repeatedly during load testing — no jobs timed out under any tested scenario</a:t>
            </a:r>
          </a:p>
          <a:p>
            <a:r>
              <a:t>- **Phased MVP:** Delivering the Pre-Sales MVP at Month 4 gave the Head of Solutions team 5 months of real-world usage feedback before Phase 2 delivery artifacts went live — the prompt tuning done in that window was invaluable</a:t>
            </a:r>
          </a:p>
          <a:p>
            <a:r>
              <a:t>- **IaC-first:** Using Terraform from Day 1 (even in Dev) meant that promoting to Staging and Production was a variable swap, not a rebuild — no environment drift issues observed</a:t>
            </a:r>
          </a:p>
          <a:p>
            <a:r>
              <a:t>- **Weekly cadence:** CTO-level engagement in weekly status meetings meant that the Okta mapping challenge was escalated and resolved in Week 2, not discovered during testing</a:t>
            </a:r>
          </a:p>
          <a:p>
            <a:r>
              <a:t>- **UAT rubric:** Providing a structured QA rubric to UAT participants (rather than open-ended feedback) produced actionable, specific prompt-tuning inputs that raised first-pass rate from 74% to 92% across three iteration cycles</a:t>
            </a:r>
          </a:p>
          <a:p/>
          <a:p>
            <a:r>
              <a:t>*Challenges Overcome (speaker context):*</a:t>
            </a:r>
          </a:p>
          <a:p>
            <a:r>
              <a:t>- **Bedrock prompt tuning:** Initial prompts for the SOW artifact type produced outputs that were structurally correct but too generic (first-pass rate of 74% in early testing). Three iteration cycles incorporating Head of Solutions feedback raised the rate to 92%. Key lesson: allocate explicit sprint time for prompt tuning with real client brief samples.</a:t>
            </a:r>
          </a:p>
          <a:p>
            <a:r>
              <a:t>- **Okta group mapping:** Amatra's Okta instance had undocumented legacy groups that did not map cleanly to the three target Cognito groups. Required an extra 3-day discovery sprint (Week 3). No schedule impact because it was identified early; early Okta inventory is now listed as a "What Worked Well" item.</a:t>
            </a:r>
          </a:p>
          <a:p/>
          <a:p>
            <a:r>
              <a:t>*Recommendations — Priority Order:*</a:t>
            </a:r>
          </a:p>
          <a:p>
            <a:r>
              <a:t>1. **Claude 3.5 Sonnet upgrade** (next 30 days): IaC change is a single variable update in terraform.tfvars; expected to raise first-pass rate to 95%+ with no prompt changes required</a:t>
            </a:r>
          </a:p>
          <a:p>
            <a:r>
              <a:t>2. **RFP response artifact type** (Q2 2027): Highest-demand artifact type from pre-sales consultant feedback in UAT</a:t>
            </a:r>
          </a:p>
          <a:p>
            <a:r>
              <a:t>3. **Cost attribution dashboard** (Q2 2027): Bedrock token consumption is the primary cost driver; per-solution-ID attribution enables chargeback reporting</a:t>
            </a:r>
          </a:p>
          <a:p>
            <a:r>
              <a:t>4. **SOC 2 Type II formal audit** (Q3 2027): Evidence package is ready; engage an accredited auditor before next flagship renewal</a:t>
            </a:r>
          </a:p>
          <a:p>
            <a:r>
              <a:t>5. **Quarterly prompt review** (ongoing): 2-hour quarterly session between Head of Solutions and platform admin to evaluate new artifact outputs</a:t>
            </a:r>
          </a:p>
          <a:p>
            <a:r>
              <a:t>6. **Pricing calculator artifact** (Q3 2027): Second-highest demand item from consultant feedback after RFP response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*Hypercare Coverage Detail:*</a:t>
            </a:r>
          </a:p>
          <a:p>
            <a:r>
              <a:t>- Hypercare ran from 30 September 2026 through approximately 25 November 2026 (8 weeks post-Phase 1 go-live)</a:t>
            </a:r>
          </a:p>
          <a:p>
            <a:r>
              <a:t>- Coverage: business hours (8:00 am–6:00 pm CT, Mon–Fri) plus on-call for Severity 1 incidents</a:t>
            </a:r>
          </a:p>
          <a:p>
            <a:r>
              <a:t>- During hypercare: zero Severity 1 incidents; two Severity 2 incidents resolved within 6 hours each; four Severity 3 issues resolved within next business day</a:t>
            </a:r>
          </a:p>
          <a:p>
            <a:r>
              <a:t>- Bedrock prompt tuning performed in hypercare Weeks 3 and 6 based on live QA feedback from Head of Solutions — raised first-pass rate from initial 88% to 92%</a:t>
            </a:r>
          </a:p>
          <a:p/>
          <a:p>
            <a:r>
              <a:t>*Transition Phase (Weeks 9–12) Detail:*</a:t>
            </a:r>
          </a:p>
          <a:p>
            <a:r>
              <a:t>- Three formal knowledge transfer sessions delivered:</a:t>
            </a:r>
          </a:p>
          <a:p>
            <a:r>
              <a:t>  - **Session 1 (Week 30) — Admin Enablement (4 hrs):** Cognito user management, usage limit configuration, CloudWatch dashboard navigation, incident response, Terraform change procedure</a:t>
            </a:r>
          </a:p>
          <a:p>
            <a:r>
              <a:t>  - **Session 2 (Week 30) — Pre-Sales Consultant Enablement (3 hrs):** Brief submission, artifact review, QA checklist, regeneration workflow, Office document download</a:t>
            </a:r>
          </a:p>
          <a:p>
            <a:r>
              <a:t>  - **Session 3 (Week 32) — Delivery Team Enablement (2 hrs):** Phase 2 artifact types (detailed design, implementation guide, Terraform automation), review and validation workflow</a:t>
            </a:r>
          </a:p>
          <a:p>
            <a:r>
              <a:t>- All sessions recorded and posted to Confluence; VP Engineering confirmed all designated admins have completed the admin enablement module</a:t>
            </a:r>
          </a:p>
          <a:p/>
          <a:p>
            <a:r>
              <a:t>*Steady State Responsibilities (Amatra):*</a:t>
            </a:r>
          </a:p>
          <a:p>
            <a:r>
              <a:t>- AWS account management and Bedrock quota monitoring (CloudWatch alarm in place at 80% of monthly quota)</a:t>
            </a:r>
          </a:p>
          <a:p>
            <a:r>
              <a:t>- Cognito user onboarding/offboarding (quarterly access review process established)</a:t>
            </a:r>
          </a:p>
          <a:p>
            <a:r>
              <a:t>- Usage limit configuration (admin API documented in runbook)</a:t>
            </a:r>
          </a:p>
          <a:p>
            <a:r>
              <a:t>- Terraform-based infrastructure changes via GitHub Actions pipeline (no manual console changes)</a:t>
            </a:r>
          </a:p>
          <a:p>
            <a:r>
              <a:t>- DLQ monitoring — CloudWatch alarm triggers SNS notification to operations team on first message</a:t>
            </a:r>
          </a:p>
          <a:p/>
          <a:p>
            <a:r>
              <a:t>*After-Hours Support (Post-Hypercare):*</a:t>
            </a:r>
          </a:p>
          <a:p>
            <a:r>
              <a:t>- Vendor team is not on-call after hypercare completion (Week 36)</a:t>
            </a:r>
          </a:p>
          <a:p>
            <a:r>
              <a:t>- For critical platform issues post-hypercare, refer to the Optimisation Roadmap for a Managed Services Agreement option</a:t>
            </a:r>
          </a:p>
          <a:p>
            <a:r>
              <a:t>- Internal escalation path: L1 platform admin → VP Engineering → CTO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 Talking Points:*</a:t>
            </a:r>
          </a:p>
          <a:p>
            <a:r>
              <a:t>- This delivery was a genuine partnership — Amatra's team met every contractual dependency on time</a:t>
            </a:r>
          </a:p>
          <a:p>
            <a:r>
              <a:t>- CTO's go/no-go approvals at each phase gate kept the project moving without delay</a:t>
            </a:r>
          </a:p>
          <a:p>
            <a:r>
              <a:t>- Head of Solutions' willingness to dedicate 8 UAT participants for a full week was the primary reason QA first-pass rate exceeded the 90% target</a:t>
            </a:r>
          </a:p>
          <a:p>
            <a:r>
              <a:t>- Security &amp; Compliance Lead reviewed and approved all SOC 2 design decisions within the 5-business-day SLA every time — enabling the security testing phase to proceed without schedule impact</a:t>
            </a:r>
          </a:p>
          <a:p>
            <a:r>
              <a:t>- VP Engineering's proactive identification of the Okta group mapping issue in Week 3 prevented it from becoming a testing-phase blocker</a:t>
            </a:r>
          </a:p>
          <a:p/>
          <a:p>
            <a:r>
              <a:t>*Next Steps Detail:*</a:t>
            </a:r>
          </a:p>
          <a:p>
            <a:r>
              <a:t>- **This week:** Hypercare Report and Optimisation Roadmap formally handed over to CTO (Week 36 deliverable); project closeout meeting scheduled</a:t>
            </a:r>
          </a:p>
          <a:p>
            <a:r>
              <a:t>- **Next 30 days:** Bedrock model upgrade to Claude 3.5 Sonnet — IaC change is a single variable update in terraform.tfvars; estimated 2 hours of effort; expected QA first-pass improvement to 95%+</a:t>
            </a:r>
          </a:p>
          <a:p>
            <a:r>
              <a:t>- **Q2 2027 Phase 4 planning:** Hold a half-day scoping workshop with Head of Solutions to prioritise next artifact types (RFP response and pricing calculator are current top candidates); engage security team to initiate formal SOC 2 Type II audit</a:t>
            </a:r>
          </a:p>
          <a:p>
            <a:r>
              <a:t>- **Ongoing:** Monthly CloudWatch dashboard reviews (30-minute cadence); quarterly Bedrock prompt quality review sessions; annual Cognito access review</a:t>
            </a:r>
          </a:p>
          <a:p/>
          <a:p>
            <a:r>
              <a:t>*Celebration Note:*</a:t>
            </a:r>
          </a:p>
          <a:p>
            <a:r>
              <a:t>- The platform went live before Amatra's flagship client renewal on 31 January 2027 — the original hard deadline that drove the entire engagement timeline</a:t>
            </a:r>
          </a:p>
          <a:p>
            <a:r>
              <a:t>- Amatra is now positioned to triple proposal throughput and achieve ROI within 12 months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and discussion</a:t>
            </a:r>
          </a:p>
          <a:p>
            <a:r>
              <a:t>- Have the detailed-design.md and test-plan.csv ready for deep-dive questions on architecture or test coverage</a:t>
            </a:r>
          </a:p>
          <a:p>
            <a:r>
              <a:t>- Offer to schedule a follow-up architecture walkthrough session for the VP Engineering and any new team members who join after project close</a:t>
            </a:r>
          </a:p>
          <a:p>
            <a:r>
              <a:t>- Remind the audience of the Optimisation Roadmap document — it contains prioritised next steps with effort estimates and expected benefits for each recommendation</a:t>
            </a:r>
          </a:p>
          <a:p>
            <a:r>
              <a:t>- End on a positive note: celebrate the delivery together — the platform is live, the ROI trajectory is confirmed, and Amatra is well-positioned to scale its proposal throughput in 2027</a:t>
            </a:r>
          </a:p>
          <a:p>
            <a:r>
              <a:t>- If asked about post-hypercare support options: refer to the Managed Services Agreement option outlined in the Optimisation Roadmap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Amatra Intelligent Solution Builder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Lead Solutions Architect | 2027-02-14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9 months — on schedule</a:t>
            </a:r>
          </a:p>
          <a:p>
            <a:pPr/>
            <a:r>
              <a:rPr b="1"/>
              <a:t>Budget:</a:t>
            </a:r>
            <a:r>
              <a:t> $345,000 net PS within approved budget</a:t>
            </a:r>
          </a:p>
          <a:p>
            <a:pPr/>
            <a:r>
              <a:rPr b="1"/>
              <a:t>Phase 1 Go-Live:</a:t>
            </a:r>
            <a:r>
              <a:t> 30 September 2026 as committed</a:t>
            </a:r>
          </a:p>
          <a:p>
            <a:pPr/>
            <a:r>
              <a:rPr b="1"/>
              <a:t>Phase 2 Go-Live:</a:t>
            </a:r>
            <a:r>
              <a:t> 15 December 2026 as committed</a:t>
            </a:r>
          </a:p>
          <a:p>
            <a:pPr/>
            <a:r>
              <a:rPr b="1"/>
              <a:t>GA Release:</a:t>
            </a:r>
            <a:r>
              <a:t> Q1 2027 — all 120 users onboarded</a:t>
            </a:r>
          </a:p>
          <a:p>
            <a:pPr/>
            <a:r>
              <a:rPr b="1"/>
              <a:t>Artifact Turnaround:</a:t>
            </a:r>
            <a:r>
              <a:t> 3 weeks → under 4 hours (&gt;95% reduction)</a:t>
            </a:r>
          </a:p>
          <a:p>
            <a:pPr/>
            <a:r>
              <a:rPr b="1"/>
              <a:t>QA First-Pass Rate:</a:t>
            </a:r>
            <a:r>
              <a:t> 92% (target ≥90%)</a:t>
            </a:r>
          </a:p>
          <a:p>
            <a:pPr/>
            <a:r>
              <a:rPr b="1"/>
              <a:t>Platform Availability:</a:t>
            </a:r>
            <a:r>
              <a:t> 99.95% in production (target 99.9%)</a:t>
            </a:r>
          </a:p>
          <a:p>
            <a:pPr/>
            <a:r>
              <a:rPr b="1"/>
              <a:t>Legacy Monolith:</a:t>
            </a:r>
            <a:r>
              <a:t> EC2 retired with zero data loss</a:t>
            </a:r>
          </a:p>
          <a:p>
            <a:pPr/>
            <a:r>
              <a:rPr b="1"/>
              <a:t>ROI Trajectory:</a:t>
            </a:r>
            <a:r>
              <a:t> On track for 12-month payback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Solution Architecture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AI Generation Layer</a:t>
            </a:r>
          </a:p>
          <a:p>
            <a:pPr lvl="1"/>
            <a:r>
              <a:t>Amazon Bedrock (Claude 3 Sonnet) inference</a:t>
            </a:r>
          </a:p>
          <a:p>
            <a:pPr lvl="1"/>
            <a:r>
              <a:t>Step Functions async 30–60 min job pipeline</a:t>
            </a:r>
          </a:p>
          <a:p>
            <a:pPr lvl="1"/>
            <a:r>
              <a:t>SQS FIFO queues with dead-letter handling</a:t>
            </a:r>
          </a:p>
          <a:p>
            <a:pPr/>
            <a:r>
              <a:rPr b="1"/>
              <a:t>Platform &amp; Data</a:t>
            </a:r>
          </a:p>
          <a:p>
            <a:pPr lvl="1"/>
            <a:r>
              <a:t>Lambda + API Gateway serverless REST API</a:t>
            </a:r>
          </a:p>
          <a:p>
            <a:pPr lvl="1"/>
            <a:r>
              <a:t>DynamoDB state; S3 artifact store (KMS)</a:t>
            </a:r>
          </a:p>
          <a:p>
            <a:pPr lvl="1"/>
            <a:r>
              <a:t>Cognito auth with admin governance controls</a:t>
            </a:r>
          </a:p>
          <a:p>
            <a:pPr/>
            <a:r>
              <a:rPr b="1"/>
              <a:t>Security &amp; Compliance</a:t>
            </a:r>
          </a:p>
          <a:p>
            <a:pPr lvl="1"/>
            <a:r>
              <a:t>WAF, CloudTrail, and KMS encryption at rest</a:t>
            </a:r>
          </a:p>
          <a:p>
            <a:pPr lvl="1"/>
            <a:r>
              <a:t>PrivateLink — no public internet traversal</a:t>
            </a:r>
          </a:p>
          <a:p>
            <a:pPr lvl="1"/>
            <a:r>
              <a:t>SOC 2 Type II evidence package delivered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Detailed Design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 decisions and component specs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Step-by-step deployment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milestones, resource allocation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Test cases, coverage, and quality metrics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Configuration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Lambda, API, DynamoDB, Bedrock parameters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`/delivery/configuration.csv`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Terraform IaC Modules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Cloud resource provisioning across all envs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`/delivery/scripts/terraform/`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Operational Runbooks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Incident response and DR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`/delivery/runbooks/`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SOC 2 Evidence Package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Audit evidence for Type II certification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`/delivery/compliance/soc2-evidence/`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Testing Metrics</a:t>
            </a:r>
          </a:p>
          <a:p>
            <a:pPr lvl="1"/>
            <a:r>
              <a:t>Functional test pass rate: 98% (target: 90%)</a:t>
            </a:r>
          </a:p>
          <a:p>
            <a:pPr lvl="1"/>
            <a:r>
              <a:t>All 7 artifact types validated: 100%</a:t>
            </a:r>
          </a:p>
          <a:p>
            <a:pPr lvl="1"/>
            <a:r>
              <a:t>Sev 1 defects at go-live: 0</a:t>
            </a:r>
          </a:p>
          <a:p>
            <a:pPr lvl="1"/>
            <a:r>
              <a:t>UAT first-pass acceptance rate: 92%</a:t>
            </a:r>
          </a:p>
          <a:p>
            <a:pPr lvl="1"/>
            <a:r>
              <a:t>Security test findings resolved: 100%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Platform uptime: 99.95% (target: 99.9%)</a:t>
            </a:r>
          </a:p>
          <a:p>
            <a:pPr lvl="1"/>
            <a:r>
              <a:t>Avg generation job duration: 42 min</a:t>
            </a:r>
          </a:p>
          <a:p>
            <a:pPr lvl="1"/>
            <a:r>
              <a:t>Concurrent job capacity: 25 validated</a:t>
            </a:r>
          </a:p>
          <a:p>
            <a:pPr lvl="1"/>
            <a:r>
              <a:t>API P99 response time: 420 ms (&lt;2 s target)</a:t>
            </a:r>
          </a:p>
          <a:p>
            <a:pPr lvl="1"/>
            <a:r>
              <a:t>DLQ messages in production: 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Artifact Turnaround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&lt;2 business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~4 hours avg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Pre-sales capacity fully freed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Proposal Throughput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24 engagements/qtr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22 engagements/qtr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2.75× increase from baseline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Consulting Hours/Engagement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43%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~12 hrs saved per engagement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QA First-Pass 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≥90%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92%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Rework cycles eliminated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Platform Availability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 monthly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99.95% monthly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unplanned outages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Annual Cost Avoidance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~$300K (vs. 3 FTEs)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$312K projected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ROI within 12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Okta User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no disruption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success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access complaints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Legacy Monolith Retired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Zero data loss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Confirmed zero loss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EC2 cost eliminated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Async Step Functions eliminated Lambda timeout risk</a:t>
            </a:r>
          </a:p>
          <a:p>
            <a:pPr lvl="1"/>
            <a:r>
              <a:t>Phased MVP validated AI quality before full rollout</a:t>
            </a:r>
          </a:p>
          <a:p>
            <a:pPr lvl="1"/>
            <a:r>
              <a:t>IaC-first deployment ensured zero environment drift</a:t>
            </a:r>
          </a:p>
          <a:p>
            <a:pPr lvl="1"/>
            <a:r>
              <a:t>Weekly stakeholder cadence surfaced issues early</a:t>
            </a:r>
          </a:p>
          <a:p>
            <a:pPr lvl="1"/>
            <a:r>
              <a:t>Structured UAT rubric drove 92% first-pass rate</a:t>
            </a:r>
          </a:p>
          <a:p>
            <a:pPr lvl="1"/>
            <a:r>
              <a:t>Early Okta inventory prevented migration surprises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Upgrade to Bedrock Claude 3.5 Sonnet (next 30 days)</a:t>
            </a:r>
          </a:p>
          <a:p>
            <a:pPr lvl="1"/>
            <a:r>
              <a:t>Expand to RFP response artifact type (Q2 2027)</a:t>
            </a:r>
          </a:p>
          <a:p>
            <a:pPr lvl="1"/>
            <a:r>
              <a:t>Add Bedrock cost-per-solution attribution dashboard</a:t>
            </a:r>
          </a:p>
          <a:p>
            <a:pPr lvl="1"/>
            <a:r>
              <a:t>Initiate formal SOC 2 Type II audit (Q3 2027)</a:t>
            </a:r>
          </a:p>
          <a:p>
            <a:pPr lvl="1"/>
            <a:r>
              <a:t>Establish quarterly prompt-quality review cadence</a:t>
            </a:r>
          </a:p>
          <a:p>
            <a:pPr lvl="1"/>
            <a:r>
              <a:t>Evaluate pricing calculator artifact type (Q3 2027)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(Weeks 1–8 post-go-live)</a:t>
            </a:r>
          </a:p>
          <a:p>
            <a:pPr lvl="1"/>
            <a:r>
              <a:t>Dedicated vendor team on-call daily</a:t>
            </a:r>
          </a:p>
          <a:p>
            <a:pPr lvl="1"/>
            <a:r>
              <a:t>Sev 1: 1-hr response / 4-hr resolution SLA</a:t>
            </a:r>
          </a:p>
          <a:p>
            <a:pPr lvl="1"/>
            <a:r>
              <a:t>Sev 2: 4-hr response / 8-hr resolution SLA</a:t>
            </a:r>
          </a:p>
          <a:p>
            <a:pPr lvl="1"/>
            <a:r>
              <a:t>Bedrock prompt tuning from live usage data</a:t>
            </a:r>
          </a:p>
          <a:p>
            <a:pPr lvl="1"/>
            <a:r>
              <a:t>Cognito onboarding support for all 120 users</a:t>
            </a:r>
          </a:p>
          <a:p>
            <a:pPr lvl="1"/>
            <a:r>
              <a:t>CloudWatch alarm threshold tuning completed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Steady State (Week 9+)</a:t>
            </a:r>
          </a:p>
          <a:p>
            <a:pPr lvl="1"/>
            <a:r>
              <a:t>Amatra operations team owns platform fully</a:t>
            </a:r>
          </a:p>
          <a:p>
            <a:pPr lvl="1"/>
            <a:r>
              <a:t>Admin runbook and Confluence docs in place</a:t>
            </a:r>
          </a:p>
          <a:p>
            <a:pPr lvl="1"/>
            <a:r>
              <a:t>Terraform pipeline for all infra changes</a:t>
            </a:r>
          </a:p>
          <a:p>
            <a:pPr lvl="1"/>
            <a:r>
              <a:t>Monthly CloudWatch health review recommended</a:t>
            </a:r>
          </a:p>
          <a:p>
            <a:pPr lvl="1"/>
            <a:r>
              <a:t>Quarterly prompt-quality review established</a:t>
            </a:r>
          </a:p>
          <a:p>
            <a:pPr lvl="1"/>
            <a:r>
              <a:t>L1 escalation: solutions@partner.com (vendor)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CTO and executive team for budget ownership and phase-gate approvals</a:t>
            </a:r>
          </a:p>
          <a:p>
            <a:pPr/>
            <a:r>
              <a:t>VP Engineering for day-to-day technical ownership and milestone acceptance</a:t>
            </a:r>
          </a:p>
          <a:p>
            <a:pPr/>
            <a:r>
              <a:t>Head of Solutions for QA rubric definition and UAT leadership</a:t>
            </a:r>
          </a:p>
          <a:p>
            <a:pPr/>
            <a:r>
              <a:t>Security &amp; Compliance Lead for SOC 2 design and testing sign-off</a:t>
            </a:r>
          </a:p>
          <a:p>
            <a:pPr/>
            <a:r>
              <a:rPr b="1"/>
              <a:t>This Week:</a:t>
            </a:r>
            <a:r>
              <a:t> Final documentation and runbook handover complete</a:t>
            </a:r>
          </a:p>
          <a:p>
            <a:pPr/>
            <a:r>
              <a:rPr b="1"/>
              <a:t>Next 30 Days:</a:t>
            </a:r>
            <a:r>
              <a:t> Activate Bedrock Claude 3.5 Sonnet model upgrade</a:t>
            </a:r>
          </a:p>
          <a:p>
            <a:pPr/>
            <a:r>
              <a:rPr b="1"/>
              <a:t>Q2 2027:</a:t>
            </a:r>
            <a:r>
              <a:t> Phase 4 scoping — additional artifact types and cost dashboards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10: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