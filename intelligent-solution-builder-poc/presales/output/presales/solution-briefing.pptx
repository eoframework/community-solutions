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31079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1470" y="678433"/>
            <a:ext cx="4228856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Amatra Intelligent Solution Builder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[Presenter Name] | June 10, 2026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2: 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Reduce artifact turnaround from 3 weeks to under 2 business days</a:t>
            </a:r>
          </a:p>
          <a:p>
            <a:pPr lvl="1"/>
            <a:r>
              <a:t>Triple proposal throughput from 8 to 24 active engagements per quarter</a:t>
            </a:r>
          </a:p>
          <a:p>
            <a:pPr lvl="1"/>
            <a:r>
              <a:t>Cut consulting hours per engagement by 40% with automated generation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90% of generated artifacts pass internal QA on first review</a:t>
            </a:r>
          </a:p>
          <a:p>
            <a:pPr lvl="1"/>
            <a:r>
              <a:t>Platform available at 99.9% uptime in production (us-west-2)</a:t>
            </a:r>
          </a:p>
          <a:p>
            <a:pPr lvl="1"/>
            <a:r>
              <a:t>Full ROI realised within 12 months through increased proposal volume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3: 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Single business unit (~50 users)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~120 employees; pre-sales + delivery + sales teams as primary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AWS region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us-west-2 (United States data residency required)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3–4 standard artifact templates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7+ artifact types (briefing; SoW; infra costs; LOE; detailed design; impl guide; Terraform)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1 identity provider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Okta to Amazon Cognito migration; Google Workspace (existing); legacy EC2 monolith retirement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Dev + Prod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Dev / Staging / Prod (3 environments) with CI/CD pipeline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Single LLM integration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Amazon Bedrock (Claude models) for multi-artifact generation; async jobs 30–60 min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None specified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SOC 2 Type II + GDPR-aligned data handling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99.5% 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99.9% platform availability; &lt;2 business day artifact turnaround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4: 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AI Generation Layer</a:t>
            </a:r>
          </a:p>
          <a:p>
            <a:pPr lvl="1"/>
            <a:r>
              <a:t>Amazon Bedrock (Claude) powers consulting-grade artifact generation</a:t>
            </a:r>
          </a:p>
          <a:p>
            <a:pPr lvl="1"/>
            <a:r>
              <a:t>Async Step Functions + SQS handle 30–60 min jobs reliably</a:t>
            </a:r>
          </a:p>
          <a:p>
            <a:pPr/>
            <a:r>
              <a:rPr b="1"/>
              <a:t>Platform &amp; Data</a:t>
            </a:r>
          </a:p>
          <a:p>
            <a:pPr lvl="1"/>
            <a:r>
              <a:t>Lambda + API Gateway deliver a secure, scalable REST API</a:t>
            </a:r>
          </a:p>
          <a:p>
            <a:pPr lvl="1"/>
            <a:r>
              <a:t>DynamoDB tracks solution state; S3 stores all generated artifacts</a:t>
            </a:r>
          </a:p>
          <a:p>
            <a:pPr/>
            <a:r>
              <a:rPr b="1"/>
              <a:t>Security &amp; Compliance</a:t>
            </a:r>
          </a:p>
          <a:p>
            <a:pPr lvl="1"/>
            <a:r>
              <a:t>Cognito manages auth with admin groups and usage-limit enforcement</a:t>
            </a:r>
          </a:p>
          <a:p>
            <a:pPr lvl="1"/>
            <a:r>
              <a:t>KMS encryption and CloudTrail audit logs support SOC 2 Type 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5: 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Foundation &amp; Pre-Sales MVP (Months 1-4)</a:t>
            </a:r>
          </a:p>
          <a:p>
            <a:pPr lvl="1"/>
            <a:r>
              <a:t>Establish AWS environment, Cognito identity migration from Okta</a:t>
            </a:r>
          </a:p>
          <a:p>
            <a:pPr lvl="1"/>
            <a:r>
              <a:t>Build Bedrock generation pipeline for 7 pre-sales artifact types</a:t>
            </a:r>
          </a:p>
          <a:p>
            <a:pPr lvl="1"/>
            <a:r>
              <a:t>Deliver working MVP with QA validation by 2026-09-30</a:t>
            </a:r>
          </a:p>
          <a:p>
            <a:pPr/>
            <a:r>
              <a:rPr b="1"/>
              <a:t>Phase 2: Delivery &amp; Terraform Automation (Months 5-7)</a:t>
            </a:r>
          </a:p>
          <a:p>
            <a:pPr lvl="1"/>
            <a:r>
              <a:t>Extend platform to delivery artifact and Terraform automation phases</a:t>
            </a:r>
          </a:p>
          <a:p>
            <a:pPr lvl="1"/>
            <a:r>
              <a:t>Integrate legacy artifact templates (Word/Excel/PowerPoint pipelines)</a:t>
            </a:r>
          </a:p>
          <a:p>
            <a:pPr lvl="1"/>
            <a:r>
              <a:t>Complete end-to-end testing and internal rollout by 2026-12-15</a:t>
            </a:r>
          </a:p>
          <a:p>
            <a:pPr/>
            <a:r>
              <a:rPr b="1"/>
              <a:t>Phase 3: Optimisation &amp; General Availability (Months 8-9)</a:t>
            </a:r>
          </a:p>
          <a:p>
            <a:pPr lvl="1"/>
            <a:r>
              <a:t>Tune Bedrock prompts based on QA first-pass rates and user feedback</a:t>
            </a:r>
          </a:p>
          <a:p>
            <a:pPr lvl="1"/>
            <a:r>
              <a:t>Activate admin usage controls, monitoring dashboards, and alerts</a:t>
            </a:r>
          </a:p>
          <a:p>
            <a:pPr lvl="1"/>
            <a:r>
              <a:t>General Availability to all ~120 internal users by Q1 2027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6: 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Foundation &amp; Pre-Sales MVP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1-4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AWS environment live, Cognito identity migration complete, Pre-sales generation MVP operational (by 2026-09-30)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Delivery &amp; Terraform Automation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5-7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Delivery artifacts automated, Terraform pipeline integrated, Legacy templates migrated (by 2026-12-15)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Optimisation &amp; General Availability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Months 8-9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Prompt tuning complete, Admin controls active, Full GA to all users (Q1 2027)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7: 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Mid-Market Cloud Consultancy (50 consultants, AWS-focused)</a:t>
            </a:r>
          </a:p>
          <a:p>
            <a:pPr lvl="1"/>
            <a:r>
              <a:t>Challenge: 4-week proposal cycle limiting to 6 engagements per quarter</a:t>
            </a:r>
          </a:p>
          <a:p>
            <a:pPr lvl="1"/>
            <a:r>
              <a:t>Solution: Bedrock-powered generation with S3 + DynamoDB artifact store</a:t>
            </a:r>
          </a:p>
          <a:p>
            <a:pPr lvl="1"/>
            <a:r>
              <a:t>Result: Turnaround cut to 3 days; throughput grew 3x in 90 days</a:t>
            </a:r>
          </a:p>
          <a:p>
            <a:pPr/>
            <a:r>
              <a:rPr b="1"/>
              <a:t>B2B SaaS Professional Services Firm (100 employees, North America)</a:t>
            </a:r>
          </a:p>
          <a:p>
            <a:pPr lvl="1"/>
            <a:r>
              <a:t>Challenge: Manual SOW creation taking 12 hours per engagement, high rework</a:t>
            </a:r>
          </a:p>
          <a:p>
            <a:pPr lvl="1"/>
            <a:r>
              <a:t>Solution: Serverless Lambda pipeline with Bedrock Claude for SOW generation</a:t>
            </a:r>
          </a:p>
          <a:p>
            <a:pPr lvl="1"/>
            <a:r>
              <a:t>Result: 85% reduction in drafting time; QA first-pass rate reached 92%</a:t>
            </a:r>
          </a:p>
          <a:p>
            <a:pPr/>
            <a:r>
              <a:rPr b="1"/>
              <a:t>Enterprise IT Reseller (Pre-Sales Team of 20, multi-vendor)</a:t>
            </a:r>
          </a:p>
          <a:p>
            <a:pPr lvl="1"/>
            <a:r>
              <a:t>Challenge: Inconsistent artifact quality causing 30% proposal loss rate</a:t>
            </a:r>
          </a:p>
          <a:p>
            <a:pPr lvl="1"/>
            <a:r>
              <a:t>Solution: Standardised AI generation with template-driven quality controls</a:t>
            </a:r>
          </a:p>
          <a:p>
            <a:pPr lvl="1"/>
            <a:r>
              <a:t>Result: Proposal win rate up 22%; consulting hours per deal cut by 38%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8: 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AWS serverless and AI/ML solutions at scale</a:t>
            </a:r>
          </a:p>
          <a:p>
            <a:pPr lvl="1"/>
            <a:r>
              <a:t>60+ successful automation platform builds across consulting verticals</a:t>
            </a:r>
          </a:p>
          <a:p>
            <a:pPr lvl="1"/>
            <a:r>
              <a:t>AWS Advanced Consulting Partner with Machine Learning Competency</a:t>
            </a:r>
          </a:p>
          <a:p>
            <a:pPr lvl="1"/>
            <a:r>
              <a:t>Certified solutions architects with Bedrock and Step Functions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Pre-built Bedrock prompt library fast-tracks artifact generation quality</a:t>
            </a:r>
          </a:p>
          <a:p>
            <a:pPr lvl="1"/>
            <a:r>
              <a:t>Proven async job architecture eliminates timeout risk on long-running jobs</a:t>
            </a:r>
          </a:p>
          <a:p>
            <a:pPr lvl="1"/>
            <a:r>
              <a:t>Direct AWS ML specialist support through Advanced Partner network</a:t>
            </a:r>
          </a:p>
          <a:p>
            <a:pPr lvl="1"/>
            <a:r>
              <a:t>Best practices from 60+ builds prevent common serverless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9: 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Cloud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$61,347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$56,347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$61,347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$61,347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$179,041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Connectivity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$173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$518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 Licenses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$1,632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$1,632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$1,632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$1,632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$4,896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 &amp; Maintenance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$6,120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$18,360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$69,272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$64,272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$69,272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$69,272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$202,815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Slide 10: 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(CTO) approval for project phase by [specific date]</a:t>
            </a:r>
          </a:p>
          <a:p>
            <a:pPr/>
            <a:r>
              <a:rPr b="1"/>
              <a:t>Kickoff:</a:t>
            </a:r>
            <a:r>
              <a:t> Target project start date within 30 days of approval</a:t>
            </a:r>
          </a:p>
          <a:p>
            <a:pPr/>
            <a:r>
              <a:rPr b="1"/>
              <a:t>Team Formation:</a:t>
            </a:r>
            <a:r>
              <a:t> Identify executive sponsor, VP Engineering lead, Head of Solutions QA contact, and Security &amp; Compliance reviewer</a:t>
            </a:r>
          </a:p>
          <a:p>
            <a:pPr/>
            <a:r>
              <a:rPr b="1"/>
              <a:t>Week 1-2:</a:t>
            </a:r>
            <a:r>
              <a:t> Contract finalization, AWS account provisioning, and Cognito migration planning</a:t>
            </a:r>
          </a:p>
          <a:p>
            <a:pPr/>
            <a:r>
              <a:rPr b="1"/>
              <a:t>Week 3-4:</a:t>
            </a:r>
            <a:r>
              <a:t> Bedrock prompt framework design and first artifact template onboarded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Amatra Intelligent Solution Builder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Slide 11: 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86</cp:revision>
  <dcterms:created xsi:type="dcterms:W3CDTF">2025-11-01T21:16:10Z</dcterms:created>
  <dcterms:modified xsi:type="dcterms:W3CDTF">2025-11-27T20:15:42Z</dcterms:modified>
</cp:coreProperties>
</file>