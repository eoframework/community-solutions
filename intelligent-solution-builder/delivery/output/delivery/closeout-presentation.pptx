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with confidence: platform delivered on time, on budget, against every defined success metric.</a:t>
            </a:r>
          </a:p>
          <a:p>
            <a:r>
              <a:t>- The 31 January 2027 hard deadline — protecting Amatra's flagship client renewal — was met with zero slippage.</a:t>
            </a:r>
          </a:p>
          <a:p>
            <a:r>
              <a:t>- Year 1 net investment of $378,178 is well within the $300K–$450K budget approved by the CTO at engagement start.</a:t>
            </a:r>
          </a:p>
          <a:p/>
          <a:p>
            <a:r>
              <a:t>*Budget Detail:*</a:t>
            </a:r>
          </a:p>
          <a:p>
            <a:r>
              <a:t>- Professional Services: $395K list → $360K net (after $35K in AWS partner credits)</a:t>
            </a:r>
          </a:p>
          <a:p>
            <a:r>
              <a:t>- Cloud Infrastructure: $18K list → $10K net (after $8K MAP and APN credits)</a:t>
            </a:r>
          </a:p>
          <a:p>
            <a:r>
              <a:t>- Software Licences: $4,038 Year 1; Support &amp; Maintenance: $4,140/year</a:t>
            </a:r>
          </a:p>
          <a:p>
            <a:r>
              <a:t>- Run cost from Year 2: ~$25,428/year (steady-state infra + licences + support only)</a:t>
            </a:r>
          </a:p>
          <a:p/>
          <a:p>
            <a:r>
              <a:t>*Quality &amp; Compliance:*</a:t>
            </a:r>
          </a:p>
          <a:p>
            <a:r>
              <a:t>- 100 functional test cases executed across all 7 artifact types; zero P1 defects at GA.</a:t>
            </a:r>
          </a:p>
          <a:p>
            <a:r>
              <a:t>- SOC 2 Type II evidence package (Deliverable #16) accepted by Security &amp; Compliance Lead.</a:t>
            </a:r>
          </a:p>
          <a:p>
            <a:r>
              <a:t>- GDPR data-processing register in place; us-west-2 data residency enforced via SCP.</a:t>
            </a:r>
          </a:p>
          <a:p/>
          <a:p>
            <a:r>
              <a:t>*Throughput Proof:*</a:t>
            </a:r>
          </a:p>
          <a:p>
            <a:r>
              <a:t>- Phase 1 MVP live by 30 Sep 2026 — pre-sales team generating artifacts within 4 months.</a:t>
            </a:r>
          </a:p>
          <a:p>
            <a:r>
              <a:t>- Phase 2 delivery pipeline live by 15 Dec 2026 — full 7-type pipeline operational.</a:t>
            </a:r>
          </a:p>
          <a:p>
            <a:r>
              <a:t>- GA rollout completed on 31 Jan 2027, meeting the board-level commitment.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Walk the architecture left-to-right: users authenticate via Cognito, submit briefs through API Gateway/Lambda, jobs are queued in SQS and orchestrated by Step Functions, Bedrock generates content, artifacts land in S3.</a:t>
            </a:r>
          </a:p>
          <a:p>
            <a:r>
              <a:t>- The async design (30–60 min jobs via Step Functions) is the key architectural decision that prevents job loss and timeout failures that plagued the legacy EC2 monolith.</a:t>
            </a:r>
          </a:p>
          <a:p>
            <a:r>
              <a:t>- CloudWatch + Datadog provide full observability: async job completion rates, Bedrock token consumption vs. monthly budget, Lambda cold-start latency, and DynamoDB throttle events.</a:t>
            </a:r>
          </a:p>
          <a:p/>
          <a:p>
            <a:r>
              <a:t>*Services Deployed (matching presales Solution Briefing):*</a:t>
            </a:r>
          </a:p>
          <a:p>
            <a:r>
              <a:t>- Amazon Bedrock (Claude 3 Sonnet/Haiku) — AI generation engine</a:t>
            </a:r>
          </a:p>
          <a:p>
            <a:r>
              <a:t>- AWS Lambda (Python 3.12) — API handlers and job workers</a:t>
            </a:r>
          </a:p>
          <a:p>
            <a:r>
              <a:t>- Amazon API Gateway (REST) — single secure ingress</a:t>
            </a:r>
          </a:p>
          <a:p>
            <a:r>
              <a:t>- AWS Step Functions + Amazon SQS — durable async orchestration</a:t>
            </a:r>
          </a:p>
          <a:p>
            <a:r>
              <a:t>- Amazon Cognito — user pool replacing Okta</a:t>
            </a:r>
          </a:p>
          <a:p>
            <a:r>
              <a:t>- Amazon DynamoDB (On-Demand) — SolutionState + UsageTracking tables</a:t>
            </a:r>
          </a:p>
          <a:p>
            <a:r>
              <a:t>- Amazon S3 — artifact store with presigned URL delivery</a:t>
            </a:r>
          </a:p>
          <a:p>
            <a:r>
              <a:t>- AWS Secrets Manager — credential management with auto-rotation</a:t>
            </a:r>
          </a:p>
          <a:p>
            <a:r>
              <a:t>- AWS WAF — rate limiting and managed rule groups</a:t>
            </a:r>
          </a:p>
          <a:p>
            <a:r>
              <a:t>- AWS GuardDuty, Security Hub, CloudTrail, KMS — security and compliance</a:t>
            </a:r>
          </a:p>
          <a:p>
            <a:r>
              <a:t>- Amazon CloudWatch + Datadog APM — observability layer</a:t>
            </a:r>
          </a:p>
          <a:p>
            <a:r>
              <a:t>- GitHub Actions + AWS CloudFormation/SAM — CI/CD pipeline</a:t>
            </a:r>
          </a:p>
          <a:p/>
          <a:p>
            <a:r>
              <a:t>*Presales Alignment:*</a:t>
            </a:r>
          </a:p>
          <a:p>
            <a:r>
              <a:t>- Architecture exactly matches Solution Briefing Slide 4 and SOW Section 5.</a:t>
            </a:r>
          </a:p>
          <a:p>
            <a:r>
              <a:t>- No services added beyond presales scope.</a:t>
            </a:r>
          </a:p>
          <a:p>
            <a:r>
              <a:t>- Greenfield build; legacy EC2 monolith retired as planned.</a:t>
            </a:r>
          </a:p>
          <a:p/>
          <a:p>
            <a:r>
              <a:t>*Network and Security Design:*</a:t>
            </a:r>
          </a:p>
          <a:p>
            <a:r>
              <a:t>- Fully serverless — no VPCs or NAT gateways required for core services.</a:t>
            </a:r>
          </a:p>
          <a:p>
            <a:r>
              <a:t>- All traffic TLS 1.2+; S3 and DynamoDB encrypted via KMS CMKs.</a:t>
            </a:r>
          </a:p>
          <a:p>
            <a:r>
              <a:t>- IAM least-privilege per Lambda function; no wildcard resource policies.</a:t>
            </a:r>
          </a:p>
          <a:p>
            <a:r>
              <a:t>- CloudTrail S3 bucket with Object Lock (7-year WORM retention).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24 formal SOW deliverables have been completed, reviewed, and accepted.</a:t>
            </a:r>
          </a:p>
          <a:p>
            <a:r>
              <a:t>- Eight highest-value deliverables shown here represent the core of the handover package.</a:t>
            </a:r>
          </a:p>
          <a:p>
            <a:r>
              <a:t>- Every system deliverable is live in production; every document deliverable has been accepted.</a:t>
            </a:r>
          </a:p>
          <a:p/>
          <a:p>
            <a:r>
              <a:t>*Deliverable Acceptance Status:*</a:t>
            </a:r>
          </a:p>
          <a:p>
            <a:r>
              <a:t>- Deliverables #1–#12 (Phase 1): Accepted by CTO / VP Eng / Head of Solutions at Phase 1 gate (30 Sep 2026).</a:t>
            </a:r>
          </a:p>
          <a:p>
            <a:r>
              <a:t>- Deliverables #13–#20 (Phase 2): Accepted at Phase 2 gate (15 Dec 2026).</a:t>
            </a:r>
          </a:p>
          <a:p>
            <a:r>
              <a:t>- Deliverables #21–#24 (Phase 3/GA): Accepted at GA completion (31 Jan 2027).</a:t>
            </a:r>
          </a:p>
          <a:p/>
          <a:p>
            <a:r>
              <a:t>*Key Deliverable Highlights:*</a:t>
            </a:r>
          </a:p>
          <a:p>
            <a:r>
              <a:t>- Detailed Architecture Design (D#2): Includes full ADR set, data-flow diagrams, sequence diagrams, and security design — reviewed and approved by CTO + VP Engineering in Month 2.</a:t>
            </a:r>
          </a:p>
          <a:p>
            <a:r>
              <a:t>- SOC 2 Evidence Package (D#16): Covers all five Trust Service Criteria; accepted by Security &amp; Compliance Lead in Month 8.</a:t>
            </a:r>
          </a:p>
          <a:p>
            <a:r>
              <a:t>- Operations Runbooks (D#23): Cover async job failure triage, Cognito user admin, usage-limit overrides, Bedrock quota management, and incident response escalation paths.</a:t>
            </a:r>
          </a:p>
          <a:p>
            <a:r>
              <a:t>- Train-the-Trainer (D#22): Head of Solutions can independently onboard future hires; session recorded and archived.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Quality was gated throughout delivery — Phase 2 could not begin until Phase 1 tests passed; Production deployments required CTO sign-off on test results.</a:t>
            </a:r>
          </a:p>
          <a:p>
            <a:r>
              <a:t>- Zero P1 defects at GA is the gold standard — achieved through a structured test approach across functional, performance, security, DR, and UAT streams.</a:t>
            </a:r>
          </a:p>
          <a:p/>
          <a:p>
            <a:r>
              <a:t>*Test Phase Detail:*</a:t>
            </a:r>
          </a:p>
          <a:p>
            <a:r>
              <a:t>- Phase 1 Functional Testing (Month 4, Week 3): 10–20 representative client briefs tested across 4 pre-sales artifact types; Head of Solutions UAT sign-off received before Phase 1 go-live.</a:t>
            </a:r>
          </a:p>
          <a:p>
            <a:r>
              <a:t>- Phase 2 Functional Testing (Month 8, Week 3): All 7 artifact types and Terraform outputs validated; VP Engineering UAT sign-off received before Phase 2 go-live.</a:t>
            </a:r>
          </a:p>
          <a:p>
            <a:r>
              <a:t>- Load Testing (Staging): 24 concurrent job submissions at 2× peak load — all generation jobs completed within 60 minutes; DynamoDB and Lambda handled load without throttling.</a:t>
            </a:r>
          </a:p>
          <a:p>
            <a:r>
              <a:t>- DR Testing: DynamoDB PITR restore validated; S3 versioned object recovery confirmed; Step Functions failure injection with retry-and-resume verified; RTO ≤1 hour and RPO ≤15 minutes targets met.</a:t>
            </a:r>
          </a:p>
          <a:p>
            <a:r>
              <a:t>- Security Testing: IAM Access Analyzer policy review clean; WAF rate-limit and injection rules validated; GuardDuty alert simulation confirmed detection and SNS routing.</a:t>
            </a:r>
          </a:p>
          <a:p/>
          <a:p>
            <a:r>
              <a:t>*Presales SLA Alignment:*</a:t>
            </a:r>
          </a:p>
          <a:p>
            <a:r>
              <a:t>- Platform availability 99.9%: SOW target achieved ✓</a:t>
            </a:r>
          </a:p>
          <a:p>
            <a:r>
              <a:t>- QA first-review pass rate ≥90%: SOW target achieved ✓</a:t>
            </a:r>
          </a:p>
          <a:p>
            <a:r>
              <a:t>- Artifact turnaround ≤2 business days: SOW target achieved ✓</a:t>
            </a:r>
          </a:p>
          <a:p>
            <a:r>
              <a:t>- Identity migration 100% zero-downtime: SOW target achieved ✓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Every benefit target defined in the SOW Success Metrics section has been met or exceeded.</a:t>
            </a:r>
          </a:p>
          <a:p>
            <a:r>
              <a:t>- The financial headline: Year 1 net spend of $378,178 is $71,822 under the $450K budget ceiling — a 16% underspend achieved through effective scope management and AWS partner credits.</a:t>
            </a:r>
          </a:p>
          <a:p/>
          <a:p>
            <a:r>
              <a:t>*Benefits Breakdown:*</a:t>
            </a:r>
          </a:p>
          <a:p>
            <a:r>
              <a:t>- Artifact Turnaround: Pre-sales team went from submitting client briefs on Monday and getting artifacts the following week to receiving complete packages within 2 business days. Measured from Phase 1 MVP go-live (30 Sep 2026) through GA.</a:t>
            </a:r>
          </a:p>
          <a:p>
            <a:r>
              <a:t>- Proposal Throughput: Platform capacity supports 24 concurrent engagements per quarter (24 simultaneous Step Functions pipelines). Amatra's sales pipeline is no longer gated by artifact production capacity.</a:t>
            </a:r>
          </a:p>
          <a:p>
            <a:r>
              <a:t>- Consulting Hours: By eliminating manual authoring of discovery questionnaires, briefings, SOWs, infrastructure cost models, detailed designs, implementation guides, and Terraform scripts, each engagement now requires ~40% fewer consulting hours — freeing senior architects for client-facing and strategic work.</a:t>
            </a:r>
          </a:p>
          <a:p>
            <a:r>
              <a:t>- QA Pass Rate: The QA validation layer (Phase 2, Deliverable #15) automates a subset of quality rubric checks; manual review covers the remainder. Combined result: ≥90% first-review acceptance across all 7 artifact types.</a:t>
            </a:r>
          </a:p>
          <a:p>
            <a:r>
              <a:t>- Budget Savings: $35K in AWS professional services credits + $8K in infrastructure credits = $43K total Year 1 reduction. Net Year 1 run cost from Year 2 is only $25,428 — well within the ~$48K–$72K range projected in the SOW for steady-state operations.</a:t>
            </a:r>
          </a:p>
          <a:p/>
          <a:p>
            <a:r>
              <a:t>*ROI Projection:*</a:t>
            </a:r>
          </a:p>
          <a:p>
            <a:r>
              <a:t>- Tripling throughput (8 → 24 engagements/quarter) without proportional headcount increase represents significant revenue leverage.</a:t>
            </a:r>
          </a:p>
          <a:p>
            <a:r>
              <a:t>- If each engagement yields $30K–$60K in consulting revenue, the incremental 16 engagements/quarter represent $1.9M–$3.8M annualised revenue opportunity.</a:t>
            </a:r>
          </a:p>
          <a:p>
            <a:r>
              <a:t>- Platform run cost in Year 2 is $25,428 — the payback period is measured in weeks at current engagement volumes.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*What Worked Well — Detail:*</a:t>
            </a:r>
          </a:p>
          <a:p>
            <a:r>
              <a:t>- Phase-gated milestones: Each phase gate (M4 Phase 1 Go-Live, M6 Phase 2 Go-Live) acted as a financial and scope firewall. No budget was committed for Phase 2 until Phase 1 quality was validated. This protected both parties.</a:t>
            </a:r>
          </a:p>
          <a:p>
            <a:r>
              <a:t>- Step Functions async design: The decision to use Step Functions + SQS (vs. a simple Lambda chain) was validated when load tests showed 30–60 min jobs completing reliably even when Bedrock API experienced transient throttling — retries handled transparently.</a:t>
            </a:r>
          </a:p>
          <a:p>
            <a:r>
              <a:t>- Head of Solutions involvement: Artifact quality rubric defined in Month 2 with input from Head of Solutions gave the Bedrock prompt engineering team precise acceptance criteria. This is directly responsible for achieving ≥90% first-review pass rate.</a:t>
            </a:r>
          </a:p>
          <a:p>
            <a:r>
              <a:t>- GitOps CI/CD: Zero unintended production changes throughout the engagement. All infrastructure changes tracked via GitHub pull requests with manual approval gates in the GitHub Actions workflow.</a:t>
            </a:r>
          </a:p>
          <a:p>
            <a:r>
              <a:t>- SOC 2 from Day 1: CloudTrail, KMS, GuardDuty, and Security Hub were activated at AWS landing zone setup (Month 2). Evidence collection began at Phase 1 go-live, giving the Security &amp; Compliance Lead 4+ months of control operation evidence before the Phase 2 evidence package deadline.</a:t>
            </a:r>
          </a:p>
          <a:p/>
          <a:p>
            <a:r>
              <a:t>*Challenges — Detail:*</a:t>
            </a:r>
          </a:p>
          <a:p>
            <a:r>
              <a:t>- Okta export latency: The Okta user directory export took 3 weeks instead of the assumed 2 (SOW Assumption #3). The vendor team used the buffer time to complete Cognito user pool configuration, allowing the migration to execute on schedule at Month 3, Week 2.</a:t>
            </a:r>
          </a:p>
          <a:p>
            <a:r>
              <a:t>- Bedrock prompt tuning: Initial Claude 3 Sonnet prompts produced artifacts that met structural requirements but had low Head of Solutions satisfaction on tone and depth. Two additional prompt-tuning sprints in Phase 1 (Months 2–3) resolved this; ≥90% pass rate achieved by Phase 1 UAT.</a:t>
            </a:r>
          </a:p>
          <a:p>
            <a:r>
              <a:t>- Legacy template parsing: Word/Excel/PowerPoint templates in Google Workspace required custom Lambda adapters to extract structured content for pipeline ingestion. Scope was within SOW bounds (Deliverable #13) but took 1 additional sprint week; absorbed within Phase 2 buffer.</a:t>
            </a:r>
          </a:p>
          <a:p/>
          <a:p>
            <a:r>
              <a:t>*Recommendations — Priority Order:*</a:t>
            </a:r>
          </a:p>
          <a:p>
            <a:r>
              <a:t>1. Multi-region DR (us-east-1): Highest priority for SOC 2 availability controls and enterprise client contractual requirements. Estimated 6–8 weeks effort; recommended as Phase 4 kickoff.</a:t>
            </a:r>
          </a:p>
          <a:p>
            <a:r>
              <a:t>2. Additional artifact types: Current pipeline covers 7 types. Client onboarding decks, project status reports, and executive summaries are natural next targets. Existing Bedrock prompt framework and Step Functions state machine are reusable.</a:t>
            </a:r>
          </a:p>
          <a:p>
            <a:r>
              <a:t>3. CloudFront: S3 presigned URL egress (~200 GB/month) can be optimised via CloudFront edge caching. Reduces artifact download latency for consultants outside us-west-2. Low effort, high UX impact.</a:t>
            </a:r>
          </a:p>
          <a:p>
            <a:r>
              <a:t>4. Quarterly QA rubric reviews: As Amatra's artifact standards evolve, the quality rubric and Bedrock prompts should be reviewed quarterly. Head of Solutions trained as train-the-trainer to lead these reviews independently.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*Hypercare Scope Detail — Phase 1 (Oct–Nov 2026):*</a:t>
            </a:r>
          </a:p>
          <a:p>
            <a:r>
              <a:t>- Covers: generation failures, Bedrock prompt quality issues, Cognito authentication problems, async job failures, CloudWatch alarm investigation, and performance tuning.</a:t>
            </a:r>
          </a:p>
          <a:p>
            <a:r>
              <a:t>- Communication: dedicated Slack channel (#amatra-hypercare) shared between EO Framework Consulting and Amatra's VP Engineering + Head of Solutions.</a:t>
            </a:r>
          </a:p>
          <a:p>
            <a:r>
              <a:t>- Issue tracking: defects logged in GitHub Issues with severity classification (P1/P2/P3) and weekly summary report to CTO.</a:t>
            </a:r>
          </a:p>
          <a:p/>
          <a:p>
            <a:r>
              <a:t>*Hypercare Scope Detail — Phase 2 (January 2027):*</a:t>
            </a:r>
          </a:p>
          <a:p>
            <a:r>
              <a:t>- Covers: delivery pipeline issues, QA validation layer tuning, Terraform output quality, legacy template pipeline defects.</a:t>
            </a:r>
          </a:p>
          <a:p>
            <a:r>
              <a:t>- Final hypercare period ends on 31 January 2027 — aligned with the GA deadline and formal engagement close.</a:t>
            </a:r>
          </a:p>
          <a:p/>
          <a:p>
            <a:r>
              <a:t>*Steady-State Ownership Transfer:*</a:t>
            </a:r>
          </a:p>
          <a:p>
            <a:r>
              <a:t>- VP Engineering team has completed Operations Training (Session 1, Phase 1 end) covering CloudWatch monitoring, Lambda deployment management, DynamoDB capacity review, Cognito user administration, and incident response runbook walkthrough.</a:t>
            </a:r>
          </a:p>
          <a:p>
            <a:r>
              <a:t>- Delivery Consulting team completed Delivery Artifact Pipeline Enablement (Session 2, Phase 2 end).</a:t>
            </a:r>
          </a:p>
          <a:p>
            <a:r>
              <a:t>- Head of Solutions completed Train-the-Trainer (Session 3, GA) for future hire onboarding.</a:t>
            </a:r>
          </a:p>
          <a:p>
            <a:r>
              <a:t>- All three sessions recorded; videos archived in Amatra's internal knowledge base.</a:t>
            </a:r>
          </a:p>
          <a:p/>
          <a:p>
            <a:r>
              <a:t>*Post-Hypercare Support Options:*</a:t>
            </a:r>
          </a:p>
          <a:p>
            <a:r>
              <a:t>- Ongoing managed services are NOT included in this SOW.</a:t>
            </a:r>
          </a:p>
          <a:p>
            <a:r>
              <a:t>- Amatra should initiate a Managed Services Agreement with EO Framework Consulting if post-hypercare operational support, ongoing Bedrock prompt optimisation, or platform feature development is required.</a:t>
            </a:r>
          </a:p>
          <a:p>
            <a:r>
              <a:t>- AWS Business Support Plan (activated pre-Phase 1 go-live per SOW Assumption #11) provides 1-hour critical response for AWS service issues independent of vendor involvement.</a:t>
            </a:r>
          </a:p>
          <a:p/>
          <a:p>
            <a:r>
              <a:t>*Recommended Steady-State Cadence:*</a:t>
            </a:r>
          </a:p>
          <a:p>
            <a:r>
              <a:t>- Monthly: VP Engineering reviews CloudWatch SLA dashboard (availability, async job completion rate, Bedrock token consumption).</a:t>
            </a:r>
          </a:p>
          <a:p>
            <a:r>
              <a:t>- Quarterly: Head of Solutions reviews QA rubric and artifact acceptance rates; initiates prompt tuning if pass rate trends below 90%.</a:t>
            </a:r>
          </a:p>
          <a:p>
            <a:r>
              <a:t>- Annually: Security &amp; Compliance Lead reviews SOC 2 evidence continuity and GDPR data-processing register.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 — Specific Contributions:*</a:t>
            </a:r>
          </a:p>
          <a:p>
            <a:r>
              <a:t>- CTO: Budget authority and phased approval model were essential. Decisive sign-off at each milestone (M2, M4, M6, M9) kept the project on its 12-month track. The 31 January 2027 deadline was set at the executive level and met — a direct result of CTO governance.</a:t>
            </a:r>
          </a:p>
          <a:p>
            <a:r>
              <a:t>- VP Engineering: Delivered AWS account provisioning and IAM access in Week 1 (on time per SOW Assumption #2). Managed all Staging and Production environment access. Led Phase 2 UAT, ensuring delivery pipeline quality before go-live.</a:t>
            </a:r>
          </a:p>
          <a:p>
            <a:r>
              <a:t>- Head of Solutions: Provided 10–20 representative client briefs in Week 2 (critical for Bedrock prompt engineering). Defined the artifact quality rubric that became the acceptance standard for ≥90% QA pass rate. Led Phase 1 UAT and the Train-the-Trainer session.</a:t>
            </a:r>
          </a:p>
          <a:p>
            <a:r>
              <a:t>- Security &amp; Compliance Lead: Delivered Okta user directory export, provided SOC 2 scoping input from Month 1, and reviewed and accepted the SOC 2 Type II evidence package in Month 8. Compliance-first posture enabled enterprise client renewal readiness.</a:t>
            </a:r>
          </a:p>
          <a:p/>
          <a:p>
            <a:r>
              <a:t>*Next Steps Timeline:*</a:t>
            </a:r>
          </a:p>
          <a:p>
            <a:r>
              <a:t>- This Week (31 Jan 2027): Formal handover of all source code to Amatra's GitHub organisation; final document package delivered to VP Engineering; engagement closure meeting with CTO.</a:t>
            </a:r>
          </a:p>
          <a:p>
            <a:r>
              <a:t>- Next 30 Days: Phase 2 hypercare active (January 2027 4-week window); VP Engineering team operating platform independently with vendor on-call via Slack.</a:t>
            </a:r>
          </a:p>
          <a:p>
            <a:r>
              <a:t>- Next Quarter (Q2 2027): Recommend scheduling Phase 4 planning workshop to scope multi-region DR (us-east-1), additional artifact types, and CloudFront optimisation.</a:t>
            </a:r>
          </a:p>
          <a:p>
            <a:r>
              <a:t>- Ongoing: Monthly CloudWatch SLA reviews (VP Engineering); quarterly QA rubric reviews (Head of Solutions); annual SOC 2 evidence continuity (Security &amp; Compliance Lead).</a:t>
            </a:r>
          </a:p>
          <a:p/>
          <a:p>
            <a:r>
              <a:t>*Follow-up Actions (vendor):*</a:t>
            </a:r>
          </a:p>
          <a:p>
            <a:r>
              <a:t>- Deliver final SOC 2 evidence package to Security &amp; Compliance Lead before 31 January 2027.</a:t>
            </a:r>
          </a:p>
          <a:p>
            <a:r>
              <a:t>- Transfer all source code repositories to Amatra GitHub organisation.</a:t>
            </a:r>
          </a:p>
          <a:p>
            <a:r>
              <a:t>- Provide final invoice (10% project close payment: $37,818) upon written CTO acceptance.</a:t>
            </a:r>
          </a:p>
          <a:p>
            <a:r>
              <a:t>- Archive project retrospective and lessons learned in EO Framework internal knowledge base.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the floor for questions and discussion.</a:t>
            </a:r>
          </a:p>
          <a:p>
            <a:r>
              <a:t>- Have the following backup detail available for deep-dive questions:</a:t>
            </a:r>
          </a:p>
          <a:p>
            <a:r>
              <a:t>  - Investment Summary table (SOW Section 10) for any budget queries.</a:t>
            </a:r>
          </a:p>
          <a:p>
            <a:r>
              <a:t>  - SOC 2 evidence package summary for compliance queries.</a:t>
            </a:r>
          </a:p>
          <a:p>
            <a:r>
              <a:t>  - CloudWatch dashboard screenshots for platform performance queries.</a:t>
            </a:r>
          </a:p>
          <a:p>
            <a:r>
              <a:t>  - Phase 4 scope outline for next-steps and roadmap queries.</a:t>
            </a:r>
          </a:p>
          <a:p>
            <a:r>
              <a:t>- Offer to schedule follow-up sessions for specific topics (Phase 4 scoping, Managed Services Agreement, additional artifact type roadmap).</a:t>
            </a:r>
          </a:p>
          <a:p>
            <a:r>
              <a:t>- End on a positive note — celebrate the platform delivery and the flagship client renewal readiness that this project directly enabled.</a:t>
            </a:r>
          </a:p>
          <a:p>
            <a:r>
              <a:t>- Remind the client that the EO Framework Consulting team is available for future engagements and ongoing support via a Managed Services Agreement.</a:t>
            </a:r>
          </a:p>
          <a:p/>
          <a:p>
            <a:r>
              <a:t>*Anticipated Q&amp;A:*</a:t>
            </a:r>
          </a:p>
          <a:p>
            <a:r>
              <a:t>- "What happens after hypercare ends?" → VP Engineering owns operations; runbooks, dashboards, and training materials fully transfer. Managed Services Agreement available if ongoing support needed.</a:t>
            </a:r>
          </a:p>
          <a:p>
            <a:r>
              <a:t>- "Can we add more artifact types ourselves?" → Yes. The Bedrock prompt framework is documented in the architecture design. New artifact types follow the same prompt-template + Step Functions pattern. Train-the-Trainer session covered the prompt engineering approach.</a:t>
            </a:r>
          </a:p>
          <a:p>
            <a:r>
              <a:t>- "When is Phase 4 (multi-region DR) recommended?" → Q2 2027 planning workshop. Estimated 6–8 weeks effort. Addresses SOC 2 Availability criteria for enterprise clients requiring cross-region resilience.</a:t>
            </a:r>
          </a:p>
          <a:p>
            <a:r>
              <a:t>- "Are there any open risks post-GA?" → All P1/P2 defects resolved. Three low-severity P3 items logged for Phase 4 scope: CloudFront optimisation, cross-region S3 replication, and Bedrock prompt library versioning. None affect platform operation or SLA.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Amatra Intelligent Solution Builder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EO Framework Consulting — Project Manager | 2027-01-31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12 months, on schedule (Jul 2026 – Jan 2027)</a:t>
            </a:r>
          </a:p>
          <a:p>
            <a:pPr/>
            <a:r>
              <a:rPr b="1"/>
              <a:t>Budget:</a:t>
            </a:r>
            <a:r>
              <a:t> $378,178 net Year 1, within approved $300K–$450K envelope</a:t>
            </a:r>
          </a:p>
          <a:p>
            <a:pPr/>
            <a:r>
              <a:rPr b="1"/>
              <a:t>GA Go-Live:</a:t>
            </a:r>
            <a:r>
              <a:t> All 120 users onboarded by 31 January 2027 deadline</a:t>
            </a:r>
          </a:p>
          <a:p>
            <a:pPr/>
            <a:r>
              <a:rPr b="1"/>
              <a:t>Artifact Turnaround:</a:t>
            </a:r>
            <a:r>
              <a:t> Reduced from ~3 weeks to ≤2 business days</a:t>
            </a:r>
          </a:p>
          <a:p>
            <a:pPr/>
            <a:r>
              <a:rPr b="1"/>
              <a:t>Throughput:</a:t>
            </a:r>
            <a:r>
              <a:t> Scaled from 8 to 24+ active engagements per quarter</a:t>
            </a:r>
          </a:p>
          <a:p>
            <a:pPr/>
            <a:r>
              <a:rPr b="1"/>
              <a:t>QA Pass Rate:</a:t>
            </a:r>
            <a:r>
              <a:t> ≥90% first-review acceptance achieved at GA</a:t>
            </a:r>
          </a:p>
          <a:p>
            <a:pPr/>
            <a:r>
              <a:rPr b="1"/>
              <a:t>Platform Availability:</a:t>
            </a:r>
            <a:r>
              <a:t> 99.9% SLA met in production (us-west-2)</a:t>
            </a:r>
          </a:p>
          <a:p>
            <a:pPr/>
            <a:r>
              <a:rPr b="1"/>
              <a:t>Consulting Efficiency:</a:t>
            </a:r>
            <a:r>
              <a:t> ≥40% reduction in hours per engagement</a:t>
            </a:r>
          </a:p>
          <a:p>
            <a:pPr/>
            <a:r>
              <a:rPr b="1"/>
              <a:t>Compliance:</a:t>
            </a:r>
            <a:r>
              <a:t> SOC 2 Type II audit-ready; GDPR controls active</a:t>
            </a:r>
          </a:p>
          <a:p>
            <a:pPr/>
            <a:r>
              <a:rPr b="1"/>
              <a:t>Okta Migration:</a:t>
            </a:r>
            <a:r>
              <a:t> 100% of user records migrated — zero auth outages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Solution Architecture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AI Generation Core</a:t>
            </a:r>
          </a:p>
          <a:p>
            <a:pPr lvl="1"/>
            <a:r>
              <a:t>Amazon Bedrock (Claude 3 Sonnet/Haiku)</a:t>
            </a:r>
          </a:p>
          <a:p>
            <a:pPr lvl="1"/>
            <a:r>
              <a:t>Step Functions async orchestration</a:t>
            </a:r>
          </a:p>
          <a:p>
            <a:pPr lvl="1"/>
            <a:r>
              <a:t>SQS dead-letter queue for reliability</a:t>
            </a:r>
          </a:p>
          <a:p>
            <a:pPr/>
            <a:r>
              <a:rPr b="1"/>
              <a:t>Platform &amp; API Layer</a:t>
            </a:r>
          </a:p>
          <a:p>
            <a:pPr lvl="1"/>
            <a:r>
              <a:t>API Gateway + Lambda REST endpoints</a:t>
            </a:r>
          </a:p>
          <a:p>
            <a:pPr lvl="1"/>
            <a:r>
              <a:t>Amazon Cognito auth (migrated from Okta)</a:t>
            </a:r>
          </a:p>
          <a:p>
            <a:pPr lvl="1"/>
            <a:r>
              <a:t>AWS WAF rate-limiting and rule groups</a:t>
            </a:r>
          </a:p>
          <a:p>
            <a:pPr/>
            <a:r>
              <a:rPr b="1"/>
              <a:t>Data &amp; Observability</a:t>
            </a:r>
          </a:p>
          <a:p>
            <a:pPr lvl="1"/>
            <a:r>
              <a:t>S3 artifact store with lifecycle management</a:t>
            </a:r>
          </a:p>
          <a:p>
            <a:pPr lvl="1"/>
            <a:r>
              <a:t>DynamoDB solution state + usage tracking</a:t>
            </a:r>
          </a:p>
          <a:p>
            <a:pPr lvl="1"/>
            <a:r>
              <a:t>CloudWatch dashboards + Datadog APM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154"/>
                <a:gridCol w="3223045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Detailed Architecture Design &amp; ADRs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 decisions and specifications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Pre-Sales Artifact Pipeline (4 types)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Discovery, briefing, SoW, infra cost model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Deployed — Production us-west-2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Delivery Artifact Pipeline (3 types)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Detailed design, impl guide, Terraform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Deployed — Production us-west-2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Okta-to-Cognito Identity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of users migrated; zero downtime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Cognito User Pool (Production)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SOC 2 Type II Controls Evidence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Audit-ready compliance package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`/delivery/soc2-evidence-package/`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CI/CD Pipeline (GitHub Actions)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Multi-env automated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Amatra GitHub Organisation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Operations Runbooks &amp; Config Docs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Async job triage, admin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`/delivery/runbook.md`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Training Materials (all cohorts)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Pre-sales, delivery, admin user guides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`/delivery/training/`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Testing Metrics</a:t>
            </a:r>
          </a:p>
          <a:p>
            <a:pPr lvl="1"/>
            <a:r>
              <a:t>Functional test cases: 100% executed</a:t>
            </a:r>
          </a:p>
          <a:p>
            <a:pPr lvl="1"/>
            <a:r>
              <a:t>P1 defects at GA go-live: 0</a:t>
            </a:r>
          </a:p>
          <a:p>
            <a:pPr lvl="1"/>
            <a:r>
              <a:t>QA first-review pass rate: ≥90% achieved</a:t>
            </a:r>
          </a:p>
          <a:p>
            <a:pPr lvl="1"/>
            <a:r>
              <a:t>Async job reliability: 99.8% completion rate</a:t>
            </a:r>
          </a:p>
          <a:p>
            <a:pPr lvl="1"/>
            <a:r>
              <a:t>Security validation: all P1/P2 findings resolved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Platform availability: 99.9% SLA met (us-west-2)</a:t>
            </a:r>
          </a:p>
          <a:p>
            <a:pPr lvl="1"/>
            <a:r>
              <a:t>Job submission API: ≤500 ms p99 response</a:t>
            </a:r>
          </a:p>
          <a:p>
            <a:pPr lvl="1"/>
            <a:r>
              <a:t>Async generation: ≤60 min under peak load</a:t>
            </a:r>
          </a:p>
          <a:p>
            <a:pPr lvl="1"/>
            <a:r>
              <a:t>Lambda cold start: ≤3 s (provisioned concurrency)</a:t>
            </a:r>
          </a:p>
          <a:p>
            <a:pPr lvl="1"/>
            <a:r>
              <a:t>DynamoDB latency: ≤10 ms p99 under load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498"/>
                <a:gridCol w="1742186"/>
                <a:gridCol w="1742186"/>
                <a:gridCol w="2439061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Artifact Turnaround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≤2 business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≤2 business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90%+ improvement vs. 3-week manual cycle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Proposal Throughput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24 engagements/quarter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24+ engagements/quarter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Tripled from 8/quarter baseline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Consulting Hours/Engagement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≥40%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≥40%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FTEs reallocated to strategic client 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QA First-Pass Rate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≥90%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≥90%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Rework cycles eliminated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Platform Availability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99.9% SLA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99.9% SLA met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Mission-critical pre-sales operations supported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Identity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zero downtime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zero downtime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No authentication disruption for 120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SOC 2 Readiness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Audit-ready at GA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Controls evidenced Month 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Enterprise client contracts protected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Year 1 Investment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≤$450K net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$378,178 net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$71,822 below budget ceiling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Phase-gated milestones protected timeline and budget</a:t>
            </a:r>
          </a:p>
          <a:p>
            <a:pPr lvl="1"/>
            <a:r>
              <a:t>Async Step Functions design eliminated job-loss risk</a:t>
            </a:r>
          </a:p>
          <a:p>
            <a:pPr lvl="1"/>
            <a:r>
              <a:t>Early Head of Solutions involvement shaped prompt quality</a:t>
            </a:r>
          </a:p>
          <a:p>
            <a:pPr lvl="1"/>
            <a:r>
              <a:t>GitOps CI/CD model prevented production incidents</a:t>
            </a:r>
          </a:p>
          <a:p>
            <a:pPr lvl="1"/>
            <a:r>
              <a:t>SOC 2 designed-in from Day 1 avoided rework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Okta export latency: resolved with phased migration</a:t>
            </a:r>
          </a:p>
          <a:p>
            <a:pPr lvl="1"/>
            <a:r>
              <a:t>Bedrock cold token tuning: iterative prompt refinement</a:t>
            </a:r>
          </a:p>
          <a:p>
            <a:pPr lvl="1"/>
            <a:r>
              <a:t>Legacy PPT/Excel template parsing: custom adapters built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Phase 4: multi-region DR replication to us-east-1</a:t>
            </a:r>
          </a:p>
          <a:p>
            <a:pPr lvl="1"/>
            <a:r>
              <a:t>Expand Bedrock pipeline to additional artifact types</a:t>
            </a:r>
          </a:p>
          <a:p>
            <a:pPr lvl="1"/>
            <a:r>
              <a:t>Enable CloudFront for artifact download performance</a:t>
            </a:r>
          </a:p>
          <a:p>
            <a:pPr lvl="1"/>
            <a:r>
              <a:t>Quarterly QA rubric reviews with Head of Solutions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Phase 1 Hypercare (Oct–Nov 2026, 8 weeks)</a:t>
            </a:r>
          </a:p>
          <a:p>
            <a:pPr lvl="1"/>
            <a:r>
              <a:t>Business hours coverage (09:00–18:00 CT)</a:t>
            </a:r>
          </a:p>
          <a:p>
            <a:pPr lvl="1"/>
            <a:r>
              <a:t>P1 critical issues: ≤2-hour response</a:t>
            </a:r>
          </a:p>
          <a:p>
            <a:pPr lvl="1"/>
            <a:r>
              <a:t>P2 standard issues: next-business-day response</a:t>
            </a:r>
          </a:p>
          <a:p>
            <a:pPr lvl="1"/>
            <a:r>
              <a:t>Dedicated Slack channel for vendor + Amatra</a:t>
            </a:r>
          </a:p>
          <a:p>
            <a:pPr/>
            <a:r>
              <a:rPr b="1"/>
              <a:t>Phase 2 Hypercare (Jan 2027, 4 weeks)</a:t>
            </a:r>
          </a:p>
          <a:p>
            <a:pPr lvl="1"/>
            <a:r>
              <a:t>Delivery pipeline and Terraform issue triage</a:t>
            </a:r>
          </a:p>
          <a:p>
            <a:pPr lvl="1"/>
            <a:r>
              <a:t>QA validation layer tuning support</a:t>
            </a:r>
          </a:p>
          <a:p>
            <a:pPr lvl="1"/>
            <a:r>
              <a:t>P1 ≤2-hour / P2 next-business-day SLAs apply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Steady State (Post-Hypercare)</a:t>
            </a:r>
          </a:p>
          <a:p>
            <a:pPr lvl="1"/>
            <a:r>
              <a:t>VP Engineering owns platform operations</a:t>
            </a:r>
          </a:p>
          <a:p>
            <a:pPr lvl="1"/>
            <a:r>
              <a:t>CloudWatch dashboards and runbooks in place</a:t>
            </a:r>
          </a:p>
          <a:p>
            <a:pPr lvl="1"/>
            <a:r>
              <a:t>Quarterly QA rubric review recommended</a:t>
            </a:r>
          </a:p>
          <a:p>
            <a:pPr/>
            <a:r>
              <a:rPr b="1"/>
              <a:t>Escalation Contacts</a:t>
            </a:r>
          </a:p>
          <a:p>
            <a:pPr lvl="1"/>
            <a:r>
              <a:t>Vendor PM: solutions@eoframework.com</a:t>
            </a:r>
          </a:p>
          <a:p>
            <a:pPr lvl="1"/>
            <a:r>
              <a:t>AWS Support: Business Plan — 1-hr critical SLA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CTO for executive sponsorship and decisive phase-gate approvals</a:t>
            </a:r>
          </a:p>
          <a:p>
            <a:pPr/>
            <a:r>
              <a:t>VP Engineering for environment provisioning and technical oversight</a:t>
            </a:r>
          </a:p>
          <a:p>
            <a:pPr/>
            <a:r>
              <a:t>Head of Solutions for artifact quality standards and UAT leadership</a:t>
            </a:r>
          </a:p>
          <a:p>
            <a:pPr/>
            <a:r>
              <a:t>Security &amp; Compliance Lead for SOC 2 scoping and compliance sign-off</a:t>
            </a:r>
          </a:p>
          <a:p>
            <a:pPr/>
            <a:r>
              <a:rPr b="1"/>
              <a:t>This Week:</a:t>
            </a:r>
            <a:r>
              <a:t> Final documentation and source code handover complete</a:t>
            </a:r>
          </a:p>
          <a:p>
            <a:pPr/>
            <a:r>
              <a:rPr b="1"/>
              <a:t>Next 30 Days:</a:t>
            </a:r>
            <a:r>
              <a:t> Phase 2 hypercare support with Slack channel active</a:t>
            </a:r>
          </a:p>
          <a:p>
            <a:pPr/>
            <a:r>
              <a:rPr b="1"/>
              <a:t>Next Quarter:</a:t>
            </a:r>
            <a:r>
              <a:t> Initiate Phase 4 multi-region DR planning workshop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10: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