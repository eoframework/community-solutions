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Amatra Intelligent Solution Builder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[Presenter Name] | June 10,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Reduce engagement turnaround from 3 weeks to under 2 business days</a:t>
            </a:r>
          </a:p>
          <a:p>
            <a:pPr lvl="1"/>
            <a:r>
              <a:t>Triple quarterly proposal throughput from 8 to 24 active engagements</a:t>
            </a:r>
          </a:p>
          <a:p>
            <a:pPr lvl="1"/>
            <a:r>
              <a:t>Cut consulting hours per engagement by 40% through intelligent automation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Artifact turnaround under 2 business days after platform launch</a:t>
            </a:r>
          </a:p>
          <a:p>
            <a:pPr lvl="1"/>
            <a:r>
              <a:t>90%+ of generated artifacts pass internal QA on first review</a:t>
            </a:r>
          </a:p>
          <a:p>
            <a:pPr lvl="1"/>
            <a:r>
              <a:t>99.9% platform availability supporting 24 concurrent engagements per quarter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business unit (~50 users)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~120 employees — pre-sales + delivery + sales teams as primary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Best-effort (no SLA)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99.9% platform availability; artifacts pass QA on first review &gt;= 90% of the time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Core compute + storage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Bedrock, Lambda, API Gateway, DynamoDB, S3, Cognito — 6 named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AWS region (us-east-1)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region: us-west-2 (all customer data resident in US)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No 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Okta to Cognito identity migration; Google Workspace doc import; Word/Excel/PPT template pipeline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Dev + Prod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Dev / Staging / Prod (3 environments)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artifact type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 artifact types: discovery questionnaire + solution briefing + SoW + infra costs + detailed design + implementation guide + Terraform automation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No formal compliance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 2 Type II + GDPR-aligned data handling + US data residency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Synchronous API calls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Long-running generation jobs: 30-60 min per engagement; must not drop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No existing templates to migrate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Word/Excel/PowerPoint templates in Google Workspace; Okta user records to migrate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AI Generation Core</a:t>
            </a:r>
          </a:p>
          <a:p>
            <a:pPr lvl="1"/>
            <a:r>
              <a:t>Amazon Bedrock (Claude) generates consulting-grade artifact content</a:t>
            </a:r>
          </a:p>
          <a:p>
            <a:pPr lvl="1"/>
            <a:r>
              <a:t>Step Functions orchestrate async 30–60 min generation workflows</a:t>
            </a:r>
          </a:p>
          <a:p>
            <a:pPr/>
            <a:r>
              <a:rPr b="1"/>
              <a:t>Platform &amp; API Layer</a:t>
            </a:r>
          </a:p>
          <a:p>
            <a:pPr lvl="1"/>
            <a:r>
              <a:t>API Gateway + Lambda expose secure REST endpoints for artifact jobs</a:t>
            </a:r>
          </a:p>
          <a:p>
            <a:pPr lvl="1"/>
            <a:r>
              <a:t>Amazon Cognito handles auth with admin group governance controls</a:t>
            </a:r>
          </a:p>
          <a:p>
            <a:pPr/>
            <a:r>
              <a:rPr b="1"/>
              <a:t>Data &amp; Observability</a:t>
            </a:r>
          </a:p>
          <a:p>
            <a:pPr lvl="1"/>
            <a:r>
              <a:t>S3 stores artifacts; DynamoDB tracks solution state and usage limits</a:t>
            </a:r>
          </a:p>
          <a:p>
            <a:pPr lvl="1"/>
            <a:r>
              <a:t>CloudWatch provides end-to-end monitoring and SLA visibility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Pre-Sales MVP (Months 1-4)</a:t>
            </a:r>
          </a:p>
          <a:p>
            <a:pPr lvl="1"/>
            <a:r>
              <a:t>Deploy AWS serverless infrastructure: Lambda, API Gateway, Cognito, S3</a:t>
            </a:r>
          </a:p>
          <a:p>
            <a:pPr lvl="1"/>
            <a:r>
              <a:t>Integrate Amazon Bedrock (Claude) for pre-sales artifact generation</a:t>
            </a:r>
          </a:p>
          <a:p>
            <a:pPr lvl="1"/>
            <a:r>
              <a:t>Migrate Okta identities to Cognito with admin governance controls</a:t>
            </a:r>
          </a:p>
          <a:p>
            <a:pPr/>
            <a:r>
              <a:rPr b="1"/>
              <a:t>Phase 2: Delivery Automation &amp; Terraform (Months 5-8)</a:t>
            </a:r>
          </a:p>
          <a:p>
            <a:pPr lvl="1"/>
            <a:r>
              <a:t>Extend generation pipeline to delivery and Terraform artifact types</a:t>
            </a:r>
          </a:p>
          <a:p>
            <a:pPr lvl="1"/>
            <a:r>
              <a:t>Implement per-user and global usage limits enforced via DynamoDB</a:t>
            </a:r>
          </a:p>
          <a:p>
            <a:pPr lvl="1"/>
            <a:r>
              <a:t>Build QA validation layer ensuring 90%+ first-review pass rate</a:t>
            </a:r>
          </a:p>
          <a:p>
            <a:pPr/>
            <a:r>
              <a:rPr b="1"/>
              <a:t>Phase 3: GA Rollout &amp; Optimisation (Months 9-12)</a:t>
            </a:r>
          </a:p>
          <a:p>
            <a:pPr lvl="1"/>
            <a:r>
              <a:t>Onboard all 120 internal users with training and change management</a:t>
            </a:r>
          </a:p>
          <a:p>
            <a:pPr lvl="1"/>
            <a:r>
              <a:t>Tune Bedrock prompts and pipelines based on production usage data</a:t>
            </a:r>
          </a:p>
          <a:p>
            <a:pPr lvl="1"/>
            <a:r>
              <a:t>Achieve GA readiness ahead of 2027-01-31 flagship client renewal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Pre-Sales MVP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Serverless infrastructure deployed, Bedrock generation live, Cognito migration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Delivery Automation &amp; Terraform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artifact pipeline operational, usage limits enforced, QA validation layer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GA Rollout &amp; Optimisation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9-12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120 users onboarded, prompts tuned, GA live before 2027-01-31 renewal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Professional Services Firm (Mid-Market, 150 consultants)</a:t>
            </a:r>
          </a:p>
          <a:p>
            <a:pPr lvl="1"/>
            <a:r>
              <a:t>Challenge: Manual proposal cycle 18 days; only 6 pursuits per quarter</a:t>
            </a:r>
          </a:p>
          <a:p>
            <a:pPr lvl="1"/>
            <a:r>
              <a:t>Solution: AWS Bedrock + Lambda async pipeline for proposal auto-generation</a:t>
            </a:r>
          </a:p>
          <a:p>
            <a:pPr lvl="1"/>
            <a:r>
              <a:t>Result: Cycle cut to 3 days; pursuits tripled within 90 days</a:t>
            </a:r>
          </a:p>
          <a:p>
            <a:pPr/>
            <a:r>
              <a:rPr b="1"/>
              <a:t>Cloud Consultancy (AWS Advanced Partner, 80 staff)</a:t>
            </a:r>
          </a:p>
          <a:p>
            <a:pPr lvl="1"/>
            <a:r>
              <a:t>Challenge: Inconsistent artifacts causing 35% QA rework before delivery</a:t>
            </a:r>
          </a:p>
          <a:p>
            <a:pPr lvl="1"/>
            <a:r>
              <a:t>Solution: Structured AI generation with validation layer and templates</a:t>
            </a:r>
          </a:p>
          <a:p>
            <a:pPr lvl="1"/>
            <a:r>
              <a:t>Result: QA rework dropped to 8%; delivery client NPS rose 22 points</a:t>
            </a:r>
          </a:p>
          <a:p>
            <a:pPr/>
            <a:r>
              <a:rPr b="1"/>
              <a:t>SaaS-Focused Consulting Group (50 engineers, North America)</a:t>
            </a:r>
          </a:p>
          <a:p>
            <a:pPr lvl="1"/>
            <a:r>
              <a:t>Challenge: EC2 monolith causing 6-hour outages and delivery bottlenecks</a:t>
            </a:r>
          </a:p>
          <a:p>
            <a:pPr lvl="1"/>
            <a:r>
              <a:t>Solution: Serverless migration to Lambda, S3, DynamoDB; 99.9% SLA design</a:t>
            </a:r>
          </a:p>
          <a:p>
            <a:pPr lvl="1"/>
            <a:r>
              <a:t>Result: Zero unplanned outages post-launch; 45% ops overhead reduction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AWS cloud-native and AI/ML solutions at scale</a:t>
            </a:r>
          </a:p>
          <a:p>
            <a:pPr lvl="1"/>
            <a:r>
              <a:t>30+ serverless platform builds across professional services and SaaS</a:t>
            </a:r>
          </a:p>
          <a:p>
            <a:pPr lvl="1"/>
            <a:r>
              <a:t>AWS Advanced Consulting Partner with Machine Learning Competency</a:t>
            </a:r>
          </a:p>
          <a:p>
            <a:pPr lvl="1"/>
            <a:r>
              <a:t>Certified Solutions Architects with Bedrock and Lambda specialisation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Bedrock prompt frameworks reduce generation tuning by 50%</a:t>
            </a:r>
          </a:p>
          <a:p>
            <a:pPr lvl="1"/>
            <a:r>
              <a:t>Proven async job architecture handles 60-min jobs without dropped requests</a:t>
            </a:r>
          </a:p>
          <a:p>
            <a:pPr lvl="1"/>
            <a:r>
              <a:t>Direct AWS ML specialist support accelerates Bedrock model optimisation</a:t>
            </a:r>
          </a:p>
          <a:p>
            <a:pPr lvl="1"/>
            <a:r>
              <a:t>SOC 2 design patterns from 30+ builds fast-track compliance sign-off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($8,000)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$4,038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$4,038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$3,288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$3,288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$10,614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$4,140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$4,140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$4,140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$4,140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$12,420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$26,178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($8,000)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$18,178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$25,428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$25,428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$69,034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10: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CTO executive approval for Phase 1 project by [specific date]</a:t>
            </a:r>
          </a:p>
          <a:p>
            <a:pPr/>
            <a:r>
              <a:rPr b="1"/>
              <a:t>Kickoff:</a:t>
            </a:r>
            <a:r>
              <a:t> Target Phase 1 start date within 30 days of approval</a:t>
            </a:r>
          </a:p>
          <a:p>
            <a:pPr/>
            <a:r>
              <a:rPr b="1"/>
              <a:t>Team Formation:</a:t>
            </a:r>
            <a:r>
              <a:t> Identify VP Engineering lead, Head of Solutions validator, and Security &amp; Compliance reviewer</a:t>
            </a:r>
          </a:p>
          <a:p>
            <a:pPr/>
            <a:r>
              <a:rPr b="1"/>
              <a:t>Week 1-2:</a:t>
            </a:r>
            <a:r>
              <a:t> Contract finalisation, AWS account provisioning, and Cognito environment setup</a:t>
            </a:r>
          </a:p>
          <a:p>
            <a:pPr/>
            <a:r>
              <a:rPr b="1"/>
              <a:t>Week 3-4:</a:t>
            </a:r>
            <a:r>
              <a:t> Bedrock model access confirmed, Okta migration scoped, first prompt templates drafted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11: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